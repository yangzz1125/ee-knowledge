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0"/>
  </p:notesMasterIdLst>
  <p:sldIdLst>
    <p:sldId id="548" r:id="rId15"/>
    <p:sldId id="549" r:id="rId16"/>
    <p:sldId id="550" r:id="rId17"/>
    <p:sldId id="551" r:id="rId18"/>
    <p:sldId id="552" r:id="rId19"/>
    <p:sldId id="553" r:id="rId14"/>
    <p:sldId id="554" r:id="rId13"/>
    <p:sldId id="555" r:id="rId12"/>
    <p:sldId id="556" r:id="rId11"/>
    <p:sldId id="557" r:id="rId10"/>
    <p:sldId id="558" r:id="rId9"/>
    <p:sldId id="559" r:id="rId26"/>
    <p:sldId id="560" r:id="rId27"/>
    <p:sldId id="561" r:id="rId28"/>
    <p:sldId id="562" r:id="rId29"/>
    <p:sldId id="563" r:id="rId30"/>
    <p:sldId id="564" r:id="rId31"/>
    <p:sldId id="565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曾婷 王" initials="曾王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B7D1"/>
    <a:srgbClr val="004593"/>
    <a:srgbClr val="0065B0"/>
    <a:srgbClr val="0066B1"/>
    <a:srgbClr val="FA4D00"/>
    <a:srgbClr val="E0CDBE"/>
    <a:srgbClr val="FCF4D0"/>
    <a:srgbClr val="FAEDB8"/>
    <a:srgbClr val="DBC5B3"/>
    <a:srgbClr val="DCC5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21" autoAdjust="0"/>
    <p:restoredTop sz="93724" autoAdjust="0"/>
  </p:normalViewPr>
  <p:slideViewPr>
    <p:cSldViewPr snapToGrid="0">
      <p:cViewPr varScale="1">
        <p:scale>
          <a:sx n="149" d="100"/>
          <a:sy n="149" d="100"/>
        </p:scale>
        <p:origin x="354" y="312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200" d="100"/>
        <a:sy n="200" d="100"/>
      </p:scale>
      <p:origin x="0" y="-16936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5.xml"/><Relationship Id="rId10" Type="http://schemas.openxmlformats.org/officeDocument/2006/relationships/slide" Target="slides/slide14.xml"/><Relationship Id="rId11" Type="http://schemas.openxmlformats.org/officeDocument/2006/relationships/slide" Target="slides/slide13.xml"/><Relationship Id="rId12" Type="http://schemas.openxmlformats.org/officeDocument/2006/relationships/slide" Target="slides/slide12.xml"/><Relationship Id="rId13" Type="http://schemas.openxmlformats.org/officeDocument/2006/relationships/slide" Target="slides/slide11.xml"/><Relationship Id="rId14" Type="http://schemas.openxmlformats.org/officeDocument/2006/relationships/slide" Target="slides/slide10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notesMaster" Target="notesMasters/notesMaster1.xml"/><Relationship Id="rId21" Type="http://schemas.openxmlformats.org/officeDocument/2006/relationships/commentAuthors" Target="commentAuthors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37B4F6-38B3-4F9C-B5DD-388BFB0B2338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2B1546-4BCA-4F29-B0D6-5545C6E37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整个项目分五个阶段推进，每个阶段都有明确的产出。前两个阶段上次已经汇报过。本次是第三阶段，设计知识对象、字段和关系，并把校验规则写成了程序。下一阶段先确定技术选型，再完成样例数据、查询、检索、问答和前端五项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设计时先区分两类东西：一类是需要长期保存的课程知识，由人工依据教材整理，包括章节、六类知识点、公式变量和关系；另一类是运行时根据请求临时算出的结果，比如搜索结果、学习路径和问答回答。后者不写回知识库，所以课程知识只有一份，各个功能读到的内容始终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章节只负责导航和排序，不进入图谱，每个知识点只属于一个章节，跨章节的联系用关系表达。公式单独作为知识点，这样可以被搜索、点击，单独展示变量和成立条件。每个对象都有固定的英文编号，名称修改不影响引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类知识点共有名称、类型、说明、所属章节、别名、标签和适用条件。适用条件单独列出，公式的成立条件、方法的适用范围都记在同一个位置。各类再有专有内容，例如概念记定义和常见误解，物理量记符号和单位。颜色对应知识点类型，后面几页沿用同一套颜色。定律和概念记录的内容相同，直接沿用概念的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法拉第定律微分形式为例，左边是知识库里这一条的原文节选。每个变量记录符号、单位，并通过编号关联到对应的物理量。这样学生点击变量就能跳到物理量的定义；同一物理量在不同公式里名称或单位写得不一致时，启动时会报错。时间 t 不单独建模，所以关联为空。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关系一共九种。前置、定义、表达为、推导出、使用、描述、应用于这七种有方向，方向由类型决定，例如高斯定律表达为高斯定律积分形式，麦克斯韦方程组推导出波动方程。等价于和相关没有方向，相关是兜底类型。每条关系都要写一句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这张图的节点和关系都取自当前整理的数据。从矢量分析的散度出发，经过静电场的高斯定律，到时变电磁场的麦克斯韦方程组，再推导出电磁波的波动方程。颜色表示知识点类型，虚线是无方向的关系。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，前置和推导分开记录，系统不自动补，学生问学某个知识点之前要会什么时能得到明确答案。第二，无方向的关系要少用，避免含义模糊的连线。第三，同一事实只记一处，才不会前后矛盾。最初设计的包含关系也因此去掉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课程知识由人工整理，难免出错。系统启动时先检查整个知识库，通过才提供查询和问答，不通过就报错并指出具体位置，修改后重新启动。规则分四类。右下是一次实际的报错：把 B 的单位故意改成 Wb，程序指出了是哪一条知识点的哪个变量、应该是什么单位。检查只能保证格式和引用正确，关系方向写反这类问题仍要人工对照教材确认。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一阶段进入样例与原型实现。开始之前先确定技术选型并说明理由。然后整理一个代表性章节的样例数据，在其上实现查询接口、知识检索、课程问答和前端页面，每项都有对应的产出。数据先用一个结构化文件保存，以后数据变大再迁移到图数据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8E31-3B59-4646-A59C-A82C2976AFE3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D13F-7B97-CA43-8838-349D52A5DC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8E31-3B59-4646-A59C-A82C2976AFE3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D13F-7B97-CA43-8838-349D52A5DC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8E31-3B59-4646-A59C-A82C2976AFE3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D13F-7B97-CA43-8838-349D52A5DC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8E31-3B59-4646-A59C-A82C2976AFE3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D13F-7B97-CA43-8838-349D52A5DC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8E31-3B59-4646-A59C-A82C2976AFE3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D13F-7B97-CA43-8838-349D52A5DC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8E31-3B59-4646-A59C-A82C2976AFE3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D13F-7B97-CA43-8838-349D52A5DC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8E31-3B59-4646-A59C-A82C2976AFE3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D13F-7B97-CA43-8838-349D52A5DC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8E31-3B59-4646-A59C-A82C2976AFE3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D13F-7B97-CA43-8838-349D52A5DC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8E31-3B59-4646-A59C-A82C2976AFE3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D13F-7B97-CA43-8838-349D52A5DC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8E31-3B59-4646-A59C-A82C2976AFE3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D13F-7B97-CA43-8838-349D52A5DC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8E31-3B59-4646-A59C-A82C2976AFE3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D13F-7B97-CA43-8838-349D52A5DC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0B8E31-3B59-4646-A59C-A82C2976AFE3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02D13F-7B97-CA43-8838-349D52A5DC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Relationship Id="rId7" Type="http://schemas.openxmlformats.org/officeDocument/2006/relationships/tags" Target="../tags/tag6.xml"/><Relationship Id="rId8" Type="http://schemas.openxmlformats.org/officeDocument/2006/relationships/image" Target="../media/image1.png"/><Relationship Id="rId9" Type="http://schemas.openxmlformats.org/officeDocument/2006/relationships/image" Target="../media/image2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46551" y="640282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818083" y="616727"/>
            <a:ext cx="2471217" cy="596694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 t="20698" b="20698"/>
          <a:stretch>
            <a:fillRect/>
          </a:stretch>
        </p:blipFill>
        <p:spPr bwMode="auto">
          <a:xfrm>
            <a:off x="4856126" y="1718187"/>
            <a:ext cx="7335874" cy="2861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矩形 9"/>
          <p:cNvSpPr/>
          <p:nvPr/>
        </p:nvSpPr>
        <p:spPr>
          <a:xfrm>
            <a:off x="0" y="1718187"/>
            <a:ext cx="8882743" cy="2861554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83000">
                <a:schemeClr val="accent1">
                  <a:alpha val="60050"/>
                </a:schemeClr>
              </a:gs>
              <a:gs pos="0">
                <a:schemeClr val="accent2"/>
              </a:gs>
              <a:gs pos="63000">
                <a:srgbClr val="0361A6"/>
              </a:gs>
              <a:gs pos="44226">
                <a:srgbClr val="0259A0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封面标题"/>
          <p:cNvSpPr txBox="1"/>
          <p:nvPr/>
        </p:nvSpPr>
        <p:spPr>
          <a:xfrm>
            <a:off x="313690" y="2623820"/>
            <a:ext cx="11795760" cy="860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电磁场与波AI知识图谱对象与数据结构设计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4645025" y="5084445"/>
            <a:ext cx="3208020" cy="402112"/>
            <a:chOff x="4077" y="8205"/>
            <a:chExt cx="5052" cy="633"/>
          </a:xfrm>
        </p:grpSpPr>
        <p:cxnSp>
          <p:nvCxnSpPr>
            <p:cNvPr id="7" name="直线连接符 10"/>
            <p:cNvCxnSpPr/>
            <p:nvPr/>
          </p:nvCxnSpPr>
          <p:spPr>
            <a:xfrm>
              <a:off x="4230" y="8838"/>
              <a:ext cx="4762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文本框 7"/>
            <p:cNvSpPr txBox="1"/>
            <p:nvPr/>
          </p:nvSpPr>
          <p:spPr>
            <a:xfrm>
              <a:off x="4077" y="8205"/>
              <a:ext cx="220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kumimoji="1"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汇报人：</a:t>
              </a:r>
            </a:p>
          </p:txBody>
        </p:sp>
        <p:sp>
          <p:nvSpPr>
            <p:cNvPr id="16" name="汇报人"/>
            <p:cNvSpPr txBox="1"/>
            <p:nvPr/>
          </p:nvSpPr>
          <p:spPr>
            <a:xfrm>
              <a:off x="6379" y="8205"/>
              <a:ext cx="275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b="1" spc="3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杨国炜</a:t>
              </a:r>
            </a:p>
          </p:txBody>
        </p:sp>
      </p:grpSp>
      <p:sp>
        <p:nvSpPr>
          <p:cNvPr id="29" name="AutoShape 4"/>
          <p:cNvSpPr>
            <a:spLocks noChangeAspect="1" noChangeArrowheads="1"/>
          </p:cNvSpPr>
          <p:nvPr/>
        </p:nvSpPr>
        <p:spPr bwMode="auto">
          <a:xfrm>
            <a:off x="5943600" y="3054929"/>
            <a:ext cx="1543050" cy="154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" name="日期"/>
          <p:cNvSpPr txBox="1"/>
          <p:nvPr/>
        </p:nvSpPr>
        <p:spPr>
          <a:xfrm>
            <a:off x="5109845" y="5701030"/>
            <a:ext cx="2520315" cy="4762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en-US" altLang="zh-CN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2026年10月7日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46551" y="640282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组合 7"/>
          <p:cNvGrpSpPr/>
          <p:nvPr>
            <p:custDataLst>
              <p:tags r:id="rId2"/>
            </p:custDataLst>
          </p:nvPr>
        </p:nvGrpSpPr>
        <p:grpSpPr>
          <a:xfrm>
            <a:off x="0" y="12700"/>
            <a:ext cx="11646551" cy="6857998"/>
            <a:chOff x="0" y="0"/>
            <a:chExt cx="11646551" cy="6857998"/>
          </a:xfrm>
        </p:grpSpPr>
        <p:cxnSp>
          <p:nvCxnSpPr>
            <p:cNvPr id="10" name="直线连接符 9"/>
            <p:cNvCxnSpPr/>
            <p:nvPr/>
          </p:nvCxnSpPr>
          <p:spPr>
            <a:xfrm>
              <a:off x="1539972" y="1348352"/>
              <a:ext cx="10106579" cy="0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p:blipFill>
          <p:spPr>
            <a:xfrm>
              <a:off x="9603207" y="592406"/>
              <a:ext cx="1800617" cy="434773"/>
            </a:xfrm>
            <a:prstGeom prst="rect">
              <a:avLst/>
            </a:prstGeom>
          </p:spPr>
        </p:pic>
        <p:sp>
          <p:nvSpPr>
            <p:cNvPr id="2" name="矩形 1"/>
            <p:cNvSpPr/>
            <p:nvPr/>
          </p:nvSpPr>
          <p:spPr>
            <a:xfrm>
              <a:off x="0" y="0"/>
              <a:ext cx="730468" cy="685799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539972" y="578911"/>
              <a:ext cx="192760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4400" b="1" spc="3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</a:t>
              </a:r>
            </a:p>
          </p:txBody>
        </p:sp>
      </p:grpSp>
      <p:sp>
        <p:nvSpPr>
          <p:cNvPr id="15" name="目录 1"/>
          <p:cNvSpPr txBox="1"/>
          <p:nvPr>
            <p:custDataLst>
              <p:tags r:id="rId3"/>
            </p:custDataLst>
          </p:nvPr>
        </p:nvSpPr>
        <p:spPr>
          <a:xfrm>
            <a:off x="3133193" y="1600000"/>
            <a:ext cx="630808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一、本次工作内容</a:t>
            </a:r>
          </a:p>
        </p:txBody>
      </p:sp>
      <p:sp>
        <p:nvSpPr>
          <p:cNvPr id="15" name="目录 2"/>
          <p:cNvSpPr txBox="1"/>
          <p:nvPr>
            <p:custDataLst>
              <p:tags r:id="rId3"/>
            </p:custDataLst>
          </p:nvPr>
        </p:nvSpPr>
        <p:spPr>
          <a:xfrm>
            <a:off x="3133193" y="2350000"/>
            <a:ext cx="630808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二、知识对象设计</a:t>
            </a:r>
          </a:p>
        </p:txBody>
      </p:sp>
      <p:sp>
        <p:nvSpPr>
          <p:cNvPr id="15" name="目录 3"/>
          <p:cNvSpPr txBox="1"/>
          <p:nvPr>
            <p:custDataLst>
              <p:tags r:id="rId3"/>
            </p:custDataLst>
          </p:nvPr>
        </p:nvSpPr>
        <p:spPr>
          <a:xfrm>
            <a:off x="3133193" y="3100000"/>
            <a:ext cx="630808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三、知识点内容设计</a:t>
            </a:r>
          </a:p>
        </p:txBody>
      </p:sp>
      <p:sp>
        <p:nvSpPr>
          <p:cNvPr id="15" name="目录 4"/>
          <p:cNvSpPr txBox="1"/>
          <p:nvPr>
            <p:custDataLst>
              <p:tags r:id="rId3"/>
            </p:custDataLst>
          </p:nvPr>
        </p:nvSpPr>
        <p:spPr>
          <a:xfrm>
            <a:off x="3133193" y="3850000"/>
            <a:ext cx="630808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四、知识关系设计</a:t>
            </a:r>
          </a:p>
        </p:txBody>
      </p:sp>
      <p:sp>
        <p:nvSpPr>
          <p:cNvPr id="15" name="目录 5"/>
          <p:cNvSpPr txBox="1"/>
          <p:nvPr>
            <p:custDataLst>
              <p:tags r:id="rId3"/>
            </p:custDataLst>
          </p:nvPr>
        </p:nvSpPr>
        <p:spPr>
          <a:xfrm>
            <a:off x="3133193" y="4600000"/>
            <a:ext cx="630808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五、数据校验</a:t>
            </a:r>
          </a:p>
        </p:txBody>
      </p:sp>
      <p:sp>
        <p:nvSpPr>
          <p:cNvPr id="15" name="目录 6"/>
          <p:cNvSpPr txBox="1"/>
          <p:nvPr>
            <p:custDataLst>
              <p:tags r:id="rId3"/>
            </p:custDataLst>
          </p:nvPr>
        </p:nvSpPr>
        <p:spPr>
          <a:xfrm>
            <a:off x="3133193" y="5350000"/>
            <a:ext cx="630808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六、后续计划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6" name="直线连接符 5"/>
          <p:cNvCxnSpPr/>
          <p:nvPr/>
        </p:nvCxnSpPr>
        <p:spPr>
          <a:xfrm>
            <a:off x="1587829" y="2385773"/>
            <a:ext cx="0" cy="2087198"/>
          </a:xfrm>
          <a:prstGeom prst="line">
            <a:avLst/>
          </a:prstGeom>
          <a:ln w="28575">
            <a:solidFill>
              <a:schemeClr val="accent1">
                <a:alpha val="6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章节标题"/>
          <p:cNvSpPr txBox="1"/>
          <p:nvPr/>
        </p:nvSpPr>
        <p:spPr>
          <a:xfrm>
            <a:off x="1989455" y="2583180"/>
            <a:ext cx="910399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一、本次工作内容</a:t>
            </a:r>
          </a:p>
        </p:txBody>
      </p:sp>
      <p:sp>
        <p:nvSpPr>
          <p:cNvPr id="14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46551" y="640282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1"/>
            <a:ext cx="12192000" cy="6730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1" y="-504223"/>
            <a:ext cx="2472973" cy="13910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46551" y="640282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线连接符 29"/>
          <p:cNvCxnSpPr/>
          <p:nvPr/>
        </p:nvCxnSpPr>
        <p:spPr>
          <a:xfrm>
            <a:off x="554825" y="1269824"/>
            <a:ext cx="110823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0" y="1"/>
            <a:ext cx="12192000" cy="6730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1" y="-504223"/>
            <a:ext cx="2472973" cy="1391047"/>
          </a:xfrm>
          <a:prstGeom prst="rect">
            <a:avLst/>
          </a:prstGeom>
        </p:spPr>
      </p:pic>
      <p:sp>
        <p:nvSpPr>
          <p:cNvPr id="8" name="页面标题"/>
          <p:cNvSpPr txBox="1"/>
          <p:nvPr/>
        </p:nvSpPr>
        <p:spPr>
          <a:xfrm>
            <a:off x="554681" y="756992"/>
            <a:ext cx="104085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kumimoji="1"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本次处于第三阶段：设计知识对象并写成校验程序</a:t>
            </a:r>
            <a:endParaRPr kumimoji="1"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" name="章节标签"/>
          <p:cNvSpPr txBox="1"/>
          <p:nvPr/>
        </p:nvSpPr>
        <p:spPr>
          <a:xfrm>
            <a:off x="8748716" y="90049"/>
            <a:ext cx="34432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本次工作内容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0" name="连线 1"/>
          <p:cNvCxnSpPr/>
          <p:nvPr/>
        </p:nvCxnSpPr>
        <p:spPr>
          <a:xfrm>
            <a:off x="899334" y="1769049"/>
            <a:ext cx="10296000" cy="0"/>
          </a:xfrm>
          <a:prstGeom prst="line">
            <a:avLst/>
          </a:prstGeom>
          <a:ln w="63500" cap="rnd">
            <a:solidFill>
              <a:srgbClr val="D7E0EC"/>
            </a:solidFill>
          </a:ln>
        </p:spPr>
      </p:cxnSp>
      <p:sp>
        <p:nvSpPr>
          <p:cNvPr id="51" name="卡片 2"/>
          <p:cNvSpPr/>
          <p:nvPr/>
        </p:nvSpPr>
        <p:spPr>
          <a:xfrm>
            <a:off x="683334" y="2147049"/>
            <a:ext cx="2044800" cy="41760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D7E0EC"/>
            </a:solidFill>
          </a:ln>
          <a:effectLst>
            <a:outerShdw blurRad="50800" dist="19050" dir="5400000" algn="t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2" name="标题条 3"/>
          <p:cNvSpPr/>
          <p:nvPr/>
        </p:nvSpPr>
        <p:spPr>
          <a:xfrm>
            <a:off x="683334" y="2147049"/>
            <a:ext cx="2044800" cy="396000"/>
          </a:xfrm>
          <a:prstGeom prst="round2SameRect">
            <a:avLst>
              <a:gd name="adj1" fmla="val 22454"/>
              <a:gd name="adj2" fmla="val 0"/>
            </a:avLst>
          </a:prstGeom>
          <a:solidFill>
            <a:srgbClr val="E1EBF4"/>
          </a:solidFill>
          <a:ln>
            <a:noFill/>
          </a:ln>
        </p:spPr>
        <p:txBody>
          <a:bodyPr rtlCol="0" anchor="ctr" wrap="none" lIns="180000" rIns="108000" tIns="0" bIns="0">
            <a:noAutofit/>
          </a:bodyPr>
          <a:lstStyle/>
          <a:p>
            <a:pPr algn="l"/>
            <a:r>
              <a:rPr sz="1800" b="1" lang="zh-CN" altLang="en-US">
                <a:solidFill>
                  <a:srgbClr val="0259A0"/>
                </a:solidFill>
                <a:latin typeface="微软雅黑"/>
                <a:ea typeface="微软雅黑"/>
              </a:rPr>
              <a:t>需求与调研</a:t>
            </a:r>
          </a:p>
        </p:txBody>
      </p:sp>
      <p:cxnSp>
        <p:nvCxnSpPr>
          <p:cNvPr id="53" name="连线 4"/>
          <p:cNvCxnSpPr/>
          <p:nvPr/>
        </p:nvCxnSpPr>
        <p:spPr>
          <a:xfrm>
            <a:off x="989334" y="1769049"/>
            <a:ext cx="0" cy="378000"/>
          </a:xfrm>
          <a:prstGeom prst="line">
            <a:avLst/>
          </a:prstGeom>
          <a:ln w="17780">
            <a:solidFill>
              <a:srgbClr val="0259A0"/>
            </a:solidFill>
          </a:ln>
        </p:spPr>
      </p:cxnSp>
      <p:sp>
        <p:nvSpPr>
          <p:cNvPr id="54" name="序号 5"/>
          <p:cNvSpPr/>
          <p:nvPr/>
        </p:nvSpPr>
        <p:spPr>
          <a:xfrm>
            <a:off x="809334" y="1589049"/>
            <a:ext cx="360000" cy="360000"/>
          </a:xfrm>
          <a:prstGeom prst="ellipse">
            <a:avLst/>
          </a:prstGeom>
          <a:solidFill>
            <a:srgbClr val="0259A0"/>
          </a:solidFill>
          <a:ln>
            <a:noFill/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lang="zh-CN" altLang="en-US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55" name="标签 6"/>
          <p:cNvSpPr/>
          <p:nvPr/>
        </p:nvSpPr>
        <p:spPr>
          <a:xfrm>
            <a:off x="1259334" y="1631563"/>
            <a:ext cx="675331" cy="274972"/>
          </a:xfrm>
          <a:prstGeom prst="roundRect">
            <a:avLst>
              <a:gd name="adj" fmla="val 18460"/>
            </a:avLst>
          </a:prstGeom>
          <a:solidFill>
            <a:srgbClr val="F1F5F9"/>
          </a:solidFill>
          <a:ln>
            <a:noFill/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lang="zh-CN" altLang="en-US">
                <a:solidFill>
                  <a:srgbClr val="64748B"/>
                </a:solidFill>
                <a:latin typeface="微软雅黑"/>
                <a:ea typeface="微软雅黑"/>
              </a:rPr>
              <a:t>已完成</a:t>
            </a:r>
          </a:p>
        </p:txBody>
      </p:sp>
      <p:sp>
        <p:nvSpPr>
          <p:cNvPr id="56" name="文字 7"/>
          <p:cNvSpPr txBox="1"/>
          <p:nvPr/>
        </p:nvSpPr>
        <p:spPr>
          <a:xfrm>
            <a:off x="845334" y="2687049"/>
            <a:ext cx="529032" cy="2146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00" b="1" lang="zh-CN" altLang="en-US">
                <a:solidFill>
                  <a:srgbClr val="0259A0"/>
                </a:solidFill>
                <a:latin typeface="微软雅黑"/>
                <a:ea typeface="微软雅黑"/>
              </a:rPr>
              <a:t>阶段1</a:t>
            </a:r>
          </a:p>
        </p:txBody>
      </p:sp>
      <p:sp>
        <p:nvSpPr>
          <p:cNvPr id="57" name="文字 8"/>
          <p:cNvSpPr txBox="1"/>
          <p:nvPr/>
        </p:nvSpPr>
        <p:spPr>
          <a:xfrm>
            <a:off x="845334" y="2939049"/>
            <a:ext cx="1792800" cy="201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54016" indent="-254016">
              <a:lnSpc>
                <a:spcPts val="2300"/>
              </a:lnSpc>
              <a:buClr>
                <a:srgbClr val="0259A0"/>
              </a:buClr>
              <a:buSzPct val="80000"/>
              <a:buFont typeface="微软雅黑"/>
              <a:buChar char="●"/>
            </a:pPr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明确研究问题</a:t>
            </a:r>
          </a:p>
          <a:p>
            <a:pPr algn="l" marL="254016" indent="-254016">
              <a:lnSpc>
                <a:spcPts val="2300"/>
              </a:lnSpc>
              <a:buClr>
                <a:srgbClr val="0259A0"/>
              </a:buClr>
              <a:buSzPct val="80000"/>
              <a:buFont typeface="微软雅黑"/>
              <a:buChar char="●"/>
            </a:pPr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调研相关案例</a:t>
            </a:r>
          </a:p>
          <a:p>
            <a:pPr algn="l" marL="254016" indent="-254016">
              <a:lnSpc>
                <a:spcPts val="2300"/>
              </a:lnSpc>
              <a:buClr>
                <a:srgbClr val="0259A0"/>
              </a:buClr>
              <a:buSzPct val="80000"/>
              <a:buFont typeface="微软雅黑"/>
              <a:buChar char="●"/>
            </a:pPr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确定课程范围</a:t>
            </a:r>
          </a:p>
        </p:txBody>
      </p:sp>
      <p:sp>
        <p:nvSpPr>
          <p:cNvPr id="58" name="底色 9"/>
          <p:cNvSpPr/>
          <p:nvPr/>
        </p:nvSpPr>
        <p:spPr>
          <a:xfrm>
            <a:off x="791334" y="5567049"/>
            <a:ext cx="1828800" cy="648000"/>
          </a:xfrm>
          <a:prstGeom prst="roundRect">
            <a:avLst>
              <a:gd name="adj" fmla="val 13722"/>
            </a:avLst>
          </a:prstGeom>
          <a:solidFill>
            <a:srgbClr val="FCEE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文字 10"/>
          <p:cNvSpPr txBox="1"/>
          <p:nvPr/>
        </p:nvSpPr>
        <p:spPr>
          <a:xfrm>
            <a:off x="899334" y="5639049"/>
            <a:ext cx="1648800" cy="52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00" b="1" lang="zh-CN" altLang="en-US">
                <a:solidFill>
                  <a:srgbClr val="C2410C"/>
                </a:solidFill>
                <a:latin typeface="微软雅黑"/>
                <a:ea typeface="微软雅黑"/>
              </a:rPr>
              <a:t>产出</a:t>
            </a:r>
          </a:p>
          <a:p>
            <a:pPr algn="l">
              <a:spcBef>
                <a:spcPts val="200"/>
              </a:spcBef>
            </a:pPr>
            <a:r>
              <a:rPr sz="1300" b="1" lang="zh-CN" altLang="en-US">
                <a:solidFill>
                  <a:srgbClr val="1E293B"/>
                </a:solidFill>
                <a:latin typeface="微软雅黑"/>
                <a:ea typeface="微软雅黑"/>
              </a:rPr>
              <a:t>需求说明</a:t>
            </a:r>
          </a:p>
        </p:txBody>
      </p:sp>
      <p:sp>
        <p:nvSpPr>
          <p:cNvPr id="60" name="卡片 11"/>
          <p:cNvSpPr/>
          <p:nvPr/>
        </p:nvSpPr>
        <p:spPr>
          <a:xfrm>
            <a:off x="2854134" y="2147049"/>
            <a:ext cx="2044800" cy="41760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D7E0EC"/>
            </a:solidFill>
          </a:ln>
          <a:effectLst>
            <a:outerShdw blurRad="50800" dist="19050" dir="5400000" algn="t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1" name="标题条 12"/>
          <p:cNvSpPr/>
          <p:nvPr/>
        </p:nvSpPr>
        <p:spPr>
          <a:xfrm>
            <a:off x="2854134" y="2147049"/>
            <a:ext cx="2044800" cy="396000"/>
          </a:xfrm>
          <a:prstGeom prst="round2SameRect">
            <a:avLst>
              <a:gd name="adj1" fmla="val 22454"/>
              <a:gd name="adj2" fmla="val 0"/>
            </a:avLst>
          </a:prstGeom>
          <a:solidFill>
            <a:srgbClr val="E1EBF4"/>
          </a:solidFill>
          <a:ln>
            <a:noFill/>
          </a:ln>
        </p:spPr>
        <p:txBody>
          <a:bodyPr rtlCol="0" anchor="ctr" wrap="none" lIns="180000" rIns="108000" tIns="0" bIns="0">
            <a:noAutofit/>
          </a:bodyPr>
          <a:lstStyle/>
          <a:p>
            <a:pPr algn="l"/>
            <a:r>
              <a:rPr sz="1800" b="1" lang="zh-CN" altLang="en-US">
                <a:solidFill>
                  <a:srgbClr val="0259A0"/>
                </a:solidFill>
                <a:latin typeface="微软雅黑"/>
                <a:ea typeface="微软雅黑"/>
              </a:rPr>
              <a:t>系统架构设计</a:t>
            </a:r>
          </a:p>
        </p:txBody>
      </p:sp>
      <p:cxnSp>
        <p:nvCxnSpPr>
          <p:cNvPr id="62" name="连线 13"/>
          <p:cNvCxnSpPr/>
          <p:nvPr/>
        </p:nvCxnSpPr>
        <p:spPr>
          <a:xfrm>
            <a:off x="3160134" y="1769049"/>
            <a:ext cx="0" cy="378000"/>
          </a:xfrm>
          <a:prstGeom prst="line">
            <a:avLst/>
          </a:prstGeom>
          <a:ln w="17780">
            <a:solidFill>
              <a:srgbClr val="0259A0"/>
            </a:solidFill>
          </a:ln>
        </p:spPr>
      </p:cxnSp>
      <p:sp>
        <p:nvSpPr>
          <p:cNvPr id="63" name="序号 14"/>
          <p:cNvSpPr/>
          <p:nvPr/>
        </p:nvSpPr>
        <p:spPr>
          <a:xfrm>
            <a:off x="2980134" y="1589049"/>
            <a:ext cx="360000" cy="360000"/>
          </a:xfrm>
          <a:prstGeom prst="ellipse">
            <a:avLst/>
          </a:prstGeom>
          <a:solidFill>
            <a:srgbClr val="0259A0"/>
          </a:solidFill>
          <a:ln>
            <a:noFill/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lang="zh-CN" altLang="en-US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64" name="标签 15"/>
          <p:cNvSpPr/>
          <p:nvPr/>
        </p:nvSpPr>
        <p:spPr>
          <a:xfrm>
            <a:off x="3430134" y="1631563"/>
            <a:ext cx="1665994" cy="274972"/>
          </a:xfrm>
          <a:prstGeom prst="roundRect">
            <a:avLst>
              <a:gd name="adj" fmla="val 18460"/>
            </a:avLst>
          </a:prstGeom>
          <a:solidFill>
            <a:srgbClr val="F1F5F9"/>
          </a:solidFill>
          <a:ln>
            <a:noFill/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lang="zh-CN" altLang="en-US">
                <a:solidFill>
                  <a:srgbClr val="64748B"/>
                </a:solidFill>
                <a:latin typeface="微软雅黑"/>
                <a:ea typeface="微软雅黑"/>
              </a:rPr>
              <a:t>已完成（上次汇报）</a:t>
            </a:r>
          </a:p>
        </p:txBody>
      </p:sp>
      <p:sp>
        <p:nvSpPr>
          <p:cNvPr id="65" name="文字 16"/>
          <p:cNvSpPr txBox="1"/>
          <p:nvPr/>
        </p:nvSpPr>
        <p:spPr>
          <a:xfrm>
            <a:off x="3016134" y="2687049"/>
            <a:ext cx="529032" cy="2146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00" b="1" lang="zh-CN" altLang="en-US">
                <a:solidFill>
                  <a:srgbClr val="0259A0"/>
                </a:solidFill>
                <a:latin typeface="微软雅黑"/>
                <a:ea typeface="微软雅黑"/>
              </a:rPr>
              <a:t>阶段2</a:t>
            </a:r>
          </a:p>
        </p:txBody>
      </p:sp>
      <p:sp>
        <p:nvSpPr>
          <p:cNvPr id="66" name="文字 17"/>
          <p:cNvSpPr txBox="1"/>
          <p:nvPr/>
        </p:nvSpPr>
        <p:spPr>
          <a:xfrm>
            <a:off x="3016134" y="2939049"/>
            <a:ext cx="1792800" cy="201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54016" indent="-254016">
              <a:lnSpc>
                <a:spcPts val="2300"/>
              </a:lnSpc>
              <a:buClr>
                <a:srgbClr val="0259A0"/>
              </a:buClr>
              <a:buSzPct val="80000"/>
              <a:buFont typeface="微软雅黑"/>
              <a:buChar char="●"/>
            </a:pPr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划分系统层次</a:t>
            </a:r>
          </a:p>
          <a:p>
            <a:pPr algn="l" marL="254016" indent="-254016">
              <a:lnSpc>
                <a:spcPts val="2300"/>
              </a:lnSpc>
              <a:buClr>
                <a:srgbClr val="0259A0"/>
              </a:buClr>
              <a:buSzPct val="80000"/>
              <a:buFont typeface="微软雅黑"/>
              <a:buChar char="●"/>
            </a:pPr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明确模块职责</a:t>
            </a:r>
          </a:p>
          <a:p>
            <a:pPr algn="l" marL="254016" indent="-254016">
              <a:lnSpc>
                <a:spcPts val="2300"/>
              </a:lnSpc>
              <a:buClr>
                <a:srgbClr val="0259A0"/>
              </a:buClr>
              <a:buSzPct val="80000"/>
              <a:buFont typeface="微软雅黑"/>
              <a:buChar char="●"/>
            </a:pPr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梳理数据流向</a:t>
            </a:r>
          </a:p>
        </p:txBody>
      </p:sp>
      <p:sp>
        <p:nvSpPr>
          <p:cNvPr id="67" name="底色 18"/>
          <p:cNvSpPr/>
          <p:nvPr/>
        </p:nvSpPr>
        <p:spPr>
          <a:xfrm>
            <a:off x="2962134" y="5567049"/>
            <a:ext cx="1828800" cy="648000"/>
          </a:xfrm>
          <a:prstGeom prst="roundRect">
            <a:avLst>
              <a:gd name="adj" fmla="val 13722"/>
            </a:avLst>
          </a:prstGeom>
          <a:solidFill>
            <a:srgbClr val="FCEE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文字 19"/>
          <p:cNvSpPr txBox="1"/>
          <p:nvPr/>
        </p:nvSpPr>
        <p:spPr>
          <a:xfrm>
            <a:off x="3070134" y="5639049"/>
            <a:ext cx="1648800" cy="52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00" b="1" lang="zh-CN" altLang="en-US">
                <a:solidFill>
                  <a:srgbClr val="C2410C"/>
                </a:solidFill>
                <a:latin typeface="微软雅黑"/>
                <a:ea typeface="微软雅黑"/>
              </a:rPr>
              <a:t>产出</a:t>
            </a:r>
          </a:p>
          <a:p>
            <a:pPr algn="l">
              <a:spcBef>
                <a:spcPts val="200"/>
              </a:spcBef>
            </a:pPr>
            <a:r>
              <a:rPr sz="1300" b="1" lang="zh-CN" altLang="en-US">
                <a:solidFill>
                  <a:srgbClr val="1E293B"/>
                </a:solidFill>
                <a:latin typeface="微软雅黑"/>
                <a:ea typeface="微软雅黑"/>
              </a:rPr>
              <a:t>架构方案</a:t>
            </a:r>
          </a:p>
        </p:txBody>
      </p:sp>
      <p:sp>
        <p:nvSpPr>
          <p:cNvPr id="69" name="卡片 20"/>
          <p:cNvSpPr/>
          <p:nvPr/>
        </p:nvSpPr>
        <p:spPr>
          <a:xfrm>
            <a:off x="5024934" y="2147049"/>
            <a:ext cx="2044800" cy="41760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2225">
            <a:solidFill>
              <a:srgbClr val="0259A0"/>
            </a:solidFill>
          </a:ln>
          <a:effectLst>
            <a:outerShdw blurRad="50800" dist="19050" dir="5400000" algn="t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0" name="标题条 21"/>
          <p:cNvSpPr/>
          <p:nvPr/>
        </p:nvSpPr>
        <p:spPr>
          <a:xfrm>
            <a:off x="5024934" y="2147049"/>
            <a:ext cx="2044800" cy="396000"/>
          </a:xfrm>
          <a:prstGeom prst="round2SameRect">
            <a:avLst>
              <a:gd name="adj1" fmla="val 22454"/>
              <a:gd name="adj2" fmla="val 0"/>
            </a:avLst>
          </a:prstGeom>
          <a:solidFill>
            <a:srgbClr val="0259A0"/>
          </a:solidFill>
          <a:ln>
            <a:noFill/>
          </a:ln>
        </p:spPr>
        <p:txBody>
          <a:bodyPr rtlCol="0" anchor="ctr" wrap="none" lIns="180000" rIns="108000" tIns="0" bIns="0">
            <a:noAutofit/>
          </a:bodyPr>
          <a:lstStyle/>
          <a:p>
            <a:pPr algn="l"/>
            <a:r>
              <a:rPr sz="1800" b="1" lang="zh-CN" altLang="en-US">
                <a:solidFill>
                  <a:srgbClr val="FFFFFF"/>
                </a:solidFill>
                <a:latin typeface="微软雅黑"/>
                <a:ea typeface="微软雅黑"/>
              </a:rPr>
              <a:t>对象与数据结构</a:t>
            </a:r>
          </a:p>
        </p:txBody>
      </p:sp>
      <p:cxnSp>
        <p:nvCxnSpPr>
          <p:cNvPr id="71" name="连线 22"/>
          <p:cNvCxnSpPr/>
          <p:nvPr/>
        </p:nvCxnSpPr>
        <p:spPr>
          <a:xfrm>
            <a:off x="5330934" y="1769049"/>
            <a:ext cx="0" cy="378000"/>
          </a:xfrm>
          <a:prstGeom prst="line">
            <a:avLst/>
          </a:prstGeom>
          <a:ln w="17780">
            <a:solidFill>
              <a:srgbClr val="0259A0"/>
            </a:solidFill>
          </a:ln>
        </p:spPr>
      </p:cxnSp>
      <p:sp>
        <p:nvSpPr>
          <p:cNvPr id="72" name="序号 23"/>
          <p:cNvSpPr/>
          <p:nvPr/>
        </p:nvSpPr>
        <p:spPr>
          <a:xfrm>
            <a:off x="5150934" y="1589049"/>
            <a:ext cx="360000" cy="360000"/>
          </a:xfrm>
          <a:prstGeom prst="ellipse">
            <a:avLst/>
          </a:prstGeom>
          <a:solidFill>
            <a:srgbClr val="0259A0"/>
          </a:solidFill>
          <a:ln>
            <a:noFill/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lang="zh-CN" altLang="en-US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73" name="标签 24"/>
          <p:cNvSpPr/>
          <p:nvPr/>
        </p:nvSpPr>
        <p:spPr>
          <a:xfrm>
            <a:off x="5600934" y="1631563"/>
            <a:ext cx="840442" cy="274972"/>
          </a:xfrm>
          <a:prstGeom prst="roundRect">
            <a:avLst>
              <a:gd name="adj" fmla="val 18460"/>
            </a:avLst>
          </a:prstGeom>
          <a:solidFill>
            <a:srgbClr val="E8710A"/>
          </a:solidFill>
          <a:ln>
            <a:noFill/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lang="zh-CN" altLang="en-US">
                <a:solidFill>
                  <a:srgbClr val="FFFFFF"/>
                </a:solidFill>
                <a:latin typeface="微软雅黑"/>
                <a:ea typeface="微软雅黑"/>
              </a:rPr>
              <a:t>本次进度</a:t>
            </a:r>
          </a:p>
        </p:txBody>
      </p:sp>
      <p:sp>
        <p:nvSpPr>
          <p:cNvPr id="74" name="文字 25"/>
          <p:cNvSpPr txBox="1"/>
          <p:nvPr/>
        </p:nvSpPr>
        <p:spPr>
          <a:xfrm>
            <a:off x="5186934" y="2687049"/>
            <a:ext cx="529032" cy="2146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00" b="1" lang="zh-CN" altLang="en-US">
                <a:solidFill>
                  <a:srgbClr val="0259A0"/>
                </a:solidFill>
                <a:latin typeface="微软雅黑"/>
                <a:ea typeface="微软雅黑"/>
              </a:rPr>
              <a:t>阶段3</a:t>
            </a:r>
          </a:p>
        </p:txBody>
      </p:sp>
      <p:sp>
        <p:nvSpPr>
          <p:cNvPr id="75" name="文字 26"/>
          <p:cNvSpPr txBox="1"/>
          <p:nvPr/>
        </p:nvSpPr>
        <p:spPr>
          <a:xfrm>
            <a:off x="5186934" y="2939049"/>
            <a:ext cx="1792800" cy="201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54016" indent="-254016">
              <a:lnSpc>
                <a:spcPts val="2300"/>
              </a:lnSpc>
              <a:buClr>
                <a:srgbClr val="0259A0"/>
              </a:buClr>
              <a:buSzPct val="80000"/>
              <a:buFont typeface="微软雅黑"/>
              <a:buChar char="●"/>
            </a:pPr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设计知识对象</a:t>
            </a:r>
          </a:p>
          <a:p>
            <a:pPr algn="l" marL="254016" indent="-254016">
              <a:lnSpc>
                <a:spcPts val="2300"/>
              </a:lnSpc>
              <a:buClr>
                <a:srgbClr val="0259A0"/>
              </a:buClr>
              <a:buSzPct val="80000"/>
              <a:buFont typeface="微软雅黑"/>
              <a:buChar char="●"/>
            </a:pPr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定义字段与关系</a:t>
            </a:r>
          </a:p>
          <a:p>
            <a:pPr algn="l" marL="254016" indent="-254016">
              <a:lnSpc>
                <a:spcPts val="2300"/>
              </a:lnSpc>
              <a:buClr>
                <a:srgbClr val="0259A0"/>
              </a:buClr>
              <a:buSzPct val="80000"/>
              <a:buFont typeface="微软雅黑"/>
              <a:buChar char="●"/>
            </a:pPr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编写校验程序</a:t>
            </a:r>
          </a:p>
        </p:txBody>
      </p:sp>
      <p:sp>
        <p:nvSpPr>
          <p:cNvPr id="76" name="底色 27"/>
          <p:cNvSpPr/>
          <p:nvPr/>
        </p:nvSpPr>
        <p:spPr>
          <a:xfrm>
            <a:off x="5132934" y="5567049"/>
            <a:ext cx="1828800" cy="648000"/>
          </a:xfrm>
          <a:prstGeom prst="roundRect">
            <a:avLst>
              <a:gd name="adj" fmla="val 13722"/>
            </a:avLst>
          </a:prstGeom>
          <a:solidFill>
            <a:srgbClr val="FCEE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文字 28"/>
          <p:cNvSpPr txBox="1"/>
          <p:nvPr/>
        </p:nvSpPr>
        <p:spPr>
          <a:xfrm>
            <a:off x="5240934" y="5639049"/>
            <a:ext cx="1648800" cy="52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00" b="1" lang="zh-CN" altLang="en-US">
                <a:solidFill>
                  <a:srgbClr val="C2410C"/>
                </a:solidFill>
                <a:latin typeface="微软雅黑"/>
                <a:ea typeface="微软雅黑"/>
              </a:rPr>
              <a:t>产出</a:t>
            </a:r>
          </a:p>
          <a:p>
            <a:pPr algn="l">
              <a:spcBef>
                <a:spcPts val="200"/>
              </a:spcBef>
            </a:pPr>
            <a:r>
              <a:rPr sz="1300" b="1" lang="zh-CN" altLang="en-US">
                <a:solidFill>
                  <a:srgbClr val="1E293B"/>
                </a:solidFill>
                <a:latin typeface="微软雅黑"/>
                <a:ea typeface="微软雅黑"/>
              </a:rPr>
              <a:t>格式说明、校验程序</a:t>
            </a:r>
          </a:p>
        </p:txBody>
      </p:sp>
      <p:sp>
        <p:nvSpPr>
          <p:cNvPr id="78" name="卡片 29"/>
          <p:cNvSpPr/>
          <p:nvPr/>
        </p:nvSpPr>
        <p:spPr>
          <a:xfrm>
            <a:off x="7195734" y="2147049"/>
            <a:ext cx="2044800" cy="41760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D7E0EC"/>
            </a:solidFill>
          </a:ln>
          <a:effectLst>
            <a:outerShdw blurRad="50800" dist="19050" dir="5400000" algn="t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9" name="标题条 30"/>
          <p:cNvSpPr/>
          <p:nvPr/>
        </p:nvSpPr>
        <p:spPr>
          <a:xfrm>
            <a:off x="7195734" y="2147049"/>
            <a:ext cx="2044800" cy="396000"/>
          </a:xfrm>
          <a:prstGeom prst="round2SameRect">
            <a:avLst>
              <a:gd name="adj1" fmla="val 22454"/>
              <a:gd name="adj2" fmla="val 0"/>
            </a:avLst>
          </a:prstGeom>
          <a:solidFill>
            <a:srgbClr val="FCEEE2"/>
          </a:solidFill>
          <a:ln>
            <a:noFill/>
          </a:ln>
        </p:spPr>
        <p:txBody>
          <a:bodyPr rtlCol="0" anchor="ctr" wrap="none" lIns="180000" rIns="108000" tIns="0" bIns="0">
            <a:noAutofit/>
          </a:bodyPr>
          <a:lstStyle/>
          <a:p>
            <a:pPr algn="l"/>
            <a:r>
              <a:rPr sz="1800" b="1" lang="zh-CN" altLang="en-US">
                <a:solidFill>
                  <a:srgbClr val="C2410C"/>
                </a:solidFill>
                <a:latin typeface="微软雅黑"/>
                <a:ea typeface="微软雅黑"/>
              </a:rPr>
              <a:t>样例与原型实现</a:t>
            </a:r>
          </a:p>
        </p:txBody>
      </p:sp>
      <p:cxnSp>
        <p:nvCxnSpPr>
          <p:cNvPr id="80" name="连线 31"/>
          <p:cNvCxnSpPr/>
          <p:nvPr/>
        </p:nvCxnSpPr>
        <p:spPr>
          <a:xfrm>
            <a:off x="7501734" y="1769049"/>
            <a:ext cx="0" cy="378000"/>
          </a:xfrm>
          <a:prstGeom prst="line">
            <a:avLst/>
          </a:prstGeom>
          <a:ln w="17780">
            <a:solidFill>
              <a:srgbClr val="E8710A"/>
            </a:solidFill>
          </a:ln>
        </p:spPr>
      </p:cxnSp>
      <p:sp>
        <p:nvSpPr>
          <p:cNvPr id="81" name="序号 32"/>
          <p:cNvSpPr/>
          <p:nvPr/>
        </p:nvSpPr>
        <p:spPr>
          <a:xfrm>
            <a:off x="7321734" y="1589049"/>
            <a:ext cx="360000" cy="360000"/>
          </a:xfrm>
          <a:prstGeom prst="ellipse">
            <a:avLst/>
          </a:prstGeom>
          <a:solidFill>
            <a:srgbClr val="E8710A"/>
          </a:solidFill>
          <a:ln>
            <a:noFill/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lang="zh-CN" altLang="en-US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82" name="标签 33"/>
          <p:cNvSpPr/>
          <p:nvPr/>
        </p:nvSpPr>
        <p:spPr>
          <a:xfrm>
            <a:off x="7771734" y="1631563"/>
            <a:ext cx="840442" cy="274972"/>
          </a:xfrm>
          <a:prstGeom prst="roundRect">
            <a:avLst>
              <a:gd name="adj" fmla="val 18460"/>
            </a:avLst>
          </a:prstGeom>
          <a:solidFill>
            <a:srgbClr val="FCEEE2"/>
          </a:solidFill>
          <a:ln>
            <a:noFill/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lang="zh-CN" altLang="en-US">
                <a:solidFill>
                  <a:srgbClr val="C2410C"/>
                </a:solidFill>
                <a:latin typeface="微软雅黑"/>
                <a:ea typeface="微软雅黑"/>
              </a:rPr>
              <a:t>下一阶段</a:t>
            </a:r>
          </a:p>
        </p:txBody>
      </p:sp>
      <p:sp>
        <p:nvSpPr>
          <p:cNvPr id="83" name="文字 34"/>
          <p:cNvSpPr txBox="1"/>
          <p:nvPr/>
        </p:nvSpPr>
        <p:spPr>
          <a:xfrm>
            <a:off x="7357734" y="2687049"/>
            <a:ext cx="529032" cy="2146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00" b="1" lang="zh-CN" altLang="en-US">
                <a:solidFill>
                  <a:srgbClr val="C2410C"/>
                </a:solidFill>
                <a:latin typeface="微软雅黑"/>
                <a:ea typeface="微软雅黑"/>
              </a:rPr>
              <a:t>阶段4</a:t>
            </a:r>
          </a:p>
        </p:txBody>
      </p:sp>
      <p:sp>
        <p:nvSpPr>
          <p:cNvPr id="84" name="文字 35"/>
          <p:cNvSpPr txBox="1"/>
          <p:nvPr/>
        </p:nvSpPr>
        <p:spPr>
          <a:xfrm>
            <a:off x="7357734" y="2939049"/>
            <a:ext cx="1792800" cy="201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54016" indent="-254016">
              <a:lnSpc>
                <a:spcPts val="2300"/>
              </a:lnSpc>
              <a:buClr>
                <a:srgbClr val="E8710A"/>
              </a:buClr>
              <a:buSzPct val="80000"/>
              <a:buFont typeface="微软雅黑"/>
              <a:buChar char="●"/>
            </a:pPr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确定技术选型</a:t>
            </a:r>
          </a:p>
          <a:p>
            <a:pPr algn="l" marL="254016" indent="-254016">
              <a:lnSpc>
                <a:spcPts val="2300"/>
              </a:lnSpc>
              <a:buClr>
                <a:srgbClr val="E8710A"/>
              </a:buClr>
              <a:buSzPct val="80000"/>
              <a:buFont typeface="微软雅黑"/>
              <a:buChar char="●"/>
            </a:pPr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整理样例数据</a:t>
            </a:r>
          </a:p>
          <a:p>
            <a:pPr algn="l" marL="254016" indent="-254016">
              <a:lnSpc>
                <a:spcPts val="2300"/>
              </a:lnSpc>
              <a:buClr>
                <a:srgbClr val="E8710A"/>
              </a:buClr>
              <a:buSzPct val="80000"/>
              <a:buFont typeface="微软雅黑"/>
              <a:buChar char="●"/>
            </a:pPr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实现查询接口</a:t>
            </a:r>
          </a:p>
          <a:p>
            <a:pPr algn="l" marL="254016" indent="-254016">
              <a:lnSpc>
                <a:spcPts val="2300"/>
              </a:lnSpc>
              <a:buClr>
                <a:srgbClr val="E8710A"/>
              </a:buClr>
              <a:buSzPct val="80000"/>
              <a:buFont typeface="微软雅黑"/>
              <a:buChar char="●"/>
            </a:pPr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实现知识检索</a:t>
            </a:r>
          </a:p>
          <a:p>
            <a:pPr algn="l" marL="254016" indent="-254016">
              <a:lnSpc>
                <a:spcPts val="2300"/>
              </a:lnSpc>
              <a:buClr>
                <a:srgbClr val="E8710A"/>
              </a:buClr>
              <a:buSzPct val="80000"/>
              <a:buFont typeface="微软雅黑"/>
              <a:buChar char="●"/>
            </a:pPr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接入课程问答</a:t>
            </a:r>
          </a:p>
          <a:p>
            <a:pPr algn="l" marL="254016" indent="-254016">
              <a:lnSpc>
                <a:spcPts val="2300"/>
              </a:lnSpc>
              <a:buClr>
                <a:srgbClr val="E8710A"/>
              </a:buClr>
              <a:buSzPct val="80000"/>
              <a:buFont typeface="微软雅黑"/>
              <a:buChar char="●"/>
            </a:pPr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开发前端页面</a:t>
            </a:r>
          </a:p>
        </p:txBody>
      </p:sp>
      <p:sp>
        <p:nvSpPr>
          <p:cNvPr id="85" name="底色 36"/>
          <p:cNvSpPr/>
          <p:nvPr/>
        </p:nvSpPr>
        <p:spPr>
          <a:xfrm>
            <a:off x="7303734" y="5567049"/>
            <a:ext cx="1828800" cy="648000"/>
          </a:xfrm>
          <a:prstGeom prst="roundRect">
            <a:avLst>
              <a:gd name="adj" fmla="val 13722"/>
            </a:avLst>
          </a:prstGeom>
          <a:solidFill>
            <a:srgbClr val="FCEE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文字 37"/>
          <p:cNvSpPr txBox="1"/>
          <p:nvPr/>
        </p:nvSpPr>
        <p:spPr>
          <a:xfrm>
            <a:off x="7411734" y="5639049"/>
            <a:ext cx="1648800" cy="52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00" b="1" lang="zh-CN" altLang="en-US">
                <a:solidFill>
                  <a:srgbClr val="C2410C"/>
                </a:solidFill>
                <a:latin typeface="微软雅黑"/>
                <a:ea typeface="微软雅黑"/>
              </a:rPr>
              <a:t>产出</a:t>
            </a:r>
          </a:p>
          <a:p>
            <a:pPr algn="l">
              <a:spcBef>
                <a:spcPts val="200"/>
              </a:spcBef>
            </a:pPr>
            <a:r>
              <a:rPr sz="1300" b="1" lang="zh-CN" altLang="en-US">
                <a:solidFill>
                  <a:srgbClr val="1E293B"/>
                </a:solidFill>
                <a:latin typeface="微软雅黑"/>
                <a:ea typeface="微软雅黑"/>
              </a:rPr>
              <a:t>可运行的原型系统</a:t>
            </a:r>
          </a:p>
        </p:txBody>
      </p:sp>
      <p:sp>
        <p:nvSpPr>
          <p:cNvPr id="87" name="卡片 38"/>
          <p:cNvSpPr/>
          <p:nvPr/>
        </p:nvSpPr>
        <p:spPr>
          <a:xfrm>
            <a:off x="9366534" y="2147049"/>
            <a:ext cx="2044800" cy="41760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D7E0EC"/>
            </a:solidFill>
          </a:ln>
          <a:effectLst>
            <a:outerShdw blurRad="50800" dist="19050" dir="5400000" algn="t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8" name="标题条 39"/>
          <p:cNvSpPr/>
          <p:nvPr/>
        </p:nvSpPr>
        <p:spPr>
          <a:xfrm>
            <a:off x="9366534" y="2147049"/>
            <a:ext cx="2044800" cy="396000"/>
          </a:xfrm>
          <a:prstGeom prst="round2SameRect">
            <a:avLst>
              <a:gd name="adj1" fmla="val 22454"/>
              <a:gd name="adj2" fmla="val 0"/>
            </a:avLst>
          </a:prstGeom>
          <a:solidFill>
            <a:srgbClr val="F1F5F9"/>
          </a:solidFill>
          <a:ln>
            <a:noFill/>
          </a:ln>
        </p:spPr>
        <p:txBody>
          <a:bodyPr rtlCol="0" anchor="ctr" wrap="none" lIns="180000" rIns="108000" tIns="0" bIns="0">
            <a:noAutofit/>
          </a:bodyPr>
          <a:lstStyle/>
          <a:p>
            <a:pPr algn="l"/>
            <a:r>
              <a:rPr sz="1800" b="1" lang="zh-CN" altLang="en-US">
                <a:solidFill>
                  <a:srgbClr val="64748B"/>
                </a:solidFill>
                <a:latin typeface="微软雅黑"/>
                <a:ea typeface="微软雅黑"/>
              </a:rPr>
              <a:t>测试与评价</a:t>
            </a:r>
          </a:p>
        </p:txBody>
      </p:sp>
      <p:cxnSp>
        <p:nvCxnSpPr>
          <p:cNvPr id="89" name="连线 40"/>
          <p:cNvCxnSpPr/>
          <p:nvPr/>
        </p:nvCxnSpPr>
        <p:spPr>
          <a:xfrm>
            <a:off x="9672534" y="1769049"/>
            <a:ext cx="0" cy="378000"/>
          </a:xfrm>
          <a:prstGeom prst="line">
            <a:avLst/>
          </a:prstGeom>
          <a:ln w="17780">
            <a:solidFill>
              <a:srgbClr val="64748B"/>
            </a:solidFill>
          </a:ln>
        </p:spPr>
      </p:cxnSp>
      <p:sp>
        <p:nvSpPr>
          <p:cNvPr id="90" name="序号 41"/>
          <p:cNvSpPr/>
          <p:nvPr/>
        </p:nvSpPr>
        <p:spPr>
          <a:xfrm>
            <a:off x="9492534" y="1589049"/>
            <a:ext cx="360000" cy="36000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lang="zh-CN" altLang="en-US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91" name="文字 42"/>
          <p:cNvSpPr txBox="1"/>
          <p:nvPr/>
        </p:nvSpPr>
        <p:spPr>
          <a:xfrm>
            <a:off x="9528534" y="2687049"/>
            <a:ext cx="529032" cy="2146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00" b="1" lang="zh-CN" altLang="en-US">
                <a:solidFill>
                  <a:srgbClr val="64748B"/>
                </a:solidFill>
                <a:latin typeface="微软雅黑"/>
                <a:ea typeface="微软雅黑"/>
              </a:rPr>
              <a:t>阶段5</a:t>
            </a:r>
          </a:p>
        </p:txBody>
      </p:sp>
      <p:sp>
        <p:nvSpPr>
          <p:cNvPr id="92" name="文字 43"/>
          <p:cNvSpPr txBox="1"/>
          <p:nvPr/>
        </p:nvSpPr>
        <p:spPr>
          <a:xfrm>
            <a:off x="9528534" y="2939049"/>
            <a:ext cx="1792800" cy="201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54016" indent="-254016">
              <a:lnSpc>
                <a:spcPts val="2300"/>
              </a:lnSpc>
              <a:buClr>
                <a:srgbClr val="64748B"/>
              </a:buClr>
              <a:buSzPct val="80000"/>
              <a:buFont typeface="微软雅黑"/>
              <a:buChar char="●"/>
            </a:pPr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扩充教材知识</a:t>
            </a:r>
          </a:p>
          <a:p>
            <a:pPr algn="l" marL="254016" indent="-254016">
              <a:lnSpc>
                <a:spcPts val="2300"/>
              </a:lnSpc>
              <a:buClr>
                <a:srgbClr val="64748B"/>
              </a:buClr>
              <a:buSzPct val="80000"/>
              <a:buFont typeface="微软雅黑"/>
              <a:buChar char="●"/>
            </a:pPr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检索与问答评测</a:t>
            </a:r>
          </a:p>
          <a:p>
            <a:pPr algn="l" marL="254016" indent="-254016">
              <a:lnSpc>
                <a:spcPts val="2300"/>
              </a:lnSpc>
              <a:buClr>
                <a:srgbClr val="64748B"/>
              </a:buClr>
              <a:buSzPct val="80000"/>
              <a:buFont typeface="微软雅黑"/>
              <a:buChar char="●"/>
            </a:pPr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开展师生试用</a:t>
            </a:r>
          </a:p>
        </p:txBody>
      </p:sp>
      <p:sp>
        <p:nvSpPr>
          <p:cNvPr id="93" name="底色 44"/>
          <p:cNvSpPr/>
          <p:nvPr/>
        </p:nvSpPr>
        <p:spPr>
          <a:xfrm>
            <a:off x="9474534" y="5567049"/>
            <a:ext cx="1828800" cy="648000"/>
          </a:xfrm>
          <a:prstGeom prst="roundRect">
            <a:avLst>
              <a:gd name="adj" fmla="val 13722"/>
            </a:avLst>
          </a:prstGeom>
          <a:solidFill>
            <a:srgbClr val="FCEE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文字 45"/>
          <p:cNvSpPr txBox="1"/>
          <p:nvPr/>
        </p:nvSpPr>
        <p:spPr>
          <a:xfrm>
            <a:off x="9582534" y="5639049"/>
            <a:ext cx="1648800" cy="52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00" b="1" lang="zh-CN" altLang="en-US">
                <a:solidFill>
                  <a:srgbClr val="C2410C"/>
                </a:solidFill>
                <a:latin typeface="微软雅黑"/>
                <a:ea typeface="微软雅黑"/>
              </a:rPr>
              <a:t>产出</a:t>
            </a:r>
          </a:p>
          <a:p>
            <a:pPr algn="l">
              <a:spcBef>
                <a:spcPts val="200"/>
              </a:spcBef>
            </a:pPr>
            <a:r>
              <a:rPr sz="1300" b="1" lang="zh-CN" altLang="en-US">
                <a:solidFill>
                  <a:srgbClr val="1E293B"/>
                </a:solidFill>
                <a:latin typeface="微软雅黑"/>
                <a:ea typeface="微软雅黑"/>
              </a:rPr>
              <a:t>评测结果与改进方案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6" name="直线连接符 5"/>
          <p:cNvCxnSpPr/>
          <p:nvPr/>
        </p:nvCxnSpPr>
        <p:spPr>
          <a:xfrm>
            <a:off x="1587829" y="2385773"/>
            <a:ext cx="0" cy="2087198"/>
          </a:xfrm>
          <a:prstGeom prst="line">
            <a:avLst/>
          </a:prstGeom>
          <a:ln w="28575">
            <a:solidFill>
              <a:schemeClr val="accent1">
                <a:alpha val="6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章节标题"/>
          <p:cNvSpPr txBox="1"/>
          <p:nvPr/>
        </p:nvSpPr>
        <p:spPr>
          <a:xfrm>
            <a:off x="1989455" y="2583180"/>
            <a:ext cx="910399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二、知识对象设计</a:t>
            </a:r>
          </a:p>
        </p:txBody>
      </p:sp>
      <p:sp>
        <p:nvSpPr>
          <p:cNvPr id="14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46551" y="640282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1"/>
            <a:ext cx="12192000" cy="6730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1" y="-504223"/>
            <a:ext cx="2472973" cy="139104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46551" y="640282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线连接符 29"/>
          <p:cNvCxnSpPr/>
          <p:nvPr/>
        </p:nvCxnSpPr>
        <p:spPr>
          <a:xfrm>
            <a:off x="554825" y="1269824"/>
            <a:ext cx="110823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0" y="1"/>
            <a:ext cx="12192000" cy="6730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1" y="-504223"/>
            <a:ext cx="2472973" cy="1391047"/>
          </a:xfrm>
          <a:prstGeom prst="rect">
            <a:avLst/>
          </a:prstGeom>
        </p:spPr>
      </p:pic>
      <p:sp>
        <p:nvSpPr>
          <p:cNvPr id="8" name="页面标题"/>
          <p:cNvSpPr txBox="1"/>
          <p:nvPr/>
        </p:nvSpPr>
        <p:spPr>
          <a:xfrm>
            <a:off x="554681" y="756992"/>
            <a:ext cx="104085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kumimoji="1"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课程知识只存一份，查询和问答结果都由它即时生成</a:t>
            </a:r>
            <a:endParaRPr kumimoji="1"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" name="章节标签"/>
          <p:cNvSpPr txBox="1"/>
          <p:nvPr/>
        </p:nvSpPr>
        <p:spPr>
          <a:xfrm>
            <a:off x="8748716" y="90049"/>
            <a:ext cx="34432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知识对象设计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0" name="卡片 1"/>
          <p:cNvSpPr/>
          <p:nvPr/>
        </p:nvSpPr>
        <p:spPr>
          <a:xfrm>
            <a:off x="683334" y="1571049"/>
            <a:ext cx="4104000" cy="4032000"/>
          </a:xfrm>
          <a:prstGeom prst="roundRect">
            <a:avLst>
              <a:gd name="adj" fmla="val 2205"/>
            </a:avLst>
          </a:prstGeom>
          <a:solidFill>
            <a:srgbClr val="FFFFFF"/>
          </a:solidFill>
          <a:ln w="10160">
            <a:solidFill>
              <a:srgbClr val="D7E0EC"/>
            </a:solidFill>
          </a:ln>
          <a:effectLst>
            <a:outerShdw blurRad="50800" dist="19050" dir="5400000" algn="t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1" name="标题条 2"/>
          <p:cNvSpPr/>
          <p:nvPr/>
        </p:nvSpPr>
        <p:spPr>
          <a:xfrm>
            <a:off x="683334" y="1571049"/>
            <a:ext cx="4104000" cy="396000"/>
          </a:xfrm>
          <a:prstGeom prst="round2SameRect">
            <a:avLst>
              <a:gd name="adj1" fmla="val 22454"/>
              <a:gd name="adj2" fmla="val 0"/>
            </a:avLst>
          </a:prstGeom>
          <a:solidFill>
            <a:srgbClr val="0259A0"/>
          </a:solidFill>
          <a:ln>
            <a:noFill/>
          </a:ln>
        </p:spPr>
        <p:txBody>
          <a:bodyPr rtlCol="0" anchor="ctr" wrap="none" lIns="180000" rIns="108000" tIns="0" bIns="0">
            <a:noAutofit/>
          </a:bodyPr>
          <a:lstStyle/>
          <a:p>
            <a:pPr algn="l"/>
            <a:r>
              <a:rPr sz="1800" b="1" lang="zh-CN" altLang="en-US">
                <a:solidFill>
                  <a:srgbClr val="FFFFFF"/>
                </a:solidFill>
                <a:latin typeface="微软雅黑"/>
                <a:ea typeface="微软雅黑"/>
              </a:rPr>
              <a:t>知识库（人工依据教材整理）</a:t>
            </a:r>
          </a:p>
        </p:txBody>
      </p:sp>
      <p:sp>
        <p:nvSpPr>
          <p:cNvPr id="52" name="节点 3"/>
          <p:cNvSpPr/>
          <p:nvPr/>
        </p:nvSpPr>
        <p:spPr>
          <a:xfrm>
            <a:off x="1043334" y="2120049"/>
            <a:ext cx="3384000" cy="414000"/>
          </a:xfrm>
          <a:prstGeom prst="roundRect">
            <a:avLst>
              <a:gd name="adj" fmla="val 15304"/>
            </a:avLst>
          </a:prstGeom>
          <a:solidFill>
            <a:srgbClr val="F1F5F9"/>
          </a:solidFill>
          <a:ln w="15875">
            <a:solidFill>
              <a:srgbClr val="64748B"/>
            </a:solidFill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章节</a:t>
            </a:r>
          </a:p>
        </p:txBody>
      </p:sp>
      <p:sp>
        <p:nvSpPr>
          <p:cNvPr id="53" name="节点 4"/>
          <p:cNvSpPr/>
          <p:nvPr/>
        </p:nvSpPr>
        <p:spPr>
          <a:xfrm>
            <a:off x="1043334" y="2732049"/>
            <a:ext cx="3384000" cy="414000"/>
          </a:xfrm>
          <a:prstGeom prst="roundRect">
            <a:avLst>
              <a:gd name="adj" fmla="val 15304"/>
            </a:avLst>
          </a:prstGeom>
          <a:solidFill>
            <a:srgbClr val="E1EBF4"/>
          </a:solidFill>
          <a:ln w="15875">
            <a:solidFill>
              <a:srgbClr val="0259A0"/>
            </a:solidFill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知识实体</a:t>
            </a:r>
          </a:p>
        </p:txBody>
      </p:sp>
      <p:sp>
        <p:nvSpPr>
          <p:cNvPr id="54" name="标签 5"/>
          <p:cNvSpPr/>
          <p:nvPr/>
        </p:nvSpPr>
        <p:spPr>
          <a:xfrm>
            <a:off x="987116" y="3179563"/>
            <a:ext cx="510221" cy="274972"/>
          </a:xfrm>
          <a:prstGeom prst="roundRect">
            <a:avLst>
              <a:gd name="adj" fmla="val 18460"/>
            </a:avLst>
          </a:prstGeom>
          <a:solidFill>
            <a:srgbClr val="E5ECFD"/>
          </a:solidFill>
          <a:ln>
            <a:noFill/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lang="zh-CN" altLang="en-US">
                <a:solidFill>
                  <a:srgbClr val="2563EB"/>
                </a:solidFill>
                <a:latin typeface="微软雅黑"/>
                <a:ea typeface="微软雅黑"/>
              </a:rPr>
              <a:t>概念</a:t>
            </a:r>
          </a:p>
        </p:txBody>
      </p:sp>
      <p:sp>
        <p:nvSpPr>
          <p:cNvPr id="55" name="标签 6"/>
          <p:cNvSpPr/>
          <p:nvPr/>
        </p:nvSpPr>
        <p:spPr>
          <a:xfrm>
            <a:off x="1551337" y="3179563"/>
            <a:ext cx="510221" cy="274972"/>
          </a:xfrm>
          <a:prstGeom prst="roundRect">
            <a:avLst>
              <a:gd name="adj" fmla="val 18460"/>
            </a:avLst>
          </a:prstGeom>
          <a:solidFill>
            <a:srgbClr val="EFE7FD"/>
          </a:solidFill>
          <a:ln>
            <a:noFill/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lang="zh-CN" altLang="en-US">
                <a:solidFill>
                  <a:srgbClr val="7C3AED"/>
                </a:solidFill>
                <a:latin typeface="微软雅黑"/>
                <a:ea typeface="微软雅黑"/>
              </a:rPr>
              <a:t>定律</a:t>
            </a:r>
          </a:p>
        </p:txBody>
      </p:sp>
      <p:sp>
        <p:nvSpPr>
          <p:cNvPr id="56" name="标签 7"/>
          <p:cNvSpPr/>
          <p:nvPr/>
        </p:nvSpPr>
        <p:spPr>
          <a:xfrm>
            <a:off x="2115558" y="3179563"/>
            <a:ext cx="675331" cy="274972"/>
          </a:xfrm>
          <a:prstGeom prst="roundRect">
            <a:avLst>
              <a:gd name="adj" fmla="val 18460"/>
            </a:avLst>
          </a:prstGeom>
          <a:solidFill>
            <a:srgbClr val="E2F1F1"/>
          </a:solidFill>
          <a:ln>
            <a:noFill/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lang="zh-CN" altLang="en-US">
                <a:solidFill>
                  <a:srgbClr val="0F8B8D"/>
                </a:solidFill>
                <a:latin typeface="微软雅黑"/>
                <a:ea typeface="微软雅黑"/>
              </a:rPr>
              <a:t>物理量</a:t>
            </a:r>
          </a:p>
        </p:txBody>
      </p:sp>
      <p:sp>
        <p:nvSpPr>
          <p:cNvPr id="57" name="标签 8"/>
          <p:cNvSpPr/>
          <p:nvPr/>
        </p:nvSpPr>
        <p:spPr>
          <a:xfrm>
            <a:off x="2844889" y="3179563"/>
            <a:ext cx="510221" cy="274972"/>
          </a:xfrm>
          <a:prstGeom prst="roundRect">
            <a:avLst>
              <a:gd name="adj" fmla="val 18460"/>
            </a:avLst>
          </a:prstGeom>
          <a:solidFill>
            <a:srgbClr val="FBE5EF"/>
          </a:solidFill>
          <a:ln>
            <a:noFill/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lang="zh-CN" altLang="en-US">
                <a:solidFill>
                  <a:srgbClr val="DB2777"/>
                </a:solidFill>
                <a:latin typeface="微软雅黑"/>
                <a:ea typeface="微软雅黑"/>
              </a:rPr>
              <a:t>公式</a:t>
            </a:r>
          </a:p>
        </p:txBody>
      </p:sp>
      <p:sp>
        <p:nvSpPr>
          <p:cNvPr id="58" name="标签 9"/>
          <p:cNvSpPr/>
          <p:nvPr/>
        </p:nvSpPr>
        <p:spPr>
          <a:xfrm>
            <a:off x="3409110" y="3179563"/>
            <a:ext cx="510221" cy="274972"/>
          </a:xfrm>
          <a:prstGeom prst="roundRect">
            <a:avLst>
              <a:gd name="adj" fmla="val 18460"/>
            </a:avLst>
          </a:prstGeom>
          <a:solidFill>
            <a:srgbClr val="E3F0E8"/>
          </a:solidFill>
          <a:ln>
            <a:noFill/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lang="zh-CN" altLang="en-US">
                <a:solidFill>
                  <a:srgbClr val="15803D"/>
                </a:solidFill>
                <a:latin typeface="微软雅黑"/>
                <a:ea typeface="微软雅黑"/>
              </a:rPr>
              <a:t>应用</a:t>
            </a:r>
          </a:p>
        </p:txBody>
      </p:sp>
      <p:sp>
        <p:nvSpPr>
          <p:cNvPr id="59" name="标签 10"/>
          <p:cNvSpPr/>
          <p:nvPr/>
        </p:nvSpPr>
        <p:spPr>
          <a:xfrm>
            <a:off x="3973331" y="3179563"/>
            <a:ext cx="510221" cy="274972"/>
          </a:xfrm>
          <a:prstGeom prst="roundRect">
            <a:avLst>
              <a:gd name="adj" fmla="val 18460"/>
            </a:avLst>
          </a:prstGeom>
          <a:solidFill>
            <a:srgbClr val="E9EBED"/>
          </a:solidFill>
          <a:ln>
            <a:noFill/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lang="zh-CN" altLang="en-US">
                <a:solidFill>
                  <a:srgbClr val="475569"/>
                </a:solidFill>
                <a:latin typeface="微软雅黑"/>
                <a:ea typeface="微软雅黑"/>
              </a:rPr>
              <a:t>方法</a:t>
            </a:r>
          </a:p>
        </p:txBody>
      </p:sp>
      <p:sp>
        <p:nvSpPr>
          <p:cNvPr id="60" name="节点 11"/>
          <p:cNvSpPr/>
          <p:nvPr/>
        </p:nvSpPr>
        <p:spPr>
          <a:xfrm>
            <a:off x="1043334" y="3569049"/>
            <a:ext cx="3384000" cy="540000"/>
          </a:xfrm>
          <a:prstGeom prst="roundRect">
            <a:avLst>
              <a:gd name="adj" fmla="val 11733"/>
            </a:avLst>
          </a:prstGeom>
          <a:solidFill>
            <a:srgbClr val="FBE5EF"/>
          </a:solidFill>
          <a:ln w="15875">
            <a:solidFill>
              <a:srgbClr val="DB2777"/>
            </a:solidFill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公式变量</a:t>
            </a:r>
          </a:p>
          <a:p>
            <a:pPr algn="ctr"/>
            <a:r>
              <a:rPr sz="1300" b="0" lang="zh-CN" altLang="en-US">
                <a:solidFill>
                  <a:srgbClr val="64748B"/>
                </a:solidFill>
                <a:latin typeface="微软雅黑"/>
                <a:ea typeface="微软雅黑"/>
              </a:rPr>
              <a:t>随公式保存，关联物理量</a:t>
            </a:r>
          </a:p>
        </p:txBody>
      </p:sp>
      <p:sp>
        <p:nvSpPr>
          <p:cNvPr id="61" name="节点 12"/>
          <p:cNvSpPr/>
          <p:nvPr/>
        </p:nvSpPr>
        <p:spPr>
          <a:xfrm>
            <a:off x="1043334" y="4262049"/>
            <a:ext cx="3384000" cy="414000"/>
          </a:xfrm>
          <a:prstGeom prst="roundRect">
            <a:avLst>
              <a:gd name="adj" fmla="val 15304"/>
            </a:avLst>
          </a:prstGeom>
          <a:solidFill>
            <a:srgbClr val="E1EBF4"/>
          </a:solidFill>
          <a:ln w="15875">
            <a:solidFill>
              <a:srgbClr val="0259A0"/>
            </a:solidFill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知识关系</a:t>
            </a:r>
          </a:p>
        </p:txBody>
      </p:sp>
      <p:sp>
        <p:nvSpPr>
          <p:cNvPr id="62" name="文字 13"/>
          <p:cNvSpPr txBox="1"/>
          <p:nvPr/>
        </p:nvSpPr>
        <p:spPr>
          <a:xfrm>
            <a:off x="1773227" y="5243727"/>
            <a:ext cx="1924214" cy="21464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300" b="0" lang="zh-CN" altLang="en-US">
                <a:solidFill>
                  <a:srgbClr val="64748B"/>
                </a:solidFill>
                <a:latin typeface="微软雅黑"/>
                <a:ea typeface="微软雅黑"/>
              </a:rPr>
              <a:t>需要长期保存的课程知识</a:t>
            </a:r>
          </a:p>
        </p:txBody>
      </p:sp>
      <p:sp>
        <p:nvSpPr>
          <p:cNvPr id="63" name="卡片 14"/>
          <p:cNvSpPr/>
          <p:nvPr/>
        </p:nvSpPr>
        <p:spPr>
          <a:xfrm>
            <a:off x="6659334" y="1571049"/>
            <a:ext cx="4752000" cy="1512000"/>
          </a:xfrm>
          <a:prstGeom prst="roundRect">
            <a:avLst>
              <a:gd name="adj" fmla="val 5880"/>
            </a:avLst>
          </a:prstGeom>
          <a:solidFill>
            <a:srgbClr val="FFFFFF"/>
          </a:solidFill>
          <a:ln w="10160">
            <a:solidFill>
              <a:srgbClr val="D7E0EC"/>
            </a:solidFill>
          </a:ln>
          <a:effectLst>
            <a:outerShdw blurRad="50800" dist="19050" dir="5400000" algn="t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4" name="标题条 15"/>
          <p:cNvSpPr/>
          <p:nvPr/>
        </p:nvSpPr>
        <p:spPr>
          <a:xfrm>
            <a:off x="6659334" y="1571049"/>
            <a:ext cx="4752000" cy="396000"/>
          </a:xfrm>
          <a:prstGeom prst="round2SameRect">
            <a:avLst>
              <a:gd name="adj1" fmla="val 22454"/>
              <a:gd name="adj2" fmla="val 0"/>
            </a:avLst>
          </a:prstGeom>
          <a:solidFill>
            <a:srgbClr val="E1EBF4"/>
          </a:solidFill>
          <a:ln>
            <a:noFill/>
          </a:ln>
        </p:spPr>
        <p:txBody>
          <a:bodyPr rtlCol="0" anchor="ctr" wrap="none" lIns="180000" rIns="108000" tIns="0" bIns="0">
            <a:noAutofit/>
          </a:bodyPr>
          <a:lstStyle/>
          <a:p>
            <a:pPr algn="l"/>
            <a:r>
              <a:rPr sz="1800" b="1" lang="zh-CN" altLang="en-US">
                <a:solidFill>
                  <a:srgbClr val="0259A0"/>
                </a:solidFill>
                <a:latin typeface="微软雅黑"/>
                <a:ea typeface="微软雅黑"/>
              </a:rPr>
              <a:t>查询结果</a:t>
            </a:r>
          </a:p>
        </p:txBody>
      </p:sp>
      <p:sp>
        <p:nvSpPr>
          <p:cNvPr id="65" name="文字 16"/>
          <p:cNvSpPr txBox="1"/>
          <p:nvPr/>
        </p:nvSpPr>
        <p:spPr>
          <a:xfrm>
            <a:off x="6875334" y="2183049"/>
            <a:ext cx="4320000" cy="7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</a:pPr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搜索结果、相邻知识、学习路径、局部图谱</a:t>
            </a:r>
          </a:p>
        </p:txBody>
      </p:sp>
      <p:cxnSp>
        <p:nvCxnSpPr>
          <p:cNvPr id="66" name="连线 17"/>
          <p:cNvCxnSpPr/>
          <p:nvPr/>
        </p:nvCxnSpPr>
        <p:spPr>
          <a:xfrm>
            <a:off x="4787334" y="2327049"/>
            <a:ext cx="1872000" cy="0"/>
          </a:xfrm>
          <a:prstGeom prst="line">
            <a:avLst/>
          </a:prstGeom>
          <a:ln w="17780">
            <a:solidFill>
              <a:srgbClr val="0259A0"/>
            </a:solidFill>
            <a:tailEnd type="stealth" w="lg" len="lg"/>
          </a:ln>
        </p:spPr>
      </p:cxnSp>
      <p:sp>
        <p:nvSpPr>
          <p:cNvPr id="67" name="连线说明 18"/>
          <p:cNvSpPr txBox="1"/>
          <p:nvPr/>
        </p:nvSpPr>
        <p:spPr>
          <a:xfrm>
            <a:off x="5265558" y="2064399"/>
            <a:ext cx="915552" cy="222899"/>
          </a:xfrm>
          <a:prstGeom prst="rect">
            <a:avLst/>
          </a:prstGeom>
          <a:solidFill>
            <a:srgbClr val="FFFFFF"/>
          </a:solidFill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300" b="0" lang="zh-CN" altLang="en-US">
                <a:solidFill>
                  <a:srgbClr val="1E293B"/>
                </a:solidFill>
                <a:latin typeface="微软雅黑"/>
                <a:ea typeface="微软雅黑"/>
              </a:rPr>
              <a:t>运行时查询</a:t>
            </a:r>
          </a:p>
        </p:txBody>
      </p:sp>
      <p:sp>
        <p:nvSpPr>
          <p:cNvPr id="68" name="卡片 19"/>
          <p:cNvSpPr/>
          <p:nvPr/>
        </p:nvSpPr>
        <p:spPr>
          <a:xfrm>
            <a:off x="6659334" y="3659049"/>
            <a:ext cx="4752000" cy="1512000"/>
          </a:xfrm>
          <a:prstGeom prst="roundRect">
            <a:avLst>
              <a:gd name="adj" fmla="val 5880"/>
            </a:avLst>
          </a:prstGeom>
          <a:solidFill>
            <a:srgbClr val="FFFFFF"/>
          </a:solidFill>
          <a:ln w="10160">
            <a:solidFill>
              <a:srgbClr val="D7E0EC"/>
            </a:solidFill>
          </a:ln>
          <a:effectLst>
            <a:outerShdw blurRad="50800" dist="19050" dir="5400000" algn="t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9" name="标题条 20"/>
          <p:cNvSpPr/>
          <p:nvPr/>
        </p:nvSpPr>
        <p:spPr>
          <a:xfrm>
            <a:off x="6659334" y="3659049"/>
            <a:ext cx="4752000" cy="396000"/>
          </a:xfrm>
          <a:prstGeom prst="round2SameRect">
            <a:avLst>
              <a:gd name="adj1" fmla="val 22454"/>
              <a:gd name="adj2" fmla="val 0"/>
            </a:avLst>
          </a:prstGeom>
          <a:solidFill>
            <a:srgbClr val="E1EBF4"/>
          </a:solidFill>
          <a:ln>
            <a:noFill/>
          </a:ln>
        </p:spPr>
        <p:txBody>
          <a:bodyPr rtlCol="0" anchor="ctr" wrap="none" lIns="180000" rIns="108000" tIns="0" bIns="0">
            <a:noAutofit/>
          </a:bodyPr>
          <a:lstStyle/>
          <a:p>
            <a:pPr algn="l"/>
            <a:r>
              <a:rPr sz="1800" b="1" lang="zh-CN" altLang="en-US">
                <a:solidFill>
                  <a:srgbClr val="0259A0"/>
                </a:solidFill>
                <a:latin typeface="微软雅黑"/>
                <a:ea typeface="微软雅黑"/>
              </a:rPr>
              <a:t>问答结果</a:t>
            </a:r>
          </a:p>
        </p:txBody>
      </p:sp>
      <p:sp>
        <p:nvSpPr>
          <p:cNvPr id="70" name="文字 21"/>
          <p:cNvSpPr txBox="1"/>
          <p:nvPr/>
        </p:nvSpPr>
        <p:spPr>
          <a:xfrm>
            <a:off x="6875334" y="4271049"/>
            <a:ext cx="4320000" cy="7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</a:pPr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检索到的知识点和关系、模型回答及引用</a:t>
            </a:r>
          </a:p>
        </p:txBody>
      </p:sp>
      <p:cxnSp>
        <p:nvCxnSpPr>
          <p:cNvPr id="71" name="连线 22"/>
          <p:cNvCxnSpPr/>
          <p:nvPr/>
        </p:nvCxnSpPr>
        <p:spPr>
          <a:xfrm>
            <a:off x="4787334" y="4415049"/>
            <a:ext cx="1872000" cy="0"/>
          </a:xfrm>
          <a:prstGeom prst="line">
            <a:avLst/>
          </a:prstGeom>
          <a:ln w="17780">
            <a:solidFill>
              <a:srgbClr val="0259A0"/>
            </a:solidFill>
            <a:tailEnd type="stealth" w="lg" len="lg"/>
          </a:ln>
        </p:spPr>
      </p:cxnSp>
      <p:sp>
        <p:nvSpPr>
          <p:cNvPr id="72" name="连线说明 23"/>
          <p:cNvSpPr txBox="1"/>
          <p:nvPr/>
        </p:nvSpPr>
        <p:spPr>
          <a:xfrm>
            <a:off x="5265558" y="4152399"/>
            <a:ext cx="915552" cy="222899"/>
          </a:xfrm>
          <a:prstGeom prst="rect">
            <a:avLst/>
          </a:prstGeom>
          <a:solidFill>
            <a:srgbClr val="FFFFFF"/>
          </a:solidFill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300" b="0" lang="zh-CN" altLang="en-US">
                <a:solidFill>
                  <a:srgbClr val="1E293B"/>
                </a:solidFill>
                <a:latin typeface="微软雅黑"/>
                <a:ea typeface="微软雅黑"/>
              </a:rPr>
              <a:t>检索后生成</a:t>
            </a:r>
          </a:p>
        </p:txBody>
      </p:sp>
      <p:sp>
        <p:nvSpPr>
          <p:cNvPr id="73" name="标签 24"/>
          <p:cNvSpPr/>
          <p:nvPr/>
        </p:nvSpPr>
        <p:spPr>
          <a:xfrm>
            <a:off x="7789561" y="5411563"/>
            <a:ext cx="2491546" cy="274972"/>
          </a:xfrm>
          <a:prstGeom prst="roundRect">
            <a:avLst>
              <a:gd name="adj" fmla="val 18460"/>
            </a:avLst>
          </a:prstGeom>
          <a:solidFill>
            <a:srgbClr val="FCEEE2"/>
          </a:solidFill>
          <a:ln>
            <a:noFill/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lang="zh-CN" altLang="en-US">
                <a:solidFill>
                  <a:srgbClr val="C2410C"/>
                </a:solidFill>
                <a:latin typeface="微软雅黑"/>
                <a:ea typeface="微软雅黑"/>
              </a:rPr>
              <a:t>由后端即时生成，不写回知识库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46551" y="640282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线连接符 29"/>
          <p:cNvCxnSpPr/>
          <p:nvPr/>
        </p:nvCxnSpPr>
        <p:spPr>
          <a:xfrm>
            <a:off x="554825" y="1269824"/>
            <a:ext cx="110823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0" y="1"/>
            <a:ext cx="12192000" cy="6730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1" y="-504223"/>
            <a:ext cx="2472973" cy="1391047"/>
          </a:xfrm>
          <a:prstGeom prst="rect">
            <a:avLst/>
          </a:prstGeom>
        </p:spPr>
      </p:pic>
      <p:sp>
        <p:nvSpPr>
          <p:cNvPr id="8" name="页面标题"/>
          <p:cNvSpPr txBox="1"/>
          <p:nvPr/>
        </p:nvSpPr>
        <p:spPr>
          <a:xfrm>
            <a:off x="554681" y="756992"/>
            <a:ext cx="104085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kumimoji="1"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章节只做导航，公式单独作为知识点</a:t>
            </a:r>
            <a:endParaRPr kumimoji="1"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" name="章节标签"/>
          <p:cNvSpPr txBox="1"/>
          <p:nvPr/>
        </p:nvSpPr>
        <p:spPr>
          <a:xfrm>
            <a:off x="8748716" y="90049"/>
            <a:ext cx="34432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知识对象设计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0" name="卡片 1"/>
          <p:cNvSpPr/>
          <p:nvPr/>
        </p:nvSpPr>
        <p:spPr>
          <a:xfrm>
            <a:off x="683334" y="1571049"/>
            <a:ext cx="5256000" cy="4068000"/>
          </a:xfrm>
          <a:prstGeom prst="roundRect">
            <a:avLst>
              <a:gd name="adj" fmla="val 2185"/>
            </a:avLst>
          </a:prstGeom>
          <a:solidFill>
            <a:srgbClr val="FFFFFF"/>
          </a:solidFill>
          <a:ln w="10160">
            <a:solidFill>
              <a:srgbClr val="D7E0EC"/>
            </a:solidFill>
          </a:ln>
          <a:effectLst>
            <a:outerShdw blurRad="50800" dist="19050" dir="5400000" algn="t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1" name="标题条 2"/>
          <p:cNvSpPr/>
          <p:nvPr/>
        </p:nvSpPr>
        <p:spPr>
          <a:xfrm>
            <a:off x="683334" y="1571049"/>
            <a:ext cx="5256000" cy="396000"/>
          </a:xfrm>
          <a:prstGeom prst="round2SameRect">
            <a:avLst>
              <a:gd name="adj1" fmla="val 22454"/>
              <a:gd name="adj2" fmla="val 0"/>
            </a:avLst>
          </a:prstGeom>
          <a:solidFill>
            <a:srgbClr val="0259A0"/>
          </a:solidFill>
          <a:ln>
            <a:noFill/>
          </a:ln>
        </p:spPr>
        <p:txBody>
          <a:bodyPr rtlCol="0" anchor="ctr" wrap="none" lIns="180000" rIns="108000" tIns="0" bIns="0">
            <a:noAutofit/>
          </a:bodyPr>
          <a:lstStyle/>
          <a:p>
            <a:pPr algn="l"/>
            <a:r>
              <a:rPr sz="1800" b="1" lang="zh-CN" altLang="en-US">
                <a:solidFill>
                  <a:srgbClr val="FFFFFF"/>
                </a:solidFill>
                <a:latin typeface="微软雅黑"/>
                <a:ea typeface="微软雅黑"/>
              </a:rPr>
              <a:t>章节不作为知识点</a:t>
            </a:r>
          </a:p>
        </p:txBody>
      </p:sp>
      <p:sp>
        <p:nvSpPr>
          <p:cNvPr id="52" name="卡片 3"/>
          <p:cNvSpPr/>
          <p:nvPr/>
        </p:nvSpPr>
        <p:spPr>
          <a:xfrm>
            <a:off x="6155334" y="1571049"/>
            <a:ext cx="5256000" cy="4068000"/>
          </a:xfrm>
          <a:prstGeom prst="roundRect">
            <a:avLst>
              <a:gd name="adj" fmla="val 2185"/>
            </a:avLst>
          </a:prstGeom>
          <a:solidFill>
            <a:srgbClr val="FFFFFF"/>
          </a:solidFill>
          <a:ln w="10160">
            <a:solidFill>
              <a:srgbClr val="D7E0EC"/>
            </a:solidFill>
          </a:ln>
          <a:effectLst>
            <a:outerShdw blurRad="50800" dist="19050" dir="5400000" algn="t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3" name="标题条 4"/>
          <p:cNvSpPr/>
          <p:nvPr/>
        </p:nvSpPr>
        <p:spPr>
          <a:xfrm>
            <a:off x="6155334" y="1571049"/>
            <a:ext cx="5256000" cy="396000"/>
          </a:xfrm>
          <a:prstGeom prst="round2SameRect">
            <a:avLst>
              <a:gd name="adj1" fmla="val 22454"/>
              <a:gd name="adj2" fmla="val 0"/>
            </a:avLst>
          </a:prstGeom>
          <a:solidFill>
            <a:srgbClr val="0259A0"/>
          </a:solidFill>
          <a:ln>
            <a:noFill/>
          </a:ln>
        </p:spPr>
        <p:txBody>
          <a:bodyPr rtlCol="0" anchor="ctr" wrap="none" lIns="180000" rIns="108000" tIns="0" bIns="0">
            <a:noAutofit/>
          </a:bodyPr>
          <a:lstStyle/>
          <a:p>
            <a:pPr algn="l"/>
            <a:r>
              <a:rPr sz="1800" b="1" lang="zh-CN" altLang="en-US">
                <a:solidFill>
                  <a:srgbClr val="FFFFFF"/>
                </a:solidFill>
                <a:latin typeface="微软雅黑"/>
                <a:ea typeface="微软雅黑"/>
              </a:rPr>
              <a:t>公式单独作为知识点</a:t>
            </a:r>
          </a:p>
        </p:txBody>
      </p:sp>
      <p:sp>
        <p:nvSpPr>
          <p:cNvPr id="54" name="文字 5"/>
          <p:cNvSpPr txBox="1"/>
          <p:nvPr/>
        </p:nvSpPr>
        <p:spPr>
          <a:xfrm>
            <a:off x="899334" y="2147049"/>
            <a:ext cx="4824000" cy="57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</a:pPr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章节只负责导航和排序，不进入图谱；跨章节的联系用关系表达。</a:t>
            </a:r>
          </a:p>
        </p:txBody>
      </p:sp>
      <p:sp>
        <p:nvSpPr>
          <p:cNvPr id="55" name="底色 6"/>
          <p:cNvSpPr/>
          <p:nvPr/>
        </p:nvSpPr>
        <p:spPr>
          <a:xfrm>
            <a:off x="899334" y="2903049"/>
            <a:ext cx="2160000" cy="1728000"/>
          </a:xfrm>
          <a:prstGeom prst="roundRect">
            <a:avLst>
              <a:gd name="adj" fmla="val 5145"/>
            </a:avLst>
          </a:prstGeom>
          <a:solidFill>
            <a:srgbClr val="F1F5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文字 7"/>
          <p:cNvSpPr txBox="1"/>
          <p:nvPr/>
        </p:nvSpPr>
        <p:spPr>
          <a:xfrm>
            <a:off x="1430003" y="2975727"/>
            <a:ext cx="1098662" cy="21464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300" b="1" lang="zh-CN" altLang="en-US">
                <a:solidFill>
                  <a:srgbClr val="64748B"/>
                </a:solidFill>
                <a:latin typeface="微软雅黑"/>
                <a:ea typeface="微软雅黑"/>
              </a:rPr>
              <a:t>章节：静电场</a:t>
            </a:r>
          </a:p>
        </p:txBody>
      </p:sp>
      <p:sp>
        <p:nvSpPr>
          <p:cNvPr id="57" name="节点 8"/>
          <p:cNvSpPr/>
          <p:nvPr/>
        </p:nvSpPr>
        <p:spPr>
          <a:xfrm>
            <a:off x="1367334" y="3686049"/>
            <a:ext cx="1224000" cy="414000"/>
          </a:xfrm>
          <a:prstGeom prst="roundRect">
            <a:avLst>
              <a:gd name="adj" fmla="val 15304"/>
            </a:avLst>
          </a:prstGeom>
          <a:solidFill>
            <a:srgbClr val="EFE7FD"/>
          </a:solidFill>
          <a:ln w="15875">
            <a:solidFill>
              <a:srgbClr val="7C3AED"/>
            </a:solidFill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高斯定律</a:t>
            </a:r>
          </a:p>
        </p:txBody>
      </p:sp>
      <p:sp>
        <p:nvSpPr>
          <p:cNvPr id="58" name="底色 9"/>
          <p:cNvSpPr/>
          <p:nvPr/>
        </p:nvSpPr>
        <p:spPr>
          <a:xfrm>
            <a:off x="3563334" y="2903049"/>
            <a:ext cx="2160000" cy="1728000"/>
          </a:xfrm>
          <a:prstGeom prst="roundRect">
            <a:avLst>
              <a:gd name="adj" fmla="val 5145"/>
            </a:avLst>
          </a:prstGeom>
          <a:solidFill>
            <a:srgbClr val="F1F5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文字 10"/>
          <p:cNvSpPr txBox="1"/>
          <p:nvPr/>
        </p:nvSpPr>
        <p:spPr>
          <a:xfrm>
            <a:off x="3928892" y="2975727"/>
            <a:ext cx="1428883" cy="21464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300" b="1" lang="zh-CN" altLang="en-US">
                <a:solidFill>
                  <a:srgbClr val="64748B"/>
                </a:solidFill>
                <a:latin typeface="微软雅黑"/>
                <a:ea typeface="微软雅黑"/>
              </a:rPr>
              <a:t>章节：时变电磁场</a:t>
            </a:r>
          </a:p>
        </p:txBody>
      </p:sp>
      <p:sp>
        <p:nvSpPr>
          <p:cNvPr id="60" name="节点 11"/>
          <p:cNvSpPr/>
          <p:nvPr/>
        </p:nvSpPr>
        <p:spPr>
          <a:xfrm>
            <a:off x="3824089" y="3686049"/>
            <a:ext cx="1638490" cy="414000"/>
          </a:xfrm>
          <a:prstGeom prst="roundRect">
            <a:avLst>
              <a:gd name="adj" fmla="val 15304"/>
            </a:avLst>
          </a:prstGeom>
          <a:solidFill>
            <a:srgbClr val="EFE7FD"/>
          </a:solidFill>
          <a:ln w="15875">
            <a:solidFill>
              <a:srgbClr val="7C3AED"/>
            </a:solidFill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麦克斯韦方程组</a:t>
            </a:r>
          </a:p>
        </p:txBody>
      </p:sp>
      <p:cxnSp>
        <p:nvCxnSpPr>
          <p:cNvPr id="61" name="连线 12"/>
          <p:cNvCxnSpPr/>
          <p:nvPr/>
        </p:nvCxnSpPr>
        <p:spPr>
          <a:xfrm>
            <a:off x="2591334" y="3893049"/>
            <a:ext cx="1232755" cy="0"/>
          </a:xfrm>
          <a:prstGeom prst="line">
            <a:avLst/>
          </a:prstGeom>
          <a:ln w="13970">
            <a:solidFill>
              <a:srgbClr val="64748B"/>
            </a:solidFill>
            <a:tailEnd type="stealth" w="lg" len="lg"/>
          </a:ln>
        </p:spPr>
      </p:cxnSp>
      <p:sp>
        <p:nvSpPr>
          <p:cNvPr id="62" name="连线说明 13"/>
          <p:cNvSpPr txBox="1"/>
          <p:nvPr/>
        </p:nvSpPr>
        <p:spPr>
          <a:xfrm>
            <a:off x="2997601" y="3619599"/>
            <a:ext cx="420221" cy="222899"/>
          </a:xfrm>
          <a:prstGeom prst="rect">
            <a:avLst/>
          </a:prstGeom>
          <a:solidFill>
            <a:srgbClr val="FFFFFF"/>
          </a:solidFill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300" b="0" lang="zh-CN" altLang="en-US">
                <a:solidFill>
                  <a:srgbClr val="1E293B"/>
                </a:solidFill>
                <a:latin typeface="微软雅黑"/>
                <a:ea typeface="微软雅黑"/>
              </a:rPr>
              <a:t>前置</a:t>
            </a:r>
          </a:p>
        </p:txBody>
      </p:sp>
      <p:sp>
        <p:nvSpPr>
          <p:cNvPr id="63" name="文字 14"/>
          <p:cNvSpPr txBox="1"/>
          <p:nvPr/>
        </p:nvSpPr>
        <p:spPr>
          <a:xfrm>
            <a:off x="6371334" y="2147049"/>
            <a:ext cx="4824000" cy="57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</a:pPr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公式可以被搜索、点击，单独展示变量和成立条件。</a:t>
            </a:r>
          </a:p>
        </p:txBody>
      </p:sp>
      <p:sp>
        <p:nvSpPr>
          <p:cNvPr id="64" name="节点 15"/>
          <p:cNvSpPr/>
          <p:nvPr/>
        </p:nvSpPr>
        <p:spPr>
          <a:xfrm>
            <a:off x="8171334" y="2912049"/>
            <a:ext cx="1224000" cy="414000"/>
          </a:xfrm>
          <a:prstGeom prst="roundRect">
            <a:avLst>
              <a:gd name="adj" fmla="val 15304"/>
            </a:avLst>
          </a:prstGeom>
          <a:solidFill>
            <a:srgbClr val="EFE7FD"/>
          </a:solidFill>
          <a:ln w="15875">
            <a:solidFill>
              <a:srgbClr val="7C3AED"/>
            </a:solidFill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高斯定律</a:t>
            </a:r>
          </a:p>
        </p:txBody>
      </p:sp>
      <p:sp>
        <p:nvSpPr>
          <p:cNvPr id="65" name="节点 16"/>
          <p:cNvSpPr/>
          <p:nvPr/>
        </p:nvSpPr>
        <p:spPr>
          <a:xfrm>
            <a:off x="6602483" y="3992049"/>
            <a:ext cx="1841702" cy="414000"/>
          </a:xfrm>
          <a:prstGeom prst="roundRect">
            <a:avLst>
              <a:gd name="adj" fmla="val 15304"/>
            </a:avLst>
          </a:prstGeom>
          <a:solidFill>
            <a:srgbClr val="FBE5EF"/>
          </a:solidFill>
          <a:ln w="15875">
            <a:solidFill>
              <a:srgbClr val="DB2777"/>
            </a:solidFill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高斯定律积分形式</a:t>
            </a:r>
          </a:p>
        </p:txBody>
      </p:sp>
      <p:cxnSp>
        <p:nvCxnSpPr>
          <p:cNvPr id="66" name="连线 17"/>
          <p:cNvCxnSpPr/>
          <p:nvPr/>
        </p:nvCxnSpPr>
        <p:spPr>
          <a:xfrm flipH="1">
            <a:off x="7764834" y="3326049"/>
            <a:ext cx="777000" cy="666000"/>
          </a:xfrm>
          <a:prstGeom prst="line">
            <a:avLst/>
          </a:prstGeom>
          <a:ln w="13970">
            <a:solidFill>
              <a:srgbClr val="64748B"/>
            </a:solidFill>
            <a:tailEnd type="stealth" w="lg" len="lg"/>
          </a:ln>
        </p:spPr>
      </p:cxnSp>
      <p:sp>
        <p:nvSpPr>
          <p:cNvPr id="67" name="连线说明 18"/>
          <p:cNvSpPr txBox="1"/>
          <p:nvPr/>
        </p:nvSpPr>
        <p:spPr>
          <a:xfrm>
            <a:off x="7860668" y="3547599"/>
            <a:ext cx="585331" cy="222899"/>
          </a:xfrm>
          <a:prstGeom prst="rect">
            <a:avLst/>
          </a:prstGeom>
          <a:solidFill>
            <a:srgbClr val="FFFFFF"/>
          </a:solidFill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300" b="0" lang="zh-CN" altLang="en-US">
                <a:solidFill>
                  <a:srgbClr val="1E293B"/>
                </a:solidFill>
                <a:latin typeface="微软雅黑"/>
                <a:ea typeface="微软雅黑"/>
              </a:rPr>
              <a:t>表达为</a:t>
            </a:r>
          </a:p>
        </p:txBody>
      </p:sp>
      <p:sp>
        <p:nvSpPr>
          <p:cNvPr id="68" name="节点 19"/>
          <p:cNvSpPr/>
          <p:nvPr/>
        </p:nvSpPr>
        <p:spPr>
          <a:xfrm>
            <a:off x="9122483" y="3992049"/>
            <a:ext cx="1841702" cy="414000"/>
          </a:xfrm>
          <a:prstGeom prst="roundRect">
            <a:avLst>
              <a:gd name="adj" fmla="val 15304"/>
            </a:avLst>
          </a:prstGeom>
          <a:solidFill>
            <a:srgbClr val="FBE5EF"/>
          </a:solidFill>
          <a:ln w="15875">
            <a:solidFill>
              <a:srgbClr val="DB2777"/>
            </a:solidFill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高斯定律微分形式</a:t>
            </a:r>
          </a:p>
        </p:txBody>
      </p:sp>
      <p:cxnSp>
        <p:nvCxnSpPr>
          <p:cNvPr id="69" name="连线 20"/>
          <p:cNvCxnSpPr/>
          <p:nvPr/>
        </p:nvCxnSpPr>
        <p:spPr>
          <a:xfrm>
            <a:off x="9024834" y="3326049"/>
            <a:ext cx="777000" cy="666000"/>
          </a:xfrm>
          <a:prstGeom prst="line">
            <a:avLst/>
          </a:prstGeom>
          <a:ln w="13970">
            <a:solidFill>
              <a:srgbClr val="64748B"/>
            </a:solidFill>
            <a:tailEnd type="stealth" w="lg" len="lg"/>
          </a:ln>
        </p:spPr>
      </p:cxnSp>
      <p:sp>
        <p:nvSpPr>
          <p:cNvPr id="70" name="连线说明 21"/>
          <p:cNvSpPr txBox="1"/>
          <p:nvPr/>
        </p:nvSpPr>
        <p:spPr>
          <a:xfrm>
            <a:off x="9120668" y="3547599"/>
            <a:ext cx="585331" cy="222899"/>
          </a:xfrm>
          <a:prstGeom prst="rect">
            <a:avLst/>
          </a:prstGeom>
          <a:solidFill>
            <a:srgbClr val="FFFFFF"/>
          </a:solidFill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300" b="0" lang="zh-CN" altLang="en-US">
                <a:solidFill>
                  <a:srgbClr val="1E293B"/>
                </a:solidFill>
                <a:latin typeface="微软雅黑"/>
                <a:ea typeface="微软雅黑"/>
              </a:rPr>
              <a:t>表达为</a:t>
            </a:r>
          </a:p>
        </p:txBody>
      </p:sp>
      <p:sp>
        <p:nvSpPr>
          <p:cNvPr id="71" name="图例 22"/>
          <p:cNvSpPr/>
          <p:nvPr/>
        </p:nvSpPr>
        <p:spPr>
          <a:xfrm>
            <a:off x="7469334" y="5275449"/>
            <a:ext cx="252000" cy="151200"/>
          </a:xfrm>
          <a:prstGeom prst="roundRect">
            <a:avLst>
              <a:gd name="adj" fmla="val 16666"/>
            </a:avLst>
          </a:prstGeom>
          <a:solidFill>
            <a:srgbClr val="EFE7FD"/>
          </a:solidFill>
          <a:ln w="15875">
            <a:solidFill>
              <a:srgbClr val="7C3AE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文字 23"/>
          <p:cNvSpPr txBox="1"/>
          <p:nvPr/>
        </p:nvSpPr>
        <p:spPr>
          <a:xfrm>
            <a:off x="7775334" y="5243727"/>
            <a:ext cx="438221" cy="21464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3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定律</a:t>
            </a:r>
          </a:p>
        </p:txBody>
      </p:sp>
      <p:sp>
        <p:nvSpPr>
          <p:cNvPr id="73" name="图例 24"/>
          <p:cNvSpPr/>
          <p:nvPr/>
        </p:nvSpPr>
        <p:spPr>
          <a:xfrm>
            <a:off x="8231555" y="5275449"/>
            <a:ext cx="252000" cy="151200"/>
          </a:xfrm>
          <a:prstGeom prst="roundRect">
            <a:avLst>
              <a:gd name="adj" fmla="val 16666"/>
            </a:avLst>
          </a:prstGeom>
          <a:solidFill>
            <a:srgbClr val="FBE5EF"/>
          </a:solidFill>
          <a:ln w="15875">
            <a:solidFill>
              <a:srgbClr val="DB277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文字 25"/>
          <p:cNvSpPr txBox="1"/>
          <p:nvPr/>
        </p:nvSpPr>
        <p:spPr>
          <a:xfrm>
            <a:off x="8537555" y="5243727"/>
            <a:ext cx="438221" cy="21464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3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公式</a:t>
            </a:r>
          </a:p>
        </p:txBody>
      </p:sp>
      <p:cxnSp>
        <p:nvCxnSpPr>
          <p:cNvPr id="75" name="连线 26"/>
          <p:cNvCxnSpPr/>
          <p:nvPr/>
        </p:nvCxnSpPr>
        <p:spPr>
          <a:xfrm>
            <a:off x="9119776" y="5351049"/>
            <a:ext cx="432000" cy="0"/>
          </a:xfrm>
          <a:prstGeom prst="line">
            <a:avLst/>
          </a:prstGeom>
          <a:ln w="13970">
            <a:solidFill>
              <a:srgbClr val="64748B"/>
            </a:solidFill>
            <a:tailEnd type="stealth" w="lg" len="lg"/>
          </a:ln>
        </p:spPr>
      </p:cxnSp>
      <p:sp>
        <p:nvSpPr>
          <p:cNvPr id="76" name="文字 27"/>
          <p:cNvSpPr txBox="1"/>
          <p:nvPr/>
        </p:nvSpPr>
        <p:spPr>
          <a:xfrm>
            <a:off x="9623776" y="5243727"/>
            <a:ext cx="603331" cy="21464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3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有方向</a:t>
            </a:r>
          </a:p>
        </p:txBody>
      </p:sp>
      <p:sp>
        <p:nvSpPr>
          <p:cNvPr id="77" name="底色 28"/>
          <p:cNvSpPr/>
          <p:nvPr/>
        </p:nvSpPr>
        <p:spPr>
          <a:xfrm>
            <a:off x="611334" y="5963049"/>
            <a:ext cx="10872000" cy="450000"/>
          </a:xfrm>
          <a:prstGeom prst="roundRect">
            <a:avLst>
              <a:gd name="adj" fmla="val 19760"/>
            </a:avLst>
          </a:prstGeom>
          <a:solidFill>
            <a:srgbClr val="E1EB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文字 29"/>
          <p:cNvSpPr txBox="1"/>
          <p:nvPr/>
        </p:nvSpPr>
        <p:spPr>
          <a:xfrm>
            <a:off x="791334" y="6055961"/>
            <a:ext cx="920851" cy="26417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600" b="1" lang="zh-CN" altLang="en-US">
                <a:solidFill>
                  <a:srgbClr val="0259A0"/>
                </a:solidFill>
                <a:latin typeface="微软雅黑"/>
                <a:ea typeface="微软雅黑"/>
              </a:rPr>
              <a:t>对象编号</a:t>
            </a:r>
          </a:p>
        </p:txBody>
      </p:sp>
      <p:cxnSp>
        <p:nvCxnSpPr>
          <p:cNvPr id="79" name="连线 30"/>
          <p:cNvCxnSpPr/>
          <p:nvPr/>
        </p:nvCxnSpPr>
        <p:spPr>
          <a:xfrm flipV="1">
            <a:off x="1799334" y="6062049"/>
            <a:ext cx="0" cy="252000"/>
          </a:xfrm>
          <a:prstGeom prst="line">
            <a:avLst/>
          </a:prstGeom>
          <a:ln w="12700">
            <a:solidFill>
              <a:srgbClr val="D7E0EC"/>
            </a:solidFill>
          </a:ln>
        </p:spPr>
      </p:cxnSp>
      <p:sp>
        <p:nvSpPr>
          <p:cNvPr id="80" name="文字 31"/>
          <p:cNvSpPr txBox="1"/>
          <p:nvPr/>
        </p:nvSpPr>
        <p:spPr>
          <a:xfrm>
            <a:off x="1943334" y="6055961"/>
            <a:ext cx="6539685" cy="26417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每个对象有固定英文编号（如 maxwell-equations），改名不影响引用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6" name="直线连接符 5"/>
          <p:cNvCxnSpPr/>
          <p:nvPr/>
        </p:nvCxnSpPr>
        <p:spPr>
          <a:xfrm>
            <a:off x="1587829" y="2385773"/>
            <a:ext cx="0" cy="2087198"/>
          </a:xfrm>
          <a:prstGeom prst="line">
            <a:avLst/>
          </a:prstGeom>
          <a:ln w="28575">
            <a:solidFill>
              <a:schemeClr val="accent1">
                <a:alpha val="6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章节标题"/>
          <p:cNvSpPr txBox="1"/>
          <p:nvPr/>
        </p:nvSpPr>
        <p:spPr>
          <a:xfrm>
            <a:off x="1989455" y="2583180"/>
            <a:ext cx="910399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三、知识点内容设计</a:t>
            </a:r>
          </a:p>
        </p:txBody>
      </p:sp>
      <p:sp>
        <p:nvSpPr>
          <p:cNvPr id="14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46551" y="640282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1"/>
            <a:ext cx="12192000" cy="6730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1" y="-504223"/>
            <a:ext cx="2472973" cy="139104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46551" y="640282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线连接符 29"/>
          <p:cNvCxnSpPr/>
          <p:nvPr/>
        </p:nvCxnSpPr>
        <p:spPr>
          <a:xfrm>
            <a:off x="554825" y="1269824"/>
            <a:ext cx="110823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0" y="1"/>
            <a:ext cx="12192000" cy="6730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1" y="-504223"/>
            <a:ext cx="2472973" cy="1391047"/>
          </a:xfrm>
          <a:prstGeom prst="rect">
            <a:avLst/>
          </a:prstGeom>
        </p:spPr>
      </p:pic>
      <p:sp>
        <p:nvSpPr>
          <p:cNvPr id="8" name="页面标题"/>
          <p:cNvSpPr txBox="1"/>
          <p:nvPr/>
        </p:nvSpPr>
        <p:spPr>
          <a:xfrm>
            <a:off x="554681" y="756992"/>
            <a:ext cx="104085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kumimoji="1"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六类知识点共用一套基本字段，各自再加专有内容</a:t>
            </a:r>
            <a:endParaRPr kumimoji="1"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" name="章节标签"/>
          <p:cNvSpPr txBox="1"/>
          <p:nvPr/>
        </p:nvSpPr>
        <p:spPr>
          <a:xfrm>
            <a:off x="8748716" y="90049"/>
            <a:ext cx="34432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知识点内容设计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0" name="卡片 1"/>
          <p:cNvSpPr/>
          <p:nvPr/>
        </p:nvSpPr>
        <p:spPr>
          <a:xfrm>
            <a:off x="683334" y="1571049"/>
            <a:ext cx="3456000" cy="4068000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0160">
            <a:solidFill>
              <a:srgbClr val="D7E0EC"/>
            </a:solidFill>
          </a:ln>
          <a:effectLst>
            <a:outerShdw blurRad="50800" dist="19050" dir="5400000" algn="t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1" name="标题条 2"/>
          <p:cNvSpPr/>
          <p:nvPr/>
        </p:nvSpPr>
        <p:spPr>
          <a:xfrm>
            <a:off x="683334" y="1571049"/>
            <a:ext cx="3456000" cy="396000"/>
          </a:xfrm>
          <a:prstGeom prst="round2SameRect">
            <a:avLst>
              <a:gd name="adj1" fmla="val 22454"/>
              <a:gd name="adj2" fmla="val 0"/>
            </a:avLst>
          </a:prstGeom>
          <a:solidFill>
            <a:srgbClr val="0259A0"/>
          </a:solidFill>
          <a:ln>
            <a:noFill/>
          </a:ln>
        </p:spPr>
        <p:txBody>
          <a:bodyPr rtlCol="0" anchor="ctr" wrap="none" lIns="180000" rIns="108000" tIns="0" bIns="0">
            <a:noAutofit/>
          </a:bodyPr>
          <a:lstStyle/>
          <a:p>
            <a:pPr algn="l"/>
            <a:r>
              <a:rPr sz="1800" b="1" lang="zh-CN" altLang="en-US">
                <a:solidFill>
                  <a:srgbClr val="FFFFFF"/>
                </a:solidFill>
                <a:latin typeface="微软雅黑"/>
                <a:ea typeface="微软雅黑"/>
              </a:rPr>
              <a:t>共有内容</a:t>
            </a:r>
          </a:p>
        </p:txBody>
      </p:sp>
      <p:sp>
        <p:nvSpPr>
          <p:cNvPr id="52" name="文字 3"/>
          <p:cNvSpPr txBox="1"/>
          <p:nvPr/>
        </p:nvSpPr>
        <p:spPr>
          <a:xfrm>
            <a:off x="899334" y="2183049"/>
            <a:ext cx="3024000" cy="201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54016" indent="-254016">
              <a:lnSpc>
                <a:spcPts val="2700"/>
              </a:lnSpc>
              <a:buClr>
                <a:srgbClr val="0259A0"/>
              </a:buClr>
              <a:buSzPct val="80000"/>
              <a:buFont typeface="微软雅黑"/>
              <a:buChar char="●"/>
            </a:pPr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名称、类型、一句话说明</a:t>
            </a:r>
          </a:p>
          <a:p>
            <a:pPr algn="l" marL="254016" indent="-254016">
              <a:lnSpc>
                <a:spcPts val="2700"/>
              </a:lnSpc>
              <a:buClr>
                <a:srgbClr val="0259A0"/>
              </a:buClr>
              <a:buSzPct val="80000"/>
              <a:buFont typeface="微软雅黑"/>
              <a:buChar char="●"/>
            </a:pPr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所属章节（只有一个）</a:t>
            </a:r>
          </a:p>
          <a:p>
            <a:pPr algn="l" marL="254016" indent="-254016">
              <a:lnSpc>
                <a:spcPts val="2700"/>
              </a:lnSpc>
              <a:buClr>
                <a:srgbClr val="0259A0"/>
              </a:buClr>
              <a:buSzPct val="80000"/>
              <a:buFont typeface="微软雅黑"/>
              <a:buChar char="●"/>
            </a:pPr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别名、标签</a:t>
            </a:r>
          </a:p>
          <a:p>
            <a:pPr algn="l" marL="254016" indent="-254016">
              <a:lnSpc>
                <a:spcPts val="2700"/>
              </a:lnSpc>
              <a:buClr>
                <a:srgbClr val="0259A0"/>
              </a:buClr>
              <a:buSzPct val="80000"/>
              <a:buFont typeface="微软雅黑"/>
              <a:buChar char="●"/>
            </a:pPr>
            <a:r>
              <a:rPr sz="1600" b="1" lang="zh-CN" altLang="en-US">
                <a:solidFill>
                  <a:srgbClr val="C2410C"/>
                </a:solidFill>
                <a:latin typeface="微软雅黑"/>
                <a:ea typeface="微软雅黑"/>
              </a:rPr>
              <a:t>适用条件</a:t>
            </a:r>
          </a:p>
        </p:txBody>
      </p:sp>
      <p:sp>
        <p:nvSpPr>
          <p:cNvPr id="53" name="底色 4"/>
          <p:cNvSpPr/>
          <p:nvPr/>
        </p:nvSpPr>
        <p:spPr>
          <a:xfrm>
            <a:off x="899334" y="4595049"/>
            <a:ext cx="3024000" cy="864000"/>
          </a:xfrm>
          <a:prstGeom prst="roundRect">
            <a:avLst>
              <a:gd name="adj" fmla="val 10291"/>
            </a:avLst>
          </a:prstGeom>
          <a:solidFill>
            <a:srgbClr val="FCEE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文字 5"/>
          <p:cNvSpPr txBox="1"/>
          <p:nvPr/>
        </p:nvSpPr>
        <p:spPr>
          <a:xfrm>
            <a:off x="1043334" y="4685049"/>
            <a:ext cx="2736000" cy="684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ts val="2300"/>
              </a:lnSpc>
            </a:pPr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公式的成立条件、方法的适用范围都统一记在这里</a:t>
            </a:r>
          </a:p>
        </p:txBody>
      </p:sp>
      <p:sp>
        <p:nvSpPr>
          <p:cNvPr id="55" name="卡片 6"/>
          <p:cNvSpPr/>
          <p:nvPr/>
        </p:nvSpPr>
        <p:spPr>
          <a:xfrm>
            <a:off x="4355334" y="1571049"/>
            <a:ext cx="7056000" cy="4068000"/>
          </a:xfrm>
          <a:prstGeom prst="roundRect">
            <a:avLst>
              <a:gd name="adj" fmla="val 2185"/>
            </a:avLst>
          </a:prstGeom>
          <a:solidFill>
            <a:srgbClr val="FFFFFF"/>
          </a:solidFill>
          <a:ln w="10160">
            <a:solidFill>
              <a:srgbClr val="D7E0EC"/>
            </a:solidFill>
          </a:ln>
          <a:effectLst>
            <a:outerShdw blurRad="50800" dist="19050" dir="5400000" algn="t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6" name="标题条 7"/>
          <p:cNvSpPr/>
          <p:nvPr/>
        </p:nvSpPr>
        <p:spPr>
          <a:xfrm>
            <a:off x="4355334" y="1571049"/>
            <a:ext cx="7056000" cy="396000"/>
          </a:xfrm>
          <a:prstGeom prst="round2SameRect">
            <a:avLst>
              <a:gd name="adj1" fmla="val 22454"/>
              <a:gd name="adj2" fmla="val 0"/>
            </a:avLst>
          </a:prstGeom>
          <a:solidFill>
            <a:srgbClr val="0259A0"/>
          </a:solidFill>
          <a:ln>
            <a:noFill/>
          </a:ln>
        </p:spPr>
        <p:txBody>
          <a:bodyPr rtlCol="0" anchor="ctr" wrap="none" lIns="180000" rIns="108000" tIns="0" bIns="0">
            <a:noAutofit/>
          </a:bodyPr>
          <a:lstStyle/>
          <a:p>
            <a:pPr algn="l"/>
            <a:r>
              <a:rPr sz="1800" b="1" lang="zh-CN" altLang="en-US">
                <a:solidFill>
                  <a:srgbClr val="FFFFFF"/>
                </a:solidFill>
                <a:latin typeface="微软雅黑"/>
                <a:ea typeface="微软雅黑"/>
              </a:rPr>
              <a:t>各类专有内容</a:t>
            </a:r>
          </a:p>
        </p:txBody>
      </p:sp>
      <p:graphicFrame>
        <p:nvGraphicFramePr>
          <p:cNvPr id="57" name="表格 8"/>
          <p:cNvGraphicFramePr>
            <a:graphicFrameLocks noGrp="1"/>
          </p:cNvGraphicFramePr>
          <p:nvPr/>
        </p:nvGraphicFramePr>
        <p:xfrm>
          <a:off x="4571334" y="2111049"/>
          <a:ext cx="6624000" cy="3276000"/>
        </p:xfrm>
        <a:graphic>
          <a:graphicData uri="http://schemas.openxmlformats.org/drawingml/2006/table">
            <a:tbl>
              <a:tblPr firstRow="0" bandRow="0"/>
              <a:tblGrid>
                <a:gridCol w="1800000"/>
                <a:gridCol w="4824000"/>
              </a:tblGrid>
              <a:tr h="468000"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/>
                      <a:r>
                        <a:rPr sz="1600" b="1" lang="zh-CN" altLang="en-US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类型</a:t>
                      </a:r>
                    </a:p>
                  </a:txBody>
                  <a:tcPr marL="0" marR="72000" marT="18000" marB="18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/>
                      <a:r>
                        <a:rPr sz="1600" b="1" lang="zh-CN" altLang="en-US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专有内容</a:t>
                      </a:r>
                    </a:p>
                  </a:txBody>
                  <a:tcPr marL="0" marR="72000" marT="18000" marB="18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334155"/>
                      </a:solidFill>
                    </a:lnB>
                  </a:tcPr>
                </a:tc>
              </a:tr>
              <a:tr h="468000"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/>
                      <a:r>
                        <a:rPr sz="1600" b="0" lang="zh-CN" altLang="en-US">
                          <a:solidFill>
                            <a:srgbClr val="2563EB"/>
                          </a:solidFill>
                          <a:latin typeface="微软雅黑"/>
                          <a:ea typeface="微软雅黑"/>
                        </a:rPr>
                        <a:t>● </a:t>
                      </a:r>
                      <a:r>
                        <a:rPr sz="1600" b="1" lang="zh-CN" altLang="en-US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概念</a:t>
                      </a:r>
                    </a:p>
                  </a:txBody>
                  <a:tcPr marL="0" marR="72000" marT="18000" marB="18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>
                      <a:solidFill>
                        <a:srgbClr val="D7E0EC"/>
                      </a:solidFill>
                    </a:lnB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/>
                      <a:r>
                        <a:rPr sz="1600" b="0" lang="zh-CN" altLang="en-US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定义、核心要点、常见误解</a:t>
                      </a:r>
                    </a:p>
                  </a:txBody>
                  <a:tcPr marL="0" marR="72000" marT="18000" marB="18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>
                      <a:solidFill>
                        <a:srgbClr val="D7E0EC"/>
                      </a:solidFill>
                    </a:lnB>
                  </a:tcPr>
                </a:tc>
              </a:tr>
              <a:tr h="468000"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/>
                      <a:r>
                        <a:rPr sz="1600" b="0" lang="zh-CN" altLang="en-US">
                          <a:solidFill>
                            <a:srgbClr val="7C3AED"/>
                          </a:solidFill>
                          <a:latin typeface="微软雅黑"/>
                          <a:ea typeface="微软雅黑"/>
                        </a:rPr>
                        <a:t>● </a:t>
                      </a:r>
                      <a:r>
                        <a:rPr sz="1600" b="1" lang="zh-CN" altLang="en-US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定律或定理</a:t>
                      </a:r>
                    </a:p>
                  </a:txBody>
                  <a:tcPr marL="0" marR="72000" marT="18000" marB="18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>
                      <a:solidFill>
                        <a:srgbClr val="D7E0EC"/>
                      </a:solidFill>
                    </a:lnB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/>
                      <a:r>
                        <a:rPr sz="1600" b="0" lang="zh-CN" altLang="en-US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文字表述、物理意义、常见误解</a:t>
                      </a:r>
                    </a:p>
                  </a:txBody>
                  <a:tcPr marL="0" marR="72000" marT="18000" marB="18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>
                      <a:solidFill>
                        <a:srgbClr val="D7E0EC"/>
                      </a:solidFill>
                    </a:lnB>
                  </a:tcPr>
                </a:tc>
              </a:tr>
              <a:tr h="468000"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/>
                      <a:r>
                        <a:rPr sz="1600" b="0" lang="zh-CN" altLang="en-US">
                          <a:solidFill>
                            <a:srgbClr val="0F8B8D"/>
                          </a:solidFill>
                          <a:latin typeface="微软雅黑"/>
                          <a:ea typeface="微软雅黑"/>
                        </a:rPr>
                        <a:t>● </a:t>
                      </a:r>
                      <a:r>
                        <a:rPr sz="1600" b="1" lang="zh-CN" altLang="en-US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物理量</a:t>
                      </a:r>
                    </a:p>
                  </a:txBody>
                  <a:tcPr marL="0" marR="72000" marT="18000" marB="18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>
                      <a:solidFill>
                        <a:srgbClr val="D7E0EC"/>
                      </a:solidFill>
                    </a:lnB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/>
                      <a:r>
                        <a:rPr sz="1600" b="0" lang="zh-CN" altLang="en-US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符号、单位、标量或矢量</a:t>
                      </a:r>
                    </a:p>
                  </a:txBody>
                  <a:tcPr marL="0" marR="72000" marT="18000" marB="18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>
                      <a:solidFill>
                        <a:srgbClr val="D7E0EC"/>
                      </a:solidFill>
                    </a:lnB>
                  </a:tcPr>
                </a:tc>
              </a:tr>
              <a:tr h="468000"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/>
                      <a:r>
                        <a:rPr sz="1600" b="0" lang="zh-CN" altLang="en-US">
                          <a:solidFill>
                            <a:srgbClr val="DB2777"/>
                          </a:solidFill>
                          <a:latin typeface="微软雅黑"/>
                          <a:ea typeface="微软雅黑"/>
                        </a:rPr>
                        <a:t>● </a:t>
                      </a:r>
                      <a:r>
                        <a:rPr sz="1600" b="1" lang="zh-CN" altLang="en-US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公式</a:t>
                      </a:r>
                    </a:p>
                  </a:txBody>
                  <a:tcPr marL="0" marR="72000" marT="18000" marB="18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>
                      <a:solidFill>
                        <a:srgbClr val="D7E0EC"/>
                      </a:solidFill>
                    </a:lnB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/>
                      <a:r>
                        <a:rPr sz="1600" b="0" lang="zh-CN" altLang="en-US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数学表达式、变量及含义</a:t>
                      </a:r>
                    </a:p>
                  </a:txBody>
                  <a:tcPr marL="0" marR="72000" marT="18000" marB="18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>
                      <a:solidFill>
                        <a:srgbClr val="D7E0EC"/>
                      </a:solidFill>
                    </a:lnB>
                  </a:tcPr>
                </a:tc>
              </a:tr>
              <a:tr h="468000"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/>
                      <a:r>
                        <a:rPr sz="1600" b="0" lang="zh-CN" altLang="en-US">
                          <a:solidFill>
                            <a:srgbClr val="15803D"/>
                          </a:solidFill>
                          <a:latin typeface="微软雅黑"/>
                          <a:ea typeface="微软雅黑"/>
                        </a:rPr>
                        <a:t>● </a:t>
                      </a:r>
                      <a:r>
                        <a:rPr sz="1600" b="1" lang="zh-CN" altLang="en-US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工程应用</a:t>
                      </a:r>
                    </a:p>
                  </a:txBody>
                  <a:tcPr marL="0" marR="72000" marT="18000" marB="18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>
                      <a:solidFill>
                        <a:srgbClr val="D7E0EC"/>
                      </a:solidFill>
                    </a:lnB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/>
                      <a:r>
                        <a:rPr sz="1600" b="0" lang="zh-CN" altLang="en-US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应用场景、关键参数</a:t>
                      </a:r>
                    </a:p>
                  </a:txBody>
                  <a:tcPr marL="0" marR="72000" marT="18000" marB="18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>
                      <a:solidFill>
                        <a:srgbClr val="D7E0EC"/>
                      </a:solidFill>
                    </a:lnB>
                  </a:tcPr>
                </a:tc>
              </a:tr>
              <a:tr h="468000"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/>
                      <a:r>
                        <a:rPr sz="1600" b="0" lang="zh-CN" altLang="en-US">
                          <a:solidFill>
                            <a:srgbClr val="475569"/>
                          </a:solidFill>
                          <a:latin typeface="微软雅黑"/>
                          <a:ea typeface="微软雅黑"/>
                        </a:rPr>
                        <a:t>● </a:t>
                      </a:r>
                      <a:r>
                        <a:rPr sz="1600" b="1" lang="zh-CN" altLang="en-US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分析方法</a:t>
                      </a:r>
                    </a:p>
                  </a:txBody>
                  <a:tcPr marL="0" marR="72000" marT="18000" marB="18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/>
                      <a:r>
                        <a:rPr sz="1600" b="0" lang="zh-CN" altLang="en-US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用途、主要步骤</a:t>
                      </a:r>
                    </a:p>
                  </a:txBody>
                  <a:tcPr marL="0" marR="72000" marT="18000" marB="18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8" name="底色 9"/>
          <p:cNvSpPr/>
          <p:nvPr/>
        </p:nvSpPr>
        <p:spPr>
          <a:xfrm>
            <a:off x="611334" y="5963049"/>
            <a:ext cx="10872000" cy="450000"/>
          </a:xfrm>
          <a:prstGeom prst="roundRect">
            <a:avLst>
              <a:gd name="adj" fmla="val 19760"/>
            </a:avLst>
          </a:prstGeom>
          <a:solidFill>
            <a:srgbClr val="E1EB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文字 10"/>
          <p:cNvSpPr txBox="1"/>
          <p:nvPr/>
        </p:nvSpPr>
        <p:spPr>
          <a:xfrm>
            <a:off x="791334" y="6055961"/>
            <a:ext cx="920851" cy="26417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600" b="1" lang="zh-CN" altLang="en-US">
                <a:solidFill>
                  <a:srgbClr val="0259A0"/>
                </a:solidFill>
                <a:latin typeface="微软雅黑"/>
                <a:ea typeface="微软雅黑"/>
              </a:rPr>
              <a:t>两处调整</a:t>
            </a:r>
          </a:p>
        </p:txBody>
      </p:sp>
      <p:cxnSp>
        <p:nvCxnSpPr>
          <p:cNvPr id="60" name="连线 11"/>
          <p:cNvCxnSpPr/>
          <p:nvPr/>
        </p:nvCxnSpPr>
        <p:spPr>
          <a:xfrm flipV="1">
            <a:off x="1799334" y="6062049"/>
            <a:ext cx="0" cy="252000"/>
          </a:xfrm>
          <a:prstGeom prst="line">
            <a:avLst/>
          </a:prstGeom>
          <a:ln w="12700">
            <a:solidFill>
              <a:srgbClr val="D7E0EC"/>
            </a:solidFill>
          </a:ln>
        </p:spPr>
      </p:cxnSp>
      <p:sp>
        <p:nvSpPr>
          <p:cNvPr id="61" name="文字 12"/>
          <p:cNvSpPr txBox="1"/>
          <p:nvPr/>
        </p:nvSpPr>
        <p:spPr>
          <a:xfrm>
            <a:off x="1943334" y="6055961"/>
            <a:ext cx="6204384" cy="26417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定律沿用概念的结构；「常见误解」单独记录，查询和回答都能用到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46551" y="640282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线连接符 29"/>
          <p:cNvCxnSpPr/>
          <p:nvPr/>
        </p:nvCxnSpPr>
        <p:spPr>
          <a:xfrm>
            <a:off x="554825" y="1269824"/>
            <a:ext cx="110823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0" y="1"/>
            <a:ext cx="12192000" cy="6730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1" y="-504223"/>
            <a:ext cx="2472973" cy="1391047"/>
          </a:xfrm>
          <a:prstGeom prst="rect">
            <a:avLst/>
          </a:prstGeom>
        </p:spPr>
      </p:pic>
      <p:sp>
        <p:nvSpPr>
          <p:cNvPr id="8" name="页面标题"/>
          <p:cNvSpPr txBox="1"/>
          <p:nvPr/>
        </p:nvSpPr>
        <p:spPr>
          <a:xfrm>
            <a:off x="554681" y="756992"/>
            <a:ext cx="104085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kumimoji="1"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公式变量直接关联物理量，写法不一致时自动报错</a:t>
            </a:r>
            <a:endParaRPr kumimoji="1"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" name="章节标签"/>
          <p:cNvSpPr txBox="1"/>
          <p:nvPr/>
        </p:nvSpPr>
        <p:spPr>
          <a:xfrm>
            <a:off x="8748716" y="90049"/>
            <a:ext cx="34432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知识点内容设计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0" name="卡片 1"/>
          <p:cNvSpPr/>
          <p:nvPr/>
        </p:nvSpPr>
        <p:spPr>
          <a:xfrm>
            <a:off x="683334" y="1571049"/>
            <a:ext cx="10728000" cy="90000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10160">
            <a:solidFill>
              <a:srgbClr val="D7E0EC"/>
            </a:solidFill>
          </a:ln>
          <a:effectLst>
            <a:outerShdw blurRad="50800" dist="19050" dir="5400000" algn="t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1" name="标题条 2"/>
          <p:cNvSpPr/>
          <p:nvPr/>
        </p:nvSpPr>
        <p:spPr>
          <a:xfrm>
            <a:off x="683334" y="1571049"/>
            <a:ext cx="10728000" cy="360000"/>
          </a:xfrm>
          <a:prstGeom prst="round2SameRect">
            <a:avLst>
              <a:gd name="adj1" fmla="val 24700"/>
              <a:gd name="adj2" fmla="val 0"/>
            </a:avLst>
          </a:prstGeom>
          <a:solidFill>
            <a:srgbClr val="DB2777"/>
          </a:solidFill>
          <a:ln>
            <a:noFill/>
          </a:ln>
        </p:spPr>
        <p:txBody>
          <a:bodyPr rtlCol="0" anchor="ctr" wrap="none" lIns="180000" rIns="108000" tIns="0" bIns="0">
            <a:noAutofit/>
          </a:bodyPr>
          <a:lstStyle/>
          <a:p>
            <a:pPr algn="l"/>
            <a:r>
              <a:rPr sz="1800" b="1" lang="zh-CN" altLang="en-US">
                <a:solidFill>
                  <a:srgbClr val="FFFFFF"/>
                </a:solidFill>
                <a:latin typeface="微软雅黑"/>
                <a:ea typeface="微软雅黑"/>
              </a:rPr>
              <a:t>公式 · 法拉第定律微分形式</a:t>
            </a:r>
          </a:p>
        </p:txBody>
      </p:sp>
      <p:pic>
        <p:nvPicPr>
          <p:cNvPr id="52" name="图片 3" descr="formul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334" y="1967049"/>
            <a:ext cx="1364235" cy="468000"/>
          </a:xfrm>
          <a:prstGeom prst="rect">
            <a:avLst/>
          </a:prstGeom>
        </p:spPr>
      </p:pic>
      <p:sp>
        <p:nvSpPr>
          <p:cNvPr id="53" name="文字 4"/>
          <p:cNvSpPr txBox="1"/>
          <p:nvPr/>
        </p:nvSpPr>
        <p:spPr>
          <a:xfrm>
            <a:off x="3347334" y="1967049"/>
            <a:ext cx="7560000" cy="468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600" b="1" lang="zh-CN" altLang="en-US">
                <a:solidFill>
                  <a:srgbClr val="C2410C"/>
                </a:solidFill>
                <a:latin typeface="微软雅黑"/>
                <a:ea typeface="微软雅黑"/>
              </a:rPr>
              <a:t>适用条件：</a:t>
            </a:r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适用于时变电磁场；介质连续</a:t>
            </a:r>
          </a:p>
        </p:txBody>
      </p:sp>
      <p:pic>
        <p:nvPicPr>
          <p:cNvPr id="54" name="截图 5" descr="faraday_excerp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334" y="2993049"/>
            <a:ext cx="5291328" cy="2478024"/>
          </a:xfrm>
          <a:prstGeom prst="rect">
            <a:avLst/>
          </a:prstGeom>
        </p:spPr>
      </p:pic>
      <p:sp>
        <p:nvSpPr>
          <p:cNvPr id="55" name="文字 6"/>
          <p:cNvSpPr txBox="1"/>
          <p:nvPr/>
        </p:nvSpPr>
        <p:spPr>
          <a:xfrm>
            <a:off x="6371334" y="2993049"/>
            <a:ext cx="5040000" cy="57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</a:pPr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每个变量记录符号、单位，用 quantity_id 关联物理量</a:t>
            </a:r>
          </a:p>
        </p:txBody>
      </p:sp>
      <p:sp>
        <p:nvSpPr>
          <p:cNvPr id="56" name="卡片 7"/>
          <p:cNvSpPr/>
          <p:nvPr/>
        </p:nvSpPr>
        <p:spPr>
          <a:xfrm>
            <a:off x="6371334" y="3908289"/>
            <a:ext cx="5040000" cy="486000"/>
          </a:xfrm>
          <a:prstGeom prst="roundRect">
            <a:avLst>
              <a:gd name="adj" fmla="val 18296"/>
            </a:avLst>
          </a:prstGeom>
          <a:solidFill>
            <a:srgbClr val="FFFFFF"/>
          </a:solidFill>
          <a:ln w="10160">
            <a:solidFill>
              <a:srgbClr val="D7E0EC"/>
            </a:solidFill>
          </a:ln>
          <a:effectLst>
            <a:outerShdw blurRad="50800" dist="19050" dir="5400000" algn="t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7" name="标签 8"/>
          <p:cNvSpPr/>
          <p:nvPr/>
        </p:nvSpPr>
        <p:spPr>
          <a:xfrm>
            <a:off x="6515334" y="4013803"/>
            <a:ext cx="675331" cy="274972"/>
          </a:xfrm>
          <a:prstGeom prst="roundRect">
            <a:avLst>
              <a:gd name="adj" fmla="val 18460"/>
            </a:avLst>
          </a:prstGeom>
          <a:solidFill>
            <a:srgbClr val="E2F1F1"/>
          </a:solidFill>
          <a:ln>
            <a:noFill/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lang="zh-CN" altLang="en-US">
                <a:solidFill>
                  <a:srgbClr val="0F8B8D"/>
                </a:solidFill>
                <a:latin typeface="微软雅黑"/>
                <a:ea typeface="微软雅黑"/>
              </a:rPr>
              <a:t>物理量</a:t>
            </a:r>
          </a:p>
        </p:txBody>
      </p:sp>
      <p:sp>
        <p:nvSpPr>
          <p:cNvPr id="58" name="文字 9"/>
          <p:cNvSpPr txBox="1"/>
          <p:nvPr/>
        </p:nvSpPr>
        <p:spPr>
          <a:xfrm>
            <a:off x="7199334" y="4002690"/>
            <a:ext cx="1022458" cy="297199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800" b="1" lang="zh-CN" altLang="en-US">
                <a:solidFill>
                  <a:srgbClr val="1E293B"/>
                </a:solidFill>
                <a:latin typeface="微软雅黑"/>
                <a:ea typeface="微软雅黑"/>
              </a:rPr>
              <a:t>电场强度</a:t>
            </a:r>
          </a:p>
        </p:txBody>
      </p:sp>
      <p:sp>
        <p:nvSpPr>
          <p:cNvPr id="59" name="文字 10"/>
          <p:cNvSpPr txBox="1"/>
          <p:nvPr/>
        </p:nvSpPr>
        <p:spPr>
          <a:xfrm>
            <a:off x="8891334" y="4043967"/>
            <a:ext cx="1940725" cy="21464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300" b="0" lang="zh-CN" altLang="en-US">
                <a:solidFill>
                  <a:srgbClr val="64748B"/>
                </a:solidFill>
                <a:latin typeface="微软雅黑"/>
                <a:ea typeface="微软雅黑"/>
              </a:rPr>
              <a:t>符号 E · 单位 V/m · 矢量</a:t>
            </a:r>
          </a:p>
        </p:txBody>
      </p:sp>
      <p:cxnSp>
        <p:nvCxnSpPr>
          <p:cNvPr id="60" name="连线 11"/>
          <p:cNvCxnSpPr/>
          <p:nvPr/>
        </p:nvCxnSpPr>
        <p:spPr>
          <a:xfrm>
            <a:off x="5974662" y="4151289"/>
            <a:ext cx="396672" cy="0"/>
          </a:xfrm>
          <a:prstGeom prst="line">
            <a:avLst/>
          </a:prstGeom>
          <a:ln w="16510">
            <a:solidFill>
              <a:srgbClr val="0F8B8D"/>
            </a:solidFill>
            <a:tailEnd type="stealth" w="lg" len="lg"/>
          </a:ln>
        </p:spPr>
      </p:cxnSp>
      <p:sp>
        <p:nvSpPr>
          <p:cNvPr id="61" name="卡片 12"/>
          <p:cNvSpPr/>
          <p:nvPr/>
        </p:nvSpPr>
        <p:spPr>
          <a:xfrm>
            <a:off x="6371334" y="4444737"/>
            <a:ext cx="5040000" cy="486000"/>
          </a:xfrm>
          <a:prstGeom prst="roundRect">
            <a:avLst>
              <a:gd name="adj" fmla="val 18296"/>
            </a:avLst>
          </a:prstGeom>
          <a:solidFill>
            <a:srgbClr val="FFFFFF"/>
          </a:solidFill>
          <a:ln w="10160">
            <a:solidFill>
              <a:srgbClr val="D7E0EC"/>
            </a:solidFill>
          </a:ln>
          <a:effectLst>
            <a:outerShdw blurRad="50800" dist="19050" dir="5400000" algn="t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2" name="标签 13"/>
          <p:cNvSpPr/>
          <p:nvPr/>
        </p:nvSpPr>
        <p:spPr>
          <a:xfrm>
            <a:off x="6515334" y="4550251"/>
            <a:ext cx="675331" cy="274972"/>
          </a:xfrm>
          <a:prstGeom prst="roundRect">
            <a:avLst>
              <a:gd name="adj" fmla="val 18460"/>
            </a:avLst>
          </a:prstGeom>
          <a:solidFill>
            <a:srgbClr val="E2F1F1"/>
          </a:solidFill>
          <a:ln>
            <a:noFill/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lang="zh-CN" altLang="en-US">
                <a:solidFill>
                  <a:srgbClr val="0F8B8D"/>
                </a:solidFill>
                <a:latin typeface="微软雅黑"/>
                <a:ea typeface="微软雅黑"/>
              </a:rPr>
              <a:t>物理量</a:t>
            </a:r>
          </a:p>
        </p:txBody>
      </p:sp>
      <p:sp>
        <p:nvSpPr>
          <p:cNvPr id="63" name="文字 14"/>
          <p:cNvSpPr txBox="1"/>
          <p:nvPr/>
        </p:nvSpPr>
        <p:spPr>
          <a:xfrm>
            <a:off x="7199334" y="4539138"/>
            <a:ext cx="1251072" cy="297199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800" b="1" lang="zh-CN" altLang="en-US">
                <a:solidFill>
                  <a:srgbClr val="1E293B"/>
                </a:solidFill>
                <a:latin typeface="微软雅黑"/>
                <a:ea typeface="微软雅黑"/>
              </a:rPr>
              <a:t>磁感应强度</a:t>
            </a:r>
          </a:p>
        </p:txBody>
      </p:sp>
      <p:sp>
        <p:nvSpPr>
          <p:cNvPr id="64" name="文字 15"/>
          <p:cNvSpPr txBox="1"/>
          <p:nvPr/>
        </p:nvSpPr>
        <p:spPr>
          <a:xfrm>
            <a:off x="8891334" y="4580415"/>
            <a:ext cx="1759104" cy="21464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300" b="0" lang="zh-CN" altLang="en-US">
                <a:solidFill>
                  <a:srgbClr val="64748B"/>
                </a:solidFill>
                <a:latin typeface="微软雅黑"/>
                <a:ea typeface="微软雅黑"/>
              </a:rPr>
              <a:t>符号 B · 单位 T · 矢量</a:t>
            </a:r>
          </a:p>
        </p:txBody>
      </p:sp>
      <p:cxnSp>
        <p:nvCxnSpPr>
          <p:cNvPr id="65" name="连线 16"/>
          <p:cNvCxnSpPr/>
          <p:nvPr/>
        </p:nvCxnSpPr>
        <p:spPr>
          <a:xfrm>
            <a:off x="5974662" y="4687737"/>
            <a:ext cx="396672" cy="0"/>
          </a:xfrm>
          <a:prstGeom prst="line">
            <a:avLst/>
          </a:prstGeom>
          <a:ln w="16510">
            <a:solidFill>
              <a:srgbClr val="0F8B8D"/>
            </a:solidFill>
            <a:tailEnd type="stealth" w="lg" len="lg"/>
          </a:ln>
        </p:spPr>
      </p:cxnSp>
      <p:sp>
        <p:nvSpPr>
          <p:cNvPr id="66" name="卡片 17"/>
          <p:cNvSpPr/>
          <p:nvPr/>
        </p:nvSpPr>
        <p:spPr>
          <a:xfrm>
            <a:off x="6371334" y="5009049"/>
            <a:ext cx="5040000" cy="846000"/>
          </a:xfrm>
          <a:prstGeom prst="roundRect">
            <a:avLst>
              <a:gd name="adj" fmla="val 10510"/>
            </a:avLst>
          </a:prstGeom>
          <a:solidFill>
            <a:srgbClr val="FFFFFF"/>
          </a:solidFill>
          <a:ln w="22225">
            <a:solidFill>
              <a:srgbClr val="E8710A"/>
            </a:solidFill>
          </a:ln>
          <a:effectLst>
            <a:outerShdw blurRad="50800" dist="19050" dir="5400000" algn="t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7" name="文字 18"/>
          <p:cNvSpPr txBox="1"/>
          <p:nvPr/>
        </p:nvSpPr>
        <p:spPr>
          <a:xfrm>
            <a:off x="6587334" y="5112450"/>
            <a:ext cx="1708301" cy="297199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800" b="1" lang="zh-CN" altLang="en-US">
                <a:solidFill>
                  <a:srgbClr val="1E293B"/>
                </a:solidFill>
                <a:latin typeface="微软雅黑"/>
                <a:ea typeface="微软雅黑"/>
              </a:rPr>
              <a:t>带来的两个用途</a:t>
            </a:r>
          </a:p>
        </p:txBody>
      </p:sp>
      <p:sp>
        <p:nvSpPr>
          <p:cNvPr id="68" name="文字 19"/>
          <p:cNvSpPr txBox="1"/>
          <p:nvPr/>
        </p:nvSpPr>
        <p:spPr>
          <a:xfrm>
            <a:off x="6587334" y="5452961"/>
            <a:ext cx="4375469" cy="26417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点击变量跳到物理量定义；单位写错时启动报错</a:t>
            </a:r>
          </a:p>
        </p:txBody>
      </p:sp>
      <p:sp>
        <p:nvSpPr>
          <p:cNvPr id="69" name="底色 20"/>
          <p:cNvSpPr/>
          <p:nvPr/>
        </p:nvSpPr>
        <p:spPr>
          <a:xfrm>
            <a:off x="611334" y="5963049"/>
            <a:ext cx="10872000" cy="450000"/>
          </a:xfrm>
          <a:prstGeom prst="roundRect">
            <a:avLst>
              <a:gd name="adj" fmla="val 19760"/>
            </a:avLst>
          </a:prstGeom>
          <a:solidFill>
            <a:srgbClr val="E1EB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文字 21"/>
          <p:cNvSpPr txBox="1"/>
          <p:nvPr/>
        </p:nvSpPr>
        <p:spPr>
          <a:xfrm>
            <a:off x="791334" y="6055961"/>
            <a:ext cx="920851" cy="26417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600" b="1" lang="zh-CN" altLang="en-US">
                <a:solidFill>
                  <a:srgbClr val="0259A0"/>
                </a:solidFill>
                <a:latin typeface="微软雅黑"/>
                <a:ea typeface="微软雅黑"/>
              </a:rPr>
              <a:t>记录原则</a:t>
            </a:r>
          </a:p>
        </p:txBody>
      </p:sp>
      <p:cxnSp>
        <p:nvCxnSpPr>
          <p:cNvPr id="71" name="连线 22"/>
          <p:cNvCxnSpPr/>
          <p:nvPr/>
        </p:nvCxnSpPr>
        <p:spPr>
          <a:xfrm flipV="1">
            <a:off x="1799334" y="6062049"/>
            <a:ext cx="0" cy="252000"/>
          </a:xfrm>
          <a:prstGeom prst="line">
            <a:avLst/>
          </a:prstGeom>
          <a:ln w="12700">
            <a:solidFill>
              <a:srgbClr val="D7E0EC"/>
            </a:solidFill>
          </a:ln>
        </p:spPr>
      </p:cxnSp>
      <p:sp>
        <p:nvSpPr>
          <p:cNvPr id="72" name="文字 23"/>
          <p:cNvSpPr txBox="1"/>
          <p:nvPr/>
        </p:nvSpPr>
        <p:spPr>
          <a:xfrm>
            <a:off x="1943334" y="6055961"/>
            <a:ext cx="6204384" cy="26417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公式里有哪些物理量只记在变量里，不另建关系，同一件事只记一处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6" name="直线连接符 5"/>
          <p:cNvCxnSpPr/>
          <p:nvPr/>
        </p:nvCxnSpPr>
        <p:spPr>
          <a:xfrm>
            <a:off x="1587829" y="2385773"/>
            <a:ext cx="0" cy="2087198"/>
          </a:xfrm>
          <a:prstGeom prst="line">
            <a:avLst/>
          </a:prstGeom>
          <a:ln w="28575">
            <a:solidFill>
              <a:schemeClr val="accent1">
                <a:alpha val="6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章节标题"/>
          <p:cNvSpPr txBox="1"/>
          <p:nvPr/>
        </p:nvSpPr>
        <p:spPr>
          <a:xfrm>
            <a:off x="1989455" y="2583180"/>
            <a:ext cx="910399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四、知识关系设计</a:t>
            </a:r>
          </a:p>
        </p:txBody>
      </p:sp>
      <p:sp>
        <p:nvSpPr>
          <p:cNvPr id="14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46551" y="640282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1"/>
            <a:ext cx="12192000" cy="6730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1" y="-504223"/>
            <a:ext cx="2472973" cy="139104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46551" y="640282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线连接符 29"/>
          <p:cNvCxnSpPr/>
          <p:nvPr/>
        </p:nvCxnSpPr>
        <p:spPr>
          <a:xfrm>
            <a:off x="554825" y="1269824"/>
            <a:ext cx="110823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0" y="1"/>
            <a:ext cx="12192000" cy="6730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1" y="-504223"/>
            <a:ext cx="2472973" cy="1391047"/>
          </a:xfrm>
          <a:prstGeom prst="rect">
            <a:avLst/>
          </a:prstGeom>
        </p:spPr>
      </p:pic>
      <p:sp>
        <p:nvSpPr>
          <p:cNvPr id="8" name="页面标题"/>
          <p:cNvSpPr txBox="1"/>
          <p:nvPr/>
        </p:nvSpPr>
        <p:spPr>
          <a:xfrm>
            <a:off x="554681" y="756992"/>
            <a:ext cx="104085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kumimoji="1"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九种关系中七种有方向，方向由关系类型决定</a:t>
            </a:r>
            <a:endParaRPr kumimoji="1"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" name="章节标签"/>
          <p:cNvSpPr txBox="1"/>
          <p:nvPr/>
        </p:nvSpPr>
        <p:spPr>
          <a:xfrm>
            <a:off x="8748716" y="90049"/>
            <a:ext cx="34432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知识关系设计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0" name="卡片 1"/>
          <p:cNvSpPr/>
          <p:nvPr/>
        </p:nvSpPr>
        <p:spPr>
          <a:xfrm>
            <a:off x="683334" y="1571049"/>
            <a:ext cx="7056000" cy="4068000"/>
          </a:xfrm>
          <a:prstGeom prst="roundRect">
            <a:avLst>
              <a:gd name="adj" fmla="val 2185"/>
            </a:avLst>
          </a:prstGeom>
          <a:solidFill>
            <a:srgbClr val="FFFFFF"/>
          </a:solidFill>
          <a:ln w="10160">
            <a:solidFill>
              <a:srgbClr val="D7E0EC"/>
            </a:solidFill>
          </a:ln>
          <a:effectLst>
            <a:outerShdw blurRad="50800" dist="19050" dir="5400000" algn="t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1" name="标题条 2"/>
          <p:cNvSpPr/>
          <p:nvPr/>
        </p:nvSpPr>
        <p:spPr>
          <a:xfrm>
            <a:off x="683334" y="1571049"/>
            <a:ext cx="7056000" cy="396000"/>
          </a:xfrm>
          <a:prstGeom prst="round2SameRect">
            <a:avLst>
              <a:gd name="adj1" fmla="val 22454"/>
              <a:gd name="adj2" fmla="val 0"/>
            </a:avLst>
          </a:prstGeom>
          <a:solidFill>
            <a:srgbClr val="0259A0"/>
          </a:solidFill>
          <a:ln>
            <a:noFill/>
          </a:ln>
        </p:spPr>
        <p:txBody>
          <a:bodyPr rtlCol="0" anchor="ctr" wrap="none" lIns="180000" rIns="108000" tIns="0" bIns="0">
            <a:noAutofit/>
          </a:bodyPr>
          <a:lstStyle/>
          <a:p>
            <a:pPr algn="l"/>
            <a:r>
              <a:rPr sz="1800" b="1" lang="zh-CN" altLang="en-US">
                <a:solidFill>
                  <a:srgbClr val="FFFFFF"/>
                </a:solidFill>
                <a:latin typeface="微软雅黑"/>
                <a:ea typeface="微软雅黑"/>
              </a:rPr>
              <a:t>有方向的关系（7 种）</a:t>
            </a:r>
          </a:p>
        </p:txBody>
      </p:sp>
      <p:graphicFrame>
        <p:nvGraphicFramePr>
          <p:cNvPr id="52" name="表格 3"/>
          <p:cNvGraphicFramePr>
            <a:graphicFrameLocks noGrp="1"/>
          </p:cNvGraphicFramePr>
          <p:nvPr/>
        </p:nvGraphicFramePr>
        <p:xfrm>
          <a:off x="899334" y="2111049"/>
          <a:ext cx="6624000" cy="3312000"/>
        </p:xfrm>
        <a:graphic>
          <a:graphicData uri="http://schemas.openxmlformats.org/drawingml/2006/table">
            <a:tbl>
              <a:tblPr firstRow="0" bandRow="0"/>
              <a:tblGrid>
                <a:gridCol w="1800000"/>
                <a:gridCol w="4824000"/>
              </a:tblGrid>
              <a:tr h="414000"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/>
                      <a:r>
                        <a:rPr sz="1600" b="1" lang="zh-CN" altLang="en-US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类型</a:t>
                      </a:r>
                    </a:p>
                  </a:txBody>
                  <a:tcPr marL="0" marR="72000" marT="18000" marB="18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/>
                      <a:r>
                        <a:rPr sz="1600" b="1" lang="zh-CN" altLang="en-US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方向</a:t>
                      </a:r>
                    </a:p>
                  </a:txBody>
                  <a:tcPr marL="0" marR="72000" marT="18000" marB="18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334155"/>
                      </a:solidFill>
                    </a:lnB>
                  </a:tcPr>
                </a:tc>
              </a:tr>
              <a:tr h="414000"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/>
                      <a:r>
                        <a:rPr sz="1600" b="1" lang="zh-CN" altLang="en-US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前置知识</a:t>
                      </a:r>
                    </a:p>
                  </a:txBody>
                  <a:tcPr marL="0" marR="72000" marT="18000" marB="18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>
                      <a:solidFill>
                        <a:srgbClr val="D7E0EC"/>
                      </a:solidFill>
                    </a:lnB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/>
                      <a:r>
                        <a:rPr sz="1600" b="0" lang="zh-CN" altLang="en-US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先学 → 后学</a:t>
                      </a:r>
                    </a:p>
                  </a:txBody>
                  <a:tcPr marL="0" marR="72000" marT="18000" marB="18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>
                      <a:solidFill>
                        <a:srgbClr val="D7E0EC"/>
                      </a:solidFill>
                    </a:lnB>
                  </a:tcPr>
                </a:tc>
              </a:tr>
              <a:tr h="414000"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/>
                      <a:r>
                        <a:rPr sz="1600" b="1" lang="zh-CN" altLang="en-US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定义</a:t>
                      </a:r>
                    </a:p>
                  </a:txBody>
                  <a:tcPr marL="0" marR="72000" marT="18000" marB="18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>
                      <a:solidFill>
                        <a:srgbClr val="D7E0EC"/>
                      </a:solidFill>
                    </a:lnB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/>
                      <a:r>
                        <a:rPr sz="1600" b="0" lang="zh-CN" altLang="en-US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定义者 → 被定义者</a:t>
                      </a:r>
                    </a:p>
                  </a:txBody>
                  <a:tcPr marL="0" marR="72000" marT="18000" marB="18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>
                      <a:solidFill>
                        <a:srgbClr val="D7E0EC"/>
                      </a:solidFill>
                    </a:lnB>
                  </a:tcPr>
                </a:tc>
              </a:tr>
              <a:tr h="414000"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/>
                      <a:r>
                        <a:rPr sz="1600" b="1" lang="zh-CN" altLang="en-US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表达为</a:t>
                      </a:r>
                    </a:p>
                  </a:txBody>
                  <a:tcPr marL="0" marR="72000" marT="18000" marB="18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>
                      <a:solidFill>
                        <a:srgbClr val="D7E0EC"/>
                      </a:solidFill>
                    </a:lnB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/>
                      <a:r>
                        <a:rPr sz="1600" b="0" lang="zh-CN" altLang="en-US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定律 → 公式</a:t>
                      </a:r>
                    </a:p>
                  </a:txBody>
                  <a:tcPr marL="0" marR="72000" marT="18000" marB="18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>
                      <a:solidFill>
                        <a:srgbClr val="D7E0EC"/>
                      </a:solidFill>
                    </a:lnB>
                  </a:tcPr>
                </a:tc>
              </a:tr>
              <a:tr h="414000"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/>
                      <a:r>
                        <a:rPr sz="1600" b="1" lang="zh-CN" altLang="en-US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推导出</a:t>
                      </a:r>
                    </a:p>
                  </a:txBody>
                  <a:tcPr marL="0" marR="72000" marT="18000" marB="18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>
                      <a:solidFill>
                        <a:srgbClr val="D7E0EC"/>
                      </a:solidFill>
                    </a:lnB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/>
                      <a:r>
                        <a:rPr sz="1600" b="0" lang="zh-CN" altLang="en-US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已知 → 推导结果</a:t>
                      </a:r>
                    </a:p>
                  </a:txBody>
                  <a:tcPr marL="0" marR="72000" marT="18000" marB="18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>
                      <a:solidFill>
                        <a:srgbClr val="D7E0EC"/>
                      </a:solidFill>
                    </a:lnB>
                  </a:tcPr>
                </a:tc>
              </a:tr>
              <a:tr h="414000"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/>
                      <a:r>
                        <a:rPr sz="1600" b="1" lang="zh-CN" altLang="en-US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使用</a:t>
                      </a:r>
                    </a:p>
                  </a:txBody>
                  <a:tcPr marL="0" marR="72000" marT="18000" marB="18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>
                      <a:solidFill>
                        <a:srgbClr val="D7E0EC"/>
                      </a:solidFill>
                    </a:lnB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/>
                      <a:r>
                        <a:rPr sz="1600" b="0" lang="zh-CN" altLang="en-US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使用者 → 被使用者</a:t>
                      </a:r>
                    </a:p>
                  </a:txBody>
                  <a:tcPr marL="0" marR="72000" marT="18000" marB="18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>
                      <a:solidFill>
                        <a:srgbClr val="D7E0EC"/>
                      </a:solidFill>
                    </a:lnB>
                  </a:tcPr>
                </a:tc>
              </a:tr>
              <a:tr h="414000"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/>
                      <a:r>
                        <a:rPr sz="1600" b="1" lang="zh-CN" altLang="en-US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描述</a:t>
                      </a:r>
                    </a:p>
                  </a:txBody>
                  <a:tcPr marL="0" marR="72000" marT="18000" marB="18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>
                      <a:solidFill>
                        <a:srgbClr val="D7E0EC"/>
                      </a:solidFill>
                    </a:lnB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/>
                      <a:r>
                        <a:rPr sz="1600" b="0" lang="zh-CN" altLang="en-US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定律或公式 → 现象</a:t>
                      </a:r>
                    </a:p>
                  </a:txBody>
                  <a:tcPr marL="0" marR="72000" marT="18000" marB="18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>
                      <a:solidFill>
                        <a:srgbClr val="D7E0EC"/>
                      </a:solidFill>
                    </a:lnB>
                  </a:tcPr>
                </a:tc>
              </a:tr>
              <a:tr h="414000"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/>
                      <a:r>
                        <a:rPr sz="1600" b="1" lang="zh-CN" altLang="en-US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应用于</a:t>
                      </a:r>
                    </a:p>
                  </a:txBody>
                  <a:tcPr marL="0" marR="72000" marT="18000" marB="18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/>
                      <a:r>
                        <a:rPr sz="1600" b="0" lang="zh-CN" altLang="en-US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知识 → 应用</a:t>
                      </a:r>
                    </a:p>
                  </a:txBody>
                  <a:tcPr marL="0" marR="72000" marT="18000" marB="18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3" name="卡片 4"/>
          <p:cNvSpPr/>
          <p:nvPr/>
        </p:nvSpPr>
        <p:spPr>
          <a:xfrm>
            <a:off x="7955334" y="1571049"/>
            <a:ext cx="3456000" cy="4068000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0160">
            <a:solidFill>
              <a:srgbClr val="D7E0EC"/>
            </a:solidFill>
          </a:ln>
          <a:effectLst>
            <a:outerShdw blurRad="50800" dist="19050" dir="5400000" algn="t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4" name="标题条 5"/>
          <p:cNvSpPr/>
          <p:nvPr/>
        </p:nvSpPr>
        <p:spPr>
          <a:xfrm>
            <a:off x="7955334" y="1571049"/>
            <a:ext cx="3456000" cy="396000"/>
          </a:xfrm>
          <a:prstGeom prst="round2SameRect">
            <a:avLst>
              <a:gd name="adj1" fmla="val 22454"/>
              <a:gd name="adj2" fmla="val 0"/>
            </a:avLst>
          </a:prstGeom>
          <a:solidFill>
            <a:srgbClr val="64748B"/>
          </a:solidFill>
          <a:ln>
            <a:noFill/>
          </a:ln>
        </p:spPr>
        <p:txBody>
          <a:bodyPr rtlCol="0" anchor="ctr" wrap="none" lIns="180000" rIns="108000" tIns="0" bIns="0">
            <a:noAutofit/>
          </a:bodyPr>
          <a:lstStyle/>
          <a:p>
            <a:pPr algn="l"/>
            <a:r>
              <a:rPr sz="1800" b="1" lang="zh-CN" altLang="en-US">
                <a:solidFill>
                  <a:srgbClr val="FFFFFF"/>
                </a:solidFill>
                <a:latin typeface="微软雅黑"/>
                <a:ea typeface="微软雅黑"/>
              </a:rPr>
              <a:t>无方向的关系（2 种）</a:t>
            </a:r>
          </a:p>
        </p:txBody>
      </p:sp>
      <p:graphicFrame>
        <p:nvGraphicFramePr>
          <p:cNvPr id="55" name="表格 6"/>
          <p:cNvGraphicFramePr>
            <a:graphicFrameLocks noGrp="1"/>
          </p:cNvGraphicFramePr>
          <p:nvPr/>
        </p:nvGraphicFramePr>
        <p:xfrm>
          <a:off x="8171334" y="2111049"/>
          <a:ext cx="3024000" cy="2052000"/>
        </p:xfrm>
        <a:graphic>
          <a:graphicData uri="http://schemas.openxmlformats.org/drawingml/2006/table">
            <a:tbl>
              <a:tblPr firstRow="0" bandRow="0"/>
              <a:tblGrid>
                <a:gridCol w="936000"/>
                <a:gridCol w="2088000"/>
              </a:tblGrid>
              <a:tr h="684000"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/>
                      <a:r>
                        <a:rPr sz="1600" b="1" lang="zh-CN" altLang="en-US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类型</a:t>
                      </a:r>
                    </a:p>
                  </a:txBody>
                  <a:tcPr marL="0" marR="72000" marT="18000" marB="18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/>
                      <a:r>
                        <a:rPr sz="1600" b="1" lang="zh-CN" altLang="en-US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用法</a:t>
                      </a:r>
                    </a:p>
                  </a:txBody>
                  <a:tcPr marL="0" marR="72000" marT="18000" marB="18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334155"/>
                      </a:solidFill>
                    </a:lnB>
                  </a:tcPr>
                </a:tc>
              </a:tr>
              <a:tr h="684000"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/>
                      <a:r>
                        <a:rPr sz="1600" b="1" lang="zh-CN" altLang="en-US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等价于</a:t>
                      </a:r>
                    </a:p>
                  </a:txBody>
                  <a:tcPr marL="0" marR="72000" marT="18000" marB="18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>
                      <a:solidFill>
                        <a:srgbClr val="D7E0EC"/>
                      </a:solidFill>
                    </a:lnB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/>
                      <a:r>
                        <a:rPr sz="1600" b="0" lang="zh-CN" altLang="en-US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完全等价，如积分形式与微分形式</a:t>
                      </a:r>
                    </a:p>
                  </a:txBody>
                  <a:tcPr marL="0" marR="72000" marT="18000" marB="18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>
                      <a:solidFill>
                        <a:srgbClr val="D7E0EC"/>
                      </a:solidFill>
                    </a:lnB>
                  </a:tcPr>
                </a:tc>
              </a:tr>
              <a:tr h="684000"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/>
                      <a:r>
                        <a:rPr sz="1600" b="1" lang="zh-CN" altLang="en-US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相关</a:t>
                      </a:r>
                    </a:p>
                  </a:txBody>
                  <a:tcPr marL="0" marR="72000" marT="18000" marB="18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/>
                      <a:r>
                        <a:rPr sz="1600" b="0" lang="zh-CN" altLang="en-US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兜底，排除其他类型后才用</a:t>
                      </a:r>
                    </a:p>
                  </a:txBody>
                  <a:tcPr marL="0" marR="72000" marT="18000" marB="18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6" name="底色 7"/>
          <p:cNvSpPr/>
          <p:nvPr/>
        </p:nvSpPr>
        <p:spPr>
          <a:xfrm>
            <a:off x="611334" y="5963049"/>
            <a:ext cx="10872000" cy="450000"/>
          </a:xfrm>
          <a:prstGeom prst="roundRect">
            <a:avLst>
              <a:gd name="adj" fmla="val 19760"/>
            </a:avLst>
          </a:prstGeom>
          <a:solidFill>
            <a:srgbClr val="E1EB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文字 8"/>
          <p:cNvSpPr txBox="1"/>
          <p:nvPr/>
        </p:nvSpPr>
        <p:spPr>
          <a:xfrm>
            <a:off x="791334" y="6055961"/>
            <a:ext cx="920851" cy="26417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600" b="1" lang="zh-CN" altLang="en-US">
                <a:solidFill>
                  <a:srgbClr val="0259A0"/>
                </a:solidFill>
                <a:latin typeface="微软雅黑"/>
                <a:ea typeface="微软雅黑"/>
              </a:rPr>
              <a:t>每条关系</a:t>
            </a:r>
          </a:p>
        </p:txBody>
      </p:sp>
      <p:cxnSp>
        <p:nvCxnSpPr>
          <p:cNvPr id="58" name="连线 9"/>
          <p:cNvCxnSpPr/>
          <p:nvPr/>
        </p:nvCxnSpPr>
        <p:spPr>
          <a:xfrm flipV="1">
            <a:off x="1799334" y="6062049"/>
            <a:ext cx="0" cy="252000"/>
          </a:xfrm>
          <a:prstGeom prst="line">
            <a:avLst/>
          </a:prstGeom>
          <a:ln w="12700">
            <a:solidFill>
              <a:srgbClr val="D7E0EC"/>
            </a:solidFill>
          </a:ln>
        </p:spPr>
      </p:cxnSp>
      <p:sp>
        <p:nvSpPr>
          <p:cNvPr id="59" name="文字 10"/>
          <p:cNvSpPr txBox="1"/>
          <p:nvPr/>
        </p:nvSpPr>
        <p:spPr>
          <a:xfrm>
            <a:off x="1943334" y="6055961"/>
            <a:ext cx="6702255" cy="26417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起点 + 终点 + 关系类型 + 一句说明（必填）；有向关系的方向由类型决定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46551" y="640282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线连接符 29"/>
          <p:cNvCxnSpPr/>
          <p:nvPr/>
        </p:nvCxnSpPr>
        <p:spPr>
          <a:xfrm>
            <a:off x="554825" y="1269824"/>
            <a:ext cx="110823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0" y="1"/>
            <a:ext cx="12192000" cy="6730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1" y="-504223"/>
            <a:ext cx="2472973" cy="1391047"/>
          </a:xfrm>
          <a:prstGeom prst="rect">
            <a:avLst/>
          </a:prstGeom>
        </p:spPr>
      </p:pic>
      <p:sp>
        <p:nvSpPr>
          <p:cNvPr id="8" name="页面标题"/>
          <p:cNvSpPr txBox="1"/>
          <p:nvPr/>
        </p:nvSpPr>
        <p:spPr>
          <a:xfrm>
            <a:off x="554681" y="756992"/>
            <a:ext cx="104085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kumimoji="1"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关系把四个章节的知识点连成一张图</a:t>
            </a:r>
            <a:endParaRPr kumimoji="1"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" name="章节标签"/>
          <p:cNvSpPr txBox="1"/>
          <p:nvPr/>
        </p:nvSpPr>
        <p:spPr>
          <a:xfrm>
            <a:off x="8748716" y="90049"/>
            <a:ext cx="34432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知识关系设计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0" name="卡片 1"/>
          <p:cNvSpPr/>
          <p:nvPr/>
        </p:nvSpPr>
        <p:spPr>
          <a:xfrm>
            <a:off x="683334" y="1571049"/>
            <a:ext cx="10728000" cy="4176000"/>
          </a:xfrm>
          <a:prstGeom prst="roundRect">
            <a:avLst>
              <a:gd name="adj" fmla="val 2129"/>
            </a:avLst>
          </a:prstGeom>
          <a:solidFill>
            <a:srgbClr val="FFFFFF"/>
          </a:solidFill>
          <a:ln w="10160">
            <a:solidFill>
              <a:srgbClr val="D7E0EC"/>
            </a:solidFill>
          </a:ln>
          <a:effectLst>
            <a:outerShdw blurRad="50800" dist="19050" dir="5400000" algn="t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51" name="连线 2"/>
          <p:cNvCxnSpPr/>
          <p:nvPr/>
        </p:nvCxnSpPr>
        <p:spPr>
          <a:xfrm>
            <a:off x="2519334" y="2309049"/>
            <a:ext cx="1440000" cy="0"/>
          </a:xfrm>
          <a:prstGeom prst="line">
            <a:avLst/>
          </a:prstGeom>
          <a:ln w="13970">
            <a:solidFill>
              <a:srgbClr val="64748B"/>
            </a:solidFill>
            <a:tailEnd type="stealth" w="lg" len="lg"/>
          </a:ln>
        </p:spPr>
      </p:cxnSp>
      <p:sp>
        <p:nvSpPr>
          <p:cNvPr id="52" name="连线说明 3"/>
          <p:cNvSpPr txBox="1"/>
          <p:nvPr/>
        </p:nvSpPr>
        <p:spPr>
          <a:xfrm>
            <a:off x="3029224" y="2197599"/>
            <a:ext cx="420221" cy="222899"/>
          </a:xfrm>
          <a:prstGeom prst="rect">
            <a:avLst/>
          </a:prstGeom>
          <a:solidFill>
            <a:srgbClr val="FFFFFF"/>
          </a:solidFill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300" b="0" lang="zh-CN" altLang="en-US">
                <a:solidFill>
                  <a:srgbClr val="1E293B"/>
                </a:solidFill>
                <a:latin typeface="微软雅黑"/>
                <a:ea typeface="微软雅黑"/>
              </a:rPr>
              <a:t>前置</a:t>
            </a:r>
          </a:p>
        </p:txBody>
      </p:sp>
      <p:cxnSp>
        <p:nvCxnSpPr>
          <p:cNvPr id="53" name="连线 4"/>
          <p:cNvCxnSpPr/>
          <p:nvPr/>
        </p:nvCxnSpPr>
        <p:spPr>
          <a:xfrm>
            <a:off x="5183334" y="2309049"/>
            <a:ext cx="1232755" cy="0"/>
          </a:xfrm>
          <a:prstGeom prst="line">
            <a:avLst/>
          </a:prstGeom>
          <a:ln w="13970">
            <a:solidFill>
              <a:srgbClr val="64748B"/>
            </a:solidFill>
            <a:tailEnd type="stealth" w="lg" len="lg"/>
          </a:ln>
        </p:spPr>
      </p:cxnSp>
      <p:sp>
        <p:nvSpPr>
          <p:cNvPr id="54" name="连线说明 5"/>
          <p:cNvSpPr txBox="1"/>
          <p:nvPr/>
        </p:nvSpPr>
        <p:spPr>
          <a:xfrm>
            <a:off x="5589601" y="2197599"/>
            <a:ext cx="420221" cy="222899"/>
          </a:xfrm>
          <a:prstGeom prst="rect">
            <a:avLst/>
          </a:prstGeom>
          <a:solidFill>
            <a:srgbClr val="FFFFFF"/>
          </a:solidFill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300" b="0" lang="zh-CN" altLang="en-US">
                <a:solidFill>
                  <a:srgbClr val="1E293B"/>
                </a:solidFill>
                <a:latin typeface="微软雅黑"/>
                <a:ea typeface="微软雅黑"/>
              </a:rPr>
              <a:t>前置</a:t>
            </a:r>
          </a:p>
        </p:txBody>
      </p:sp>
      <p:cxnSp>
        <p:nvCxnSpPr>
          <p:cNvPr id="55" name="连线 6"/>
          <p:cNvCxnSpPr/>
          <p:nvPr/>
        </p:nvCxnSpPr>
        <p:spPr>
          <a:xfrm>
            <a:off x="8054579" y="2309049"/>
            <a:ext cx="1232755" cy="0"/>
          </a:xfrm>
          <a:prstGeom prst="line">
            <a:avLst/>
          </a:prstGeom>
          <a:ln w="13970">
            <a:solidFill>
              <a:srgbClr val="64748B"/>
            </a:solidFill>
            <a:tailEnd type="stealth" w="lg" len="lg"/>
          </a:ln>
        </p:spPr>
      </p:cxnSp>
      <p:sp>
        <p:nvSpPr>
          <p:cNvPr id="56" name="连线说明 7"/>
          <p:cNvSpPr txBox="1"/>
          <p:nvPr/>
        </p:nvSpPr>
        <p:spPr>
          <a:xfrm>
            <a:off x="8378291" y="2197599"/>
            <a:ext cx="585331" cy="222899"/>
          </a:xfrm>
          <a:prstGeom prst="rect">
            <a:avLst/>
          </a:prstGeom>
          <a:solidFill>
            <a:srgbClr val="FFFFFF"/>
          </a:solidFill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300" b="0" lang="zh-CN" altLang="en-US">
                <a:solidFill>
                  <a:srgbClr val="1E293B"/>
                </a:solidFill>
                <a:latin typeface="微软雅黑"/>
                <a:ea typeface="微软雅黑"/>
              </a:rPr>
              <a:t>推导出</a:t>
            </a:r>
          </a:p>
        </p:txBody>
      </p:sp>
      <p:cxnSp>
        <p:nvCxnSpPr>
          <p:cNvPr id="57" name="连线 8"/>
          <p:cNvCxnSpPr/>
          <p:nvPr/>
        </p:nvCxnSpPr>
        <p:spPr>
          <a:xfrm>
            <a:off x="4571334" y="2579049"/>
            <a:ext cx="0" cy="671400"/>
          </a:xfrm>
          <a:prstGeom prst="line">
            <a:avLst/>
          </a:prstGeom>
          <a:ln w="13970">
            <a:solidFill>
              <a:srgbClr val="64748B"/>
            </a:solidFill>
            <a:tailEnd type="stealth" w="lg" len="lg"/>
          </a:ln>
        </p:spPr>
      </p:cxnSp>
      <p:sp>
        <p:nvSpPr>
          <p:cNvPr id="58" name="连线说明 9"/>
          <p:cNvSpPr txBox="1"/>
          <p:nvPr/>
        </p:nvSpPr>
        <p:spPr>
          <a:xfrm>
            <a:off x="4278668" y="2803299"/>
            <a:ext cx="585331" cy="222899"/>
          </a:xfrm>
          <a:prstGeom prst="rect">
            <a:avLst/>
          </a:prstGeom>
          <a:solidFill>
            <a:srgbClr val="FFFFFF"/>
          </a:solidFill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300" b="0" lang="zh-CN" altLang="en-US">
                <a:solidFill>
                  <a:srgbClr val="1E293B"/>
                </a:solidFill>
                <a:latin typeface="微软雅黑"/>
                <a:ea typeface="微软雅黑"/>
              </a:rPr>
              <a:t>表达为</a:t>
            </a:r>
          </a:p>
        </p:txBody>
      </p:sp>
      <p:cxnSp>
        <p:nvCxnSpPr>
          <p:cNvPr id="59" name="连线 10"/>
          <p:cNvCxnSpPr/>
          <p:nvPr/>
        </p:nvCxnSpPr>
        <p:spPr>
          <a:xfrm>
            <a:off x="7235334" y="2579049"/>
            <a:ext cx="0" cy="671400"/>
          </a:xfrm>
          <a:prstGeom prst="line">
            <a:avLst/>
          </a:prstGeom>
          <a:ln w="13970">
            <a:solidFill>
              <a:srgbClr val="64748B"/>
            </a:solidFill>
            <a:tailEnd type="stealth" w="lg" len="lg"/>
          </a:ln>
        </p:spPr>
      </p:cxnSp>
      <p:sp>
        <p:nvSpPr>
          <p:cNvPr id="60" name="连线说明 11"/>
          <p:cNvSpPr txBox="1"/>
          <p:nvPr/>
        </p:nvSpPr>
        <p:spPr>
          <a:xfrm>
            <a:off x="6942668" y="2803299"/>
            <a:ext cx="585331" cy="222899"/>
          </a:xfrm>
          <a:prstGeom prst="rect">
            <a:avLst/>
          </a:prstGeom>
          <a:solidFill>
            <a:srgbClr val="FFFFFF"/>
          </a:solidFill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300" b="0" lang="zh-CN" altLang="en-US">
                <a:solidFill>
                  <a:srgbClr val="1E293B"/>
                </a:solidFill>
                <a:latin typeface="微软雅黑"/>
                <a:ea typeface="微软雅黑"/>
              </a:rPr>
              <a:t>表达为</a:t>
            </a:r>
          </a:p>
        </p:txBody>
      </p:sp>
      <p:cxnSp>
        <p:nvCxnSpPr>
          <p:cNvPr id="61" name="连线 12"/>
          <p:cNvCxnSpPr/>
          <p:nvPr/>
        </p:nvCxnSpPr>
        <p:spPr>
          <a:xfrm>
            <a:off x="9899334" y="2579049"/>
            <a:ext cx="0" cy="671400"/>
          </a:xfrm>
          <a:prstGeom prst="line">
            <a:avLst/>
          </a:prstGeom>
          <a:ln w="13970">
            <a:solidFill>
              <a:srgbClr val="64748B"/>
            </a:solidFill>
            <a:tailEnd type="stealth" w="lg" len="lg"/>
          </a:ln>
        </p:spPr>
      </p:cxnSp>
      <p:sp>
        <p:nvSpPr>
          <p:cNvPr id="62" name="连线说明 13"/>
          <p:cNvSpPr txBox="1"/>
          <p:nvPr/>
        </p:nvSpPr>
        <p:spPr>
          <a:xfrm>
            <a:off x="9606668" y="2803299"/>
            <a:ext cx="585331" cy="222899"/>
          </a:xfrm>
          <a:prstGeom prst="rect">
            <a:avLst/>
          </a:prstGeom>
          <a:solidFill>
            <a:srgbClr val="FFFFFF"/>
          </a:solidFill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300" b="0" lang="zh-CN" altLang="en-US">
                <a:solidFill>
                  <a:srgbClr val="1E293B"/>
                </a:solidFill>
                <a:latin typeface="微软雅黑"/>
                <a:ea typeface="微软雅黑"/>
              </a:rPr>
              <a:t>应用于</a:t>
            </a:r>
          </a:p>
        </p:txBody>
      </p:sp>
      <p:cxnSp>
        <p:nvCxnSpPr>
          <p:cNvPr id="63" name="连线 14"/>
          <p:cNvCxnSpPr/>
          <p:nvPr/>
        </p:nvCxnSpPr>
        <p:spPr>
          <a:xfrm>
            <a:off x="7533829" y="3664449"/>
            <a:ext cx="1059010" cy="734400"/>
          </a:xfrm>
          <a:prstGeom prst="line">
            <a:avLst/>
          </a:prstGeom>
          <a:ln w="13970">
            <a:solidFill>
              <a:srgbClr val="64748B"/>
            </a:solidFill>
            <a:tailEnd type="stealth" w="lg" len="lg"/>
          </a:ln>
        </p:spPr>
      </p:cxnSp>
      <p:sp>
        <p:nvSpPr>
          <p:cNvPr id="64" name="连线说明 15"/>
          <p:cNvSpPr txBox="1"/>
          <p:nvPr/>
        </p:nvSpPr>
        <p:spPr>
          <a:xfrm>
            <a:off x="7853224" y="3920199"/>
            <a:ext cx="420221" cy="222899"/>
          </a:xfrm>
          <a:prstGeom prst="rect">
            <a:avLst/>
          </a:prstGeom>
          <a:solidFill>
            <a:srgbClr val="FFFFFF"/>
          </a:solidFill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300" b="0" lang="zh-CN" altLang="en-US">
                <a:solidFill>
                  <a:srgbClr val="1E293B"/>
                </a:solidFill>
                <a:latin typeface="微软雅黑"/>
                <a:ea typeface="微软雅黑"/>
              </a:rPr>
              <a:t>描述</a:t>
            </a:r>
          </a:p>
        </p:txBody>
      </p:sp>
      <p:cxnSp>
        <p:nvCxnSpPr>
          <p:cNvPr id="65" name="连线 16"/>
          <p:cNvCxnSpPr/>
          <p:nvPr/>
        </p:nvCxnSpPr>
        <p:spPr>
          <a:xfrm>
            <a:off x="1907334" y="2579049"/>
            <a:ext cx="0" cy="671400"/>
          </a:xfrm>
          <a:prstGeom prst="line">
            <a:avLst/>
          </a:prstGeom>
          <a:ln w="13970">
            <a:solidFill>
              <a:srgbClr val="64748B"/>
            </a:solidFill>
            <a:tailEnd type="stealth" w="lg" len="lg"/>
          </a:ln>
        </p:spPr>
      </p:cxnSp>
      <p:sp>
        <p:nvSpPr>
          <p:cNvPr id="66" name="连线说明 17"/>
          <p:cNvSpPr txBox="1"/>
          <p:nvPr/>
        </p:nvSpPr>
        <p:spPr>
          <a:xfrm>
            <a:off x="1697224" y="2803299"/>
            <a:ext cx="420221" cy="222899"/>
          </a:xfrm>
          <a:prstGeom prst="rect">
            <a:avLst/>
          </a:prstGeom>
          <a:solidFill>
            <a:srgbClr val="FFFFFF"/>
          </a:solidFill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300" b="0" lang="zh-CN" altLang="en-US">
                <a:solidFill>
                  <a:srgbClr val="1E293B"/>
                </a:solidFill>
                <a:latin typeface="微软雅黑"/>
                <a:ea typeface="微软雅黑"/>
              </a:rPr>
              <a:t>前置</a:t>
            </a:r>
          </a:p>
        </p:txBody>
      </p:sp>
      <p:cxnSp>
        <p:nvCxnSpPr>
          <p:cNvPr id="67" name="连线 18"/>
          <p:cNvCxnSpPr/>
          <p:nvPr/>
        </p:nvCxnSpPr>
        <p:spPr>
          <a:xfrm flipV="1">
            <a:off x="5936851" y="3664449"/>
            <a:ext cx="1012966" cy="734400"/>
          </a:xfrm>
          <a:prstGeom prst="line">
            <a:avLst/>
          </a:prstGeom>
          <a:ln w="13970">
            <a:solidFill>
              <a:srgbClr val="64748B"/>
            </a:solidFill>
            <a:prstDash val="dash"/>
          </a:ln>
        </p:spPr>
      </p:cxnSp>
      <p:sp>
        <p:nvSpPr>
          <p:cNvPr id="68" name="连线说明 19"/>
          <p:cNvSpPr txBox="1"/>
          <p:nvPr/>
        </p:nvSpPr>
        <p:spPr>
          <a:xfrm>
            <a:off x="6150668" y="3920199"/>
            <a:ext cx="585331" cy="222899"/>
          </a:xfrm>
          <a:prstGeom prst="rect">
            <a:avLst/>
          </a:prstGeom>
          <a:solidFill>
            <a:srgbClr val="FFFFFF"/>
          </a:solidFill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300" b="0" lang="zh-CN" altLang="en-US">
                <a:solidFill>
                  <a:srgbClr val="1E293B"/>
                </a:solidFill>
                <a:latin typeface="微软雅黑"/>
                <a:ea typeface="微软雅黑"/>
              </a:rPr>
              <a:t>等价于</a:t>
            </a:r>
          </a:p>
        </p:txBody>
      </p:sp>
      <p:cxnSp>
        <p:nvCxnSpPr>
          <p:cNvPr id="69" name="连线 20"/>
          <p:cNvCxnSpPr/>
          <p:nvPr/>
        </p:nvCxnSpPr>
        <p:spPr>
          <a:xfrm>
            <a:off x="1907334" y="3664449"/>
            <a:ext cx="0" cy="734400"/>
          </a:xfrm>
          <a:prstGeom prst="line">
            <a:avLst/>
          </a:prstGeom>
          <a:ln w="13970">
            <a:solidFill>
              <a:srgbClr val="64748B"/>
            </a:solidFill>
            <a:prstDash val="dash"/>
          </a:ln>
        </p:spPr>
      </p:cxnSp>
      <p:sp>
        <p:nvSpPr>
          <p:cNvPr id="70" name="连线说明 21"/>
          <p:cNvSpPr txBox="1"/>
          <p:nvPr/>
        </p:nvSpPr>
        <p:spPr>
          <a:xfrm>
            <a:off x="1697224" y="3920199"/>
            <a:ext cx="420221" cy="222899"/>
          </a:xfrm>
          <a:prstGeom prst="rect">
            <a:avLst/>
          </a:prstGeom>
          <a:solidFill>
            <a:srgbClr val="FFFFFF"/>
          </a:solidFill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300" b="0" lang="zh-CN" altLang="en-US">
                <a:solidFill>
                  <a:srgbClr val="1E293B"/>
                </a:solidFill>
                <a:latin typeface="微软雅黑"/>
                <a:ea typeface="微软雅黑"/>
              </a:rPr>
              <a:t>相关</a:t>
            </a:r>
          </a:p>
        </p:txBody>
      </p:sp>
      <p:sp>
        <p:nvSpPr>
          <p:cNvPr id="71" name="节点 22"/>
          <p:cNvSpPr/>
          <p:nvPr/>
        </p:nvSpPr>
        <p:spPr>
          <a:xfrm>
            <a:off x="1295334" y="2039049"/>
            <a:ext cx="1224000" cy="540000"/>
          </a:xfrm>
          <a:prstGeom prst="roundRect">
            <a:avLst>
              <a:gd name="adj" fmla="val 11733"/>
            </a:avLst>
          </a:prstGeom>
          <a:solidFill>
            <a:srgbClr val="E5ECFD"/>
          </a:solidFill>
          <a:ln w="15875">
            <a:solidFill>
              <a:srgbClr val="2563EB"/>
            </a:solidFill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散度</a:t>
            </a:r>
          </a:p>
          <a:p>
            <a:pPr algn="ctr"/>
            <a:r>
              <a:rPr sz="1300" b="0" lang="zh-CN" altLang="en-US">
                <a:solidFill>
                  <a:srgbClr val="64748B"/>
                </a:solidFill>
                <a:latin typeface="微软雅黑"/>
                <a:ea typeface="微软雅黑"/>
              </a:rPr>
              <a:t>矢量分析</a:t>
            </a:r>
          </a:p>
        </p:txBody>
      </p:sp>
      <p:sp>
        <p:nvSpPr>
          <p:cNvPr id="72" name="节点 23"/>
          <p:cNvSpPr/>
          <p:nvPr/>
        </p:nvSpPr>
        <p:spPr>
          <a:xfrm>
            <a:off x="3959334" y="2039049"/>
            <a:ext cx="1224000" cy="540000"/>
          </a:xfrm>
          <a:prstGeom prst="roundRect">
            <a:avLst>
              <a:gd name="adj" fmla="val 11733"/>
            </a:avLst>
          </a:prstGeom>
          <a:solidFill>
            <a:srgbClr val="EFE7FD"/>
          </a:solidFill>
          <a:ln w="15875">
            <a:solidFill>
              <a:srgbClr val="7C3AED"/>
            </a:solidFill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高斯定律</a:t>
            </a:r>
          </a:p>
          <a:p>
            <a:pPr algn="ctr"/>
            <a:r>
              <a:rPr sz="1300" b="0" lang="zh-CN" altLang="en-US">
                <a:solidFill>
                  <a:srgbClr val="64748B"/>
                </a:solidFill>
                <a:latin typeface="微软雅黑"/>
                <a:ea typeface="微软雅黑"/>
              </a:rPr>
              <a:t>静电场</a:t>
            </a:r>
          </a:p>
        </p:txBody>
      </p:sp>
      <p:sp>
        <p:nvSpPr>
          <p:cNvPr id="73" name="节点 24"/>
          <p:cNvSpPr/>
          <p:nvPr/>
        </p:nvSpPr>
        <p:spPr>
          <a:xfrm>
            <a:off x="6416089" y="2039049"/>
            <a:ext cx="1638490" cy="540000"/>
          </a:xfrm>
          <a:prstGeom prst="roundRect">
            <a:avLst>
              <a:gd name="adj" fmla="val 11733"/>
            </a:avLst>
          </a:prstGeom>
          <a:solidFill>
            <a:srgbClr val="EFE7FD"/>
          </a:solidFill>
          <a:ln w="15875">
            <a:solidFill>
              <a:srgbClr val="7C3AED"/>
            </a:solidFill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麦克斯韦方程组</a:t>
            </a:r>
          </a:p>
          <a:p>
            <a:pPr algn="ctr"/>
            <a:r>
              <a:rPr sz="1300" b="0" lang="zh-CN" altLang="en-US">
                <a:solidFill>
                  <a:srgbClr val="64748B"/>
                </a:solidFill>
                <a:latin typeface="微软雅黑"/>
                <a:ea typeface="微软雅黑"/>
              </a:rPr>
              <a:t>时变电磁场</a:t>
            </a:r>
          </a:p>
        </p:txBody>
      </p:sp>
      <p:sp>
        <p:nvSpPr>
          <p:cNvPr id="74" name="节点 25"/>
          <p:cNvSpPr/>
          <p:nvPr/>
        </p:nvSpPr>
        <p:spPr>
          <a:xfrm>
            <a:off x="9287334" y="2039049"/>
            <a:ext cx="1224000" cy="540000"/>
          </a:xfrm>
          <a:prstGeom prst="roundRect">
            <a:avLst>
              <a:gd name="adj" fmla="val 11733"/>
            </a:avLst>
          </a:prstGeom>
          <a:solidFill>
            <a:srgbClr val="FBE5EF"/>
          </a:solidFill>
          <a:ln w="15875">
            <a:solidFill>
              <a:srgbClr val="DB2777"/>
            </a:solidFill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波动方程</a:t>
            </a:r>
          </a:p>
          <a:p>
            <a:pPr algn="ctr"/>
            <a:r>
              <a:rPr sz="1300" b="0" lang="zh-CN" altLang="en-US">
                <a:solidFill>
                  <a:srgbClr val="64748B"/>
                </a:solidFill>
                <a:latin typeface="微软雅黑"/>
                <a:ea typeface="微软雅黑"/>
              </a:rPr>
              <a:t>电磁波</a:t>
            </a:r>
          </a:p>
        </p:txBody>
      </p:sp>
      <p:sp>
        <p:nvSpPr>
          <p:cNvPr id="75" name="节点 26"/>
          <p:cNvSpPr/>
          <p:nvPr/>
        </p:nvSpPr>
        <p:spPr>
          <a:xfrm>
            <a:off x="3650483" y="3250449"/>
            <a:ext cx="1841702" cy="414000"/>
          </a:xfrm>
          <a:prstGeom prst="roundRect">
            <a:avLst>
              <a:gd name="adj" fmla="val 15304"/>
            </a:avLst>
          </a:prstGeom>
          <a:solidFill>
            <a:srgbClr val="FBE5EF"/>
          </a:solidFill>
          <a:ln w="15875">
            <a:solidFill>
              <a:srgbClr val="DB2777"/>
            </a:solidFill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高斯定律积分形式</a:t>
            </a:r>
          </a:p>
        </p:txBody>
      </p:sp>
      <p:sp>
        <p:nvSpPr>
          <p:cNvPr id="76" name="节点 27"/>
          <p:cNvSpPr/>
          <p:nvPr/>
        </p:nvSpPr>
        <p:spPr>
          <a:xfrm>
            <a:off x="6212876" y="3250449"/>
            <a:ext cx="2044915" cy="414000"/>
          </a:xfrm>
          <a:prstGeom prst="roundRect">
            <a:avLst>
              <a:gd name="adj" fmla="val 15304"/>
            </a:avLst>
          </a:prstGeom>
          <a:solidFill>
            <a:srgbClr val="FBE5EF"/>
          </a:solidFill>
          <a:ln w="15875">
            <a:solidFill>
              <a:srgbClr val="DB2777"/>
            </a:solidFill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法拉第定律微分形式</a:t>
            </a:r>
          </a:p>
        </p:txBody>
      </p:sp>
      <p:sp>
        <p:nvSpPr>
          <p:cNvPr id="77" name="节点 28"/>
          <p:cNvSpPr/>
          <p:nvPr/>
        </p:nvSpPr>
        <p:spPr>
          <a:xfrm>
            <a:off x="9283302" y="3250449"/>
            <a:ext cx="1232064" cy="414000"/>
          </a:xfrm>
          <a:prstGeom prst="roundRect">
            <a:avLst>
              <a:gd name="adj" fmla="val 15304"/>
            </a:avLst>
          </a:prstGeom>
          <a:solidFill>
            <a:srgbClr val="E3F0E8"/>
          </a:solidFill>
          <a:ln w="15875">
            <a:solidFill>
              <a:srgbClr val="15803D"/>
            </a:solidFill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均匀平面波</a:t>
            </a:r>
          </a:p>
        </p:txBody>
      </p:sp>
      <p:sp>
        <p:nvSpPr>
          <p:cNvPr id="78" name="节点 29"/>
          <p:cNvSpPr/>
          <p:nvPr/>
        </p:nvSpPr>
        <p:spPr>
          <a:xfrm>
            <a:off x="4628876" y="4398849"/>
            <a:ext cx="2044915" cy="414000"/>
          </a:xfrm>
          <a:prstGeom prst="roundRect">
            <a:avLst>
              <a:gd name="adj" fmla="val 15304"/>
            </a:avLst>
          </a:prstGeom>
          <a:solidFill>
            <a:srgbClr val="FBE5EF"/>
          </a:solidFill>
          <a:ln w="15875">
            <a:solidFill>
              <a:srgbClr val="DB2777"/>
            </a:solidFill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法拉第定律积分形式</a:t>
            </a:r>
          </a:p>
        </p:txBody>
      </p:sp>
      <p:sp>
        <p:nvSpPr>
          <p:cNvPr id="79" name="节点 30"/>
          <p:cNvSpPr/>
          <p:nvPr/>
        </p:nvSpPr>
        <p:spPr>
          <a:xfrm>
            <a:off x="8279334" y="4398849"/>
            <a:ext cx="1224000" cy="414000"/>
          </a:xfrm>
          <a:prstGeom prst="roundRect">
            <a:avLst>
              <a:gd name="adj" fmla="val 15304"/>
            </a:avLst>
          </a:prstGeom>
          <a:solidFill>
            <a:srgbClr val="E5ECFD"/>
          </a:solidFill>
          <a:ln w="15875">
            <a:solidFill>
              <a:srgbClr val="2563EB"/>
            </a:solidFill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电磁感应</a:t>
            </a:r>
          </a:p>
        </p:txBody>
      </p:sp>
      <p:sp>
        <p:nvSpPr>
          <p:cNvPr id="80" name="节点 31"/>
          <p:cNvSpPr/>
          <p:nvPr/>
        </p:nvSpPr>
        <p:spPr>
          <a:xfrm>
            <a:off x="1088089" y="3250449"/>
            <a:ext cx="1638490" cy="414000"/>
          </a:xfrm>
          <a:prstGeom prst="roundRect">
            <a:avLst>
              <a:gd name="adj" fmla="val 15304"/>
            </a:avLst>
          </a:prstGeom>
          <a:solidFill>
            <a:srgbClr val="FBE5EF"/>
          </a:solidFill>
          <a:ln w="15875">
            <a:solidFill>
              <a:srgbClr val="DB2777"/>
            </a:solidFill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电流连续性方程</a:t>
            </a:r>
          </a:p>
        </p:txBody>
      </p:sp>
      <p:sp>
        <p:nvSpPr>
          <p:cNvPr id="81" name="节点 32"/>
          <p:cNvSpPr/>
          <p:nvPr/>
        </p:nvSpPr>
        <p:spPr>
          <a:xfrm>
            <a:off x="1295334" y="4398849"/>
            <a:ext cx="1224000" cy="414000"/>
          </a:xfrm>
          <a:prstGeom prst="roundRect">
            <a:avLst>
              <a:gd name="adj" fmla="val 15304"/>
            </a:avLst>
          </a:prstGeom>
          <a:solidFill>
            <a:srgbClr val="E5ECFD"/>
          </a:solidFill>
          <a:ln w="15875">
            <a:solidFill>
              <a:srgbClr val="2563EB"/>
            </a:solidFill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位移电流</a:t>
            </a:r>
          </a:p>
        </p:txBody>
      </p:sp>
      <p:sp>
        <p:nvSpPr>
          <p:cNvPr id="82" name="图例 33"/>
          <p:cNvSpPr/>
          <p:nvPr/>
        </p:nvSpPr>
        <p:spPr>
          <a:xfrm>
            <a:off x="2681334" y="5383449"/>
            <a:ext cx="252000" cy="151200"/>
          </a:xfrm>
          <a:prstGeom prst="roundRect">
            <a:avLst>
              <a:gd name="adj" fmla="val 16666"/>
            </a:avLst>
          </a:prstGeom>
          <a:solidFill>
            <a:srgbClr val="E5ECFD"/>
          </a:solidFill>
          <a:ln w="15875">
            <a:solidFill>
              <a:srgbClr val="2563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文字 34"/>
          <p:cNvSpPr txBox="1"/>
          <p:nvPr/>
        </p:nvSpPr>
        <p:spPr>
          <a:xfrm>
            <a:off x="2987334" y="5351727"/>
            <a:ext cx="438221" cy="21464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3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概念</a:t>
            </a:r>
          </a:p>
        </p:txBody>
      </p:sp>
      <p:sp>
        <p:nvSpPr>
          <p:cNvPr id="84" name="图例 35"/>
          <p:cNvSpPr/>
          <p:nvPr/>
        </p:nvSpPr>
        <p:spPr>
          <a:xfrm>
            <a:off x="3443555" y="5383449"/>
            <a:ext cx="252000" cy="151200"/>
          </a:xfrm>
          <a:prstGeom prst="roundRect">
            <a:avLst>
              <a:gd name="adj" fmla="val 16666"/>
            </a:avLst>
          </a:prstGeom>
          <a:solidFill>
            <a:srgbClr val="EFE7FD"/>
          </a:solidFill>
          <a:ln w="15875">
            <a:solidFill>
              <a:srgbClr val="7C3AE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文字 36"/>
          <p:cNvSpPr txBox="1"/>
          <p:nvPr/>
        </p:nvSpPr>
        <p:spPr>
          <a:xfrm>
            <a:off x="3749555" y="5351727"/>
            <a:ext cx="438221" cy="21464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3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定律</a:t>
            </a:r>
          </a:p>
        </p:txBody>
      </p:sp>
      <p:sp>
        <p:nvSpPr>
          <p:cNvPr id="86" name="图例 37"/>
          <p:cNvSpPr/>
          <p:nvPr/>
        </p:nvSpPr>
        <p:spPr>
          <a:xfrm>
            <a:off x="4205776" y="5383449"/>
            <a:ext cx="252000" cy="151200"/>
          </a:xfrm>
          <a:prstGeom prst="roundRect">
            <a:avLst>
              <a:gd name="adj" fmla="val 16666"/>
            </a:avLst>
          </a:prstGeom>
          <a:solidFill>
            <a:srgbClr val="FBE5EF"/>
          </a:solidFill>
          <a:ln w="15875">
            <a:solidFill>
              <a:srgbClr val="DB277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文字 38"/>
          <p:cNvSpPr txBox="1"/>
          <p:nvPr/>
        </p:nvSpPr>
        <p:spPr>
          <a:xfrm>
            <a:off x="4511776" y="5351727"/>
            <a:ext cx="438221" cy="21464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3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公式</a:t>
            </a:r>
          </a:p>
        </p:txBody>
      </p:sp>
      <p:sp>
        <p:nvSpPr>
          <p:cNvPr id="88" name="图例 39"/>
          <p:cNvSpPr/>
          <p:nvPr/>
        </p:nvSpPr>
        <p:spPr>
          <a:xfrm>
            <a:off x="4967996" y="5383449"/>
            <a:ext cx="252000" cy="151200"/>
          </a:xfrm>
          <a:prstGeom prst="roundRect">
            <a:avLst>
              <a:gd name="adj" fmla="val 16666"/>
            </a:avLst>
          </a:prstGeom>
          <a:solidFill>
            <a:srgbClr val="E3F0E8"/>
          </a:solidFill>
          <a:ln w="15875">
            <a:solidFill>
              <a:srgbClr val="15803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文字 40"/>
          <p:cNvSpPr txBox="1"/>
          <p:nvPr/>
        </p:nvSpPr>
        <p:spPr>
          <a:xfrm>
            <a:off x="5273996" y="5351727"/>
            <a:ext cx="768442" cy="21464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3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工程应用</a:t>
            </a:r>
          </a:p>
        </p:txBody>
      </p:sp>
      <p:cxnSp>
        <p:nvCxnSpPr>
          <p:cNvPr id="90" name="连线 41"/>
          <p:cNvCxnSpPr/>
          <p:nvPr/>
        </p:nvCxnSpPr>
        <p:spPr>
          <a:xfrm>
            <a:off x="6186438" y="5459049"/>
            <a:ext cx="432000" cy="0"/>
          </a:xfrm>
          <a:prstGeom prst="line">
            <a:avLst/>
          </a:prstGeom>
          <a:ln w="13970">
            <a:solidFill>
              <a:srgbClr val="64748B"/>
            </a:solidFill>
            <a:tailEnd type="stealth" w="lg" len="lg"/>
          </a:ln>
        </p:spPr>
      </p:cxnSp>
      <p:sp>
        <p:nvSpPr>
          <p:cNvPr id="91" name="文字 42"/>
          <p:cNvSpPr txBox="1"/>
          <p:nvPr/>
        </p:nvSpPr>
        <p:spPr>
          <a:xfrm>
            <a:off x="6690438" y="5351727"/>
            <a:ext cx="603331" cy="21464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3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有方向</a:t>
            </a:r>
          </a:p>
        </p:txBody>
      </p:sp>
      <p:cxnSp>
        <p:nvCxnSpPr>
          <p:cNvPr id="92" name="连线 43"/>
          <p:cNvCxnSpPr/>
          <p:nvPr/>
        </p:nvCxnSpPr>
        <p:spPr>
          <a:xfrm>
            <a:off x="7410438" y="5459049"/>
            <a:ext cx="432000" cy="0"/>
          </a:xfrm>
          <a:prstGeom prst="line">
            <a:avLst/>
          </a:prstGeom>
          <a:ln w="13970">
            <a:solidFill>
              <a:srgbClr val="64748B"/>
            </a:solidFill>
            <a:prstDash val="dash"/>
          </a:ln>
        </p:spPr>
      </p:cxnSp>
      <p:sp>
        <p:nvSpPr>
          <p:cNvPr id="93" name="文字 44"/>
          <p:cNvSpPr txBox="1"/>
          <p:nvPr/>
        </p:nvSpPr>
        <p:spPr>
          <a:xfrm>
            <a:off x="7914438" y="5351727"/>
            <a:ext cx="603331" cy="21464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3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无方向</a:t>
            </a:r>
          </a:p>
        </p:txBody>
      </p:sp>
      <p:sp>
        <p:nvSpPr>
          <p:cNvPr id="94" name="底色 45"/>
          <p:cNvSpPr/>
          <p:nvPr/>
        </p:nvSpPr>
        <p:spPr>
          <a:xfrm>
            <a:off x="611334" y="5963049"/>
            <a:ext cx="10872000" cy="450000"/>
          </a:xfrm>
          <a:prstGeom prst="roundRect">
            <a:avLst>
              <a:gd name="adj" fmla="val 19760"/>
            </a:avLst>
          </a:prstGeom>
          <a:solidFill>
            <a:srgbClr val="E1EB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文字 46"/>
          <p:cNvSpPr txBox="1"/>
          <p:nvPr/>
        </p:nvSpPr>
        <p:spPr>
          <a:xfrm>
            <a:off x="791334" y="6055961"/>
            <a:ext cx="920851" cy="26417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600" b="1" lang="zh-CN" altLang="en-US">
                <a:solidFill>
                  <a:srgbClr val="0259A0"/>
                </a:solidFill>
                <a:latin typeface="微软雅黑"/>
                <a:ea typeface="微软雅黑"/>
              </a:rPr>
              <a:t>数据示例</a:t>
            </a:r>
          </a:p>
        </p:txBody>
      </p:sp>
      <p:cxnSp>
        <p:nvCxnSpPr>
          <p:cNvPr id="96" name="连线 47"/>
          <p:cNvCxnSpPr/>
          <p:nvPr/>
        </p:nvCxnSpPr>
        <p:spPr>
          <a:xfrm flipV="1">
            <a:off x="1799334" y="6062049"/>
            <a:ext cx="0" cy="252000"/>
          </a:xfrm>
          <a:prstGeom prst="line">
            <a:avLst/>
          </a:prstGeom>
          <a:ln w="12700">
            <a:solidFill>
              <a:srgbClr val="D7E0EC"/>
            </a:solidFill>
          </a:ln>
        </p:spPr>
      </p:cxnSp>
      <p:sp>
        <p:nvSpPr>
          <p:cNvPr id="97" name="文字 48"/>
          <p:cNvSpPr txBox="1"/>
          <p:nvPr/>
        </p:nvSpPr>
        <p:spPr>
          <a:xfrm>
            <a:off x="1943334" y="6055961"/>
            <a:ext cx="5391533" cy="26417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节点下方为所属章节，节点与关系均取自当前整理的知识库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46551" y="640282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线连接符 29"/>
          <p:cNvCxnSpPr/>
          <p:nvPr/>
        </p:nvCxnSpPr>
        <p:spPr>
          <a:xfrm>
            <a:off x="554825" y="1269824"/>
            <a:ext cx="110823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0" y="1"/>
            <a:ext cx="12192000" cy="6730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1" y="-504223"/>
            <a:ext cx="2472973" cy="1391047"/>
          </a:xfrm>
          <a:prstGeom prst="rect">
            <a:avLst/>
          </a:prstGeom>
        </p:spPr>
      </p:pic>
      <p:sp>
        <p:nvSpPr>
          <p:cNvPr id="8" name="页面标题"/>
          <p:cNvSpPr txBox="1"/>
          <p:nvPr/>
        </p:nvSpPr>
        <p:spPr>
          <a:xfrm>
            <a:off x="554681" y="756992"/>
            <a:ext cx="104085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kumimoji="1"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关系整理遵循三条约定，避免重复和含义模糊</a:t>
            </a:r>
            <a:endParaRPr kumimoji="1"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" name="章节标签"/>
          <p:cNvSpPr txBox="1"/>
          <p:nvPr/>
        </p:nvSpPr>
        <p:spPr>
          <a:xfrm>
            <a:off x="8748716" y="90049"/>
            <a:ext cx="34432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知识关系设计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0" name="卡片 1"/>
          <p:cNvSpPr/>
          <p:nvPr/>
        </p:nvSpPr>
        <p:spPr>
          <a:xfrm>
            <a:off x="683334" y="1571049"/>
            <a:ext cx="10728000" cy="1188000"/>
          </a:xfrm>
          <a:prstGeom prst="roundRect">
            <a:avLst>
              <a:gd name="adj" fmla="val 7484"/>
            </a:avLst>
          </a:prstGeom>
          <a:solidFill>
            <a:srgbClr val="FFFFFF"/>
          </a:solidFill>
          <a:ln w="10160">
            <a:solidFill>
              <a:srgbClr val="D7E0EC"/>
            </a:solidFill>
          </a:ln>
          <a:effectLst>
            <a:outerShdw blurRad="50800" dist="19050" dir="5400000" algn="t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1" name="底色 2"/>
          <p:cNvSpPr/>
          <p:nvPr/>
        </p:nvSpPr>
        <p:spPr>
          <a:xfrm>
            <a:off x="683334" y="1571049"/>
            <a:ext cx="3240000" cy="1188000"/>
          </a:xfrm>
          <a:prstGeom prst="roundRect">
            <a:avLst>
              <a:gd name="adj" fmla="val 7484"/>
            </a:avLst>
          </a:prstGeom>
          <a:solidFill>
            <a:srgbClr val="E1EB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序号 3"/>
          <p:cNvSpPr/>
          <p:nvPr/>
        </p:nvSpPr>
        <p:spPr>
          <a:xfrm>
            <a:off x="845334" y="2003049"/>
            <a:ext cx="324000" cy="324000"/>
          </a:xfrm>
          <a:prstGeom prst="ellipse">
            <a:avLst/>
          </a:prstGeom>
          <a:solidFill>
            <a:srgbClr val="0259A0"/>
          </a:solidFill>
          <a:ln>
            <a:noFill/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lang="zh-CN" altLang="en-US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53" name="文字 4"/>
          <p:cNvSpPr txBox="1"/>
          <p:nvPr/>
        </p:nvSpPr>
        <p:spPr>
          <a:xfrm>
            <a:off x="1259334" y="2016450"/>
            <a:ext cx="2165530" cy="297199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800" b="1" lang="zh-CN" altLang="en-US">
                <a:solidFill>
                  <a:srgbClr val="0259A0"/>
                </a:solidFill>
                <a:latin typeface="微软雅黑"/>
                <a:ea typeface="微软雅黑"/>
              </a:rPr>
              <a:t>前置与推导分开记录</a:t>
            </a:r>
          </a:p>
        </p:txBody>
      </p:sp>
      <p:sp>
        <p:nvSpPr>
          <p:cNvPr id="54" name="文字 5"/>
          <p:cNvSpPr txBox="1"/>
          <p:nvPr/>
        </p:nvSpPr>
        <p:spPr>
          <a:xfrm>
            <a:off x="4211334" y="1697049"/>
            <a:ext cx="6984000" cy="936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ts val="2500"/>
              </a:lnSpc>
            </a:pPr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「A 推导出 B」不自动补出「A 是 B 的前置」，需要时两条都写</a:t>
            </a:r>
          </a:p>
        </p:txBody>
      </p:sp>
      <p:sp>
        <p:nvSpPr>
          <p:cNvPr id="55" name="卡片 6"/>
          <p:cNvSpPr/>
          <p:nvPr/>
        </p:nvSpPr>
        <p:spPr>
          <a:xfrm>
            <a:off x="683334" y="2921049"/>
            <a:ext cx="10728000" cy="1188000"/>
          </a:xfrm>
          <a:prstGeom prst="roundRect">
            <a:avLst>
              <a:gd name="adj" fmla="val 7484"/>
            </a:avLst>
          </a:prstGeom>
          <a:solidFill>
            <a:srgbClr val="FFFFFF"/>
          </a:solidFill>
          <a:ln w="10160">
            <a:solidFill>
              <a:srgbClr val="D7E0EC"/>
            </a:solidFill>
          </a:ln>
          <a:effectLst>
            <a:outerShdw blurRad="50800" dist="19050" dir="5400000" algn="t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6" name="底色 7"/>
          <p:cNvSpPr/>
          <p:nvPr/>
        </p:nvSpPr>
        <p:spPr>
          <a:xfrm>
            <a:off x="683334" y="2921049"/>
            <a:ext cx="3240000" cy="1188000"/>
          </a:xfrm>
          <a:prstGeom prst="roundRect">
            <a:avLst>
              <a:gd name="adj" fmla="val 7484"/>
            </a:avLst>
          </a:prstGeom>
          <a:solidFill>
            <a:srgbClr val="E1EB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序号 8"/>
          <p:cNvSpPr/>
          <p:nvPr/>
        </p:nvSpPr>
        <p:spPr>
          <a:xfrm>
            <a:off x="845334" y="3353049"/>
            <a:ext cx="324000" cy="324000"/>
          </a:xfrm>
          <a:prstGeom prst="ellipse">
            <a:avLst/>
          </a:prstGeom>
          <a:solidFill>
            <a:srgbClr val="0259A0"/>
          </a:solidFill>
          <a:ln>
            <a:noFill/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lang="zh-CN" altLang="en-US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58" name="文字 9"/>
          <p:cNvSpPr txBox="1"/>
          <p:nvPr/>
        </p:nvSpPr>
        <p:spPr>
          <a:xfrm>
            <a:off x="1259334" y="3366450"/>
            <a:ext cx="2165530" cy="297199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800" b="1" lang="zh-CN" altLang="en-US">
                <a:solidFill>
                  <a:srgbClr val="0259A0"/>
                </a:solidFill>
                <a:latin typeface="微软雅黑"/>
                <a:ea typeface="微软雅黑"/>
              </a:rPr>
              <a:t>无方向的关系要少用</a:t>
            </a:r>
          </a:p>
        </p:txBody>
      </p:sp>
      <p:sp>
        <p:nvSpPr>
          <p:cNvPr id="59" name="文字 10"/>
          <p:cNvSpPr txBox="1"/>
          <p:nvPr/>
        </p:nvSpPr>
        <p:spPr>
          <a:xfrm>
            <a:off x="4211334" y="3047049"/>
            <a:ext cx="6984000" cy="936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ts val="2500"/>
              </a:lnSpc>
            </a:pPr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「等价于」只用于完全等价；「相关」只在排除其他类型后才用</a:t>
            </a:r>
          </a:p>
        </p:txBody>
      </p:sp>
      <p:sp>
        <p:nvSpPr>
          <p:cNvPr id="60" name="卡片 11"/>
          <p:cNvSpPr/>
          <p:nvPr/>
        </p:nvSpPr>
        <p:spPr>
          <a:xfrm>
            <a:off x="683334" y="4271049"/>
            <a:ext cx="10728000" cy="1188000"/>
          </a:xfrm>
          <a:prstGeom prst="roundRect">
            <a:avLst>
              <a:gd name="adj" fmla="val 7484"/>
            </a:avLst>
          </a:prstGeom>
          <a:solidFill>
            <a:srgbClr val="FFFFFF"/>
          </a:solidFill>
          <a:ln w="10160">
            <a:solidFill>
              <a:srgbClr val="D7E0EC"/>
            </a:solidFill>
          </a:ln>
          <a:effectLst>
            <a:outerShdw blurRad="50800" dist="19050" dir="5400000" algn="t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1" name="底色 12"/>
          <p:cNvSpPr/>
          <p:nvPr/>
        </p:nvSpPr>
        <p:spPr>
          <a:xfrm>
            <a:off x="683334" y="4271049"/>
            <a:ext cx="3240000" cy="1188000"/>
          </a:xfrm>
          <a:prstGeom prst="roundRect">
            <a:avLst>
              <a:gd name="adj" fmla="val 7484"/>
            </a:avLst>
          </a:prstGeom>
          <a:solidFill>
            <a:srgbClr val="E1EB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序号 13"/>
          <p:cNvSpPr/>
          <p:nvPr/>
        </p:nvSpPr>
        <p:spPr>
          <a:xfrm>
            <a:off x="845334" y="4703049"/>
            <a:ext cx="324000" cy="324000"/>
          </a:xfrm>
          <a:prstGeom prst="ellipse">
            <a:avLst/>
          </a:prstGeom>
          <a:solidFill>
            <a:srgbClr val="0259A0"/>
          </a:solidFill>
          <a:ln>
            <a:noFill/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lang="zh-CN" altLang="en-US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63" name="文字 14"/>
          <p:cNvSpPr txBox="1"/>
          <p:nvPr/>
        </p:nvSpPr>
        <p:spPr>
          <a:xfrm>
            <a:off x="1259334" y="4716450"/>
            <a:ext cx="2165530" cy="297199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800" b="1" lang="zh-CN" altLang="en-US">
                <a:solidFill>
                  <a:srgbClr val="0259A0"/>
                </a:solidFill>
                <a:latin typeface="微软雅黑"/>
                <a:ea typeface="微软雅黑"/>
              </a:rPr>
              <a:t>同一事实不重复记录</a:t>
            </a:r>
          </a:p>
        </p:txBody>
      </p:sp>
      <p:sp>
        <p:nvSpPr>
          <p:cNvPr id="64" name="文字 15"/>
          <p:cNvSpPr txBox="1"/>
          <p:nvPr/>
        </p:nvSpPr>
        <p:spPr>
          <a:xfrm>
            <a:off x="4211334" y="4397049"/>
            <a:ext cx="6984000" cy="936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ts val="2500"/>
              </a:lnSpc>
            </a:pPr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所属章节、公式变量已经说明的事，不再另建关系</a:t>
            </a:r>
          </a:p>
        </p:txBody>
      </p:sp>
      <p:sp>
        <p:nvSpPr>
          <p:cNvPr id="65" name="底色 16"/>
          <p:cNvSpPr/>
          <p:nvPr/>
        </p:nvSpPr>
        <p:spPr>
          <a:xfrm>
            <a:off x="611334" y="5963049"/>
            <a:ext cx="10872000" cy="450000"/>
          </a:xfrm>
          <a:prstGeom prst="roundRect">
            <a:avLst>
              <a:gd name="adj" fmla="val 19760"/>
            </a:avLst>
          </a:prstGeom>
          <a:solidFill>
            <a:srgbClr val="E1EB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文字 17"/>
          <p:cNvSpPr txBox="1"/>
          <p:nvPr/>
        </p:nvSpPr>
        <p:spPr>
          <a:xfrm>
            <a:off x="791334" y="6055961"/>
            <a:ext cx="920851" cy="26417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600" b="1" lang="zh-CN" altLang="en-US">
                <a:solidFill>
                  <a:srgbClr val="0259A0"/>
                </a:solidFill>
                <a:latin typeface="微软雅黑"/>
                <a:ea typeface="微软雅黑"/>
              </a:rPr>
              <a:t>设计调整</a:t>
            </a:r>
          </a:p>
        </p:txBody>
      </p:sp>
      <p:cxnSp>
        <p:nvCxnSpPr>
          <p:cNvPr id="67" name="连线 18"/>
          <p:cNvCxnSpPr/>
          <p:nvPr/>
        </p:nvCxnSpPr>
        <p:spPr>
          <a:xfrm flipV="1">
            <a:off x="1799334" y="6062049"/>
            <a:ext cx="0" cy="252000"/>
          </a:xfrm>
          <a:prstGeom prst="line">
            <a:avLst/>
          </a:prstGeom>
          <a:ln w="12700">
            <a:solidFill>
              <a:srgbClr val="D7E0EC"/>
            </a:solidFill>
          </a:ln>
        </p:spPr>
      </p:cxnSp>
      <p:sp>
        <p:nvSpPr>
          <p:cNvPr id="68" name="文字 19"/>
          <p:cNvSpPr txBox="1"/>
          <p:nvPr/>
        </p:nvSpPr>
        <p:spPr>
          <a:xfrm>
            <a:off x="1943334" y="6055961"/>
            <a:ext cx="7423661" cy="26417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去掉了最初的「包含」关系：它的用法已被所属章节、「表达为」和「相关」覆盖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6" name="直线连接符 5"/>
          <p:cNvCxnSpPr/>
          <p:nvPr/>
        </p:nvCxnSpPr>
        <p:spPr>
          <a:xfrm>
            <a:off x="1587829" y="2385773"/>
            <a:ext cx="0" cy="2087198"/>
          </a:xfrm>
          <a:prstGeom prst="line">
            <a:avLst/>
          </a:prstGeom>
          <a:ln w="28575">
            <a:solidFill>
              <a:schemeClr val="accent1">
                <a:alpha val="6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章节标题"/>
          <p:cNvSpPr txBox="1"/>
          <p:nvPr/>
        </p:nvSpPr>
        <p:spPr>
          <a:xfrm>
            <a:off x="1989455" y="2583180"/>
            <a:ext cx="910399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五、数据校验</a:t>
            </a:r>
          </a:p>
        </p:txBody>
      </p:sp>
      <p:sp>
        <p:nvSpPr>
          <p:cNvPr id="14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46551" y="640282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1"/>
            <a:ext cx="12192000" cy="6730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1" y="-504223"/>
            <a:ext cx="2472973" cy="139104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46551" y="640282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线连接符 29"/>
          <p:cNvCxnSpPr/>
          <p:nvPr/>
        </p:nvCxnSpPr>
        <p:spPr>
          <a:xfrm>
            <a:off x="554825" y="1269824"/>
            <a:ext cx="110823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0" y="1"/>
            <a:ext cx="12192000" cy="6730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1" y="-504223"/>
            <a:ext cx="2472973" cy="1391047"/>
          </a:xfrm>
          <a:prstGeom prst="rect">
            <a:avLst/>
          </a:prstGeom>
        </p:spPr>
      </p:pic>
      <p:sp>
        <p:nvSpPr>
          <p:cNvPr id="8" name="页面标题"/>
          <p:cNvSpPr txBox="1"/>
          <p:nvPr/>
        </p:nvSpPr>
        <p:spPr>
          <a:xfrm>
            <a:off x="554681" y="756992"/>
            <a:ext cx="104085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kumimoji="1"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启动时逐项检查 20 条规则，出错直接报出位置</a:t>
            </a:r>
            <a:endParaRPr kumimoji="1"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" name="章节标签"/>
          <p:cNvSpPr txBox="1"/>
          <p:nvPr/>
        </p:nvSpPr>
        <p:spPr>
          <a:xfrm>
            <a:off x="8748716" y="90049"/>
            <a:ext cx="34432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数据校验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0" name="卡片 1"/>
          <p:cNvSpPr/>
          <p:nvPr/>
        </p:nvSpPr>
        <p:spPr>
          <a:xfrm>
            <a:off x="683334" y="1571049"/>
            <a:ext cx="10728000" cy="1800000"/>
          </a:xfrm>
          <a:prstGeom prst="roundRect">
            <a:avLst>
              <a:gd name="adj" fmla="val 4940"/>
            </a:avLst>
          </a:prstGeom>
          <a:solidFill>
            <a:srgbClr val="FFFFFF"/>
          </a:solidFill>
          <a:ln w="10160">
            <a:solidFill>
              <a:srgbClr val="D7E0EC"/>
            </a:solidFill>
          </a:ln>
          <a:effectLst>
            <a:outerShdw blurRad="50800" dist="19050" dir="5400000" algn="t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1" name="节点 2"/>
          <p:cNvSpPr/>
          <p:nvPr/>
        </p:nvSpPr>
        <p:spPr>
          <a:xfrm>
            <a:off x="1079334" y="2093049"/>
            <a:ext cx="1656000" cy="540000"/>
          </a:xfrm>
          <a:prstGeom prst="roundRect">
            <a:avLst>
              <a:gd name="adj" fmla="val 11733"/>
            </a:avLst>
          </a:prstGeom>
          <a:solidFill>
            <a:srgbClr val="E1EBF4"/>
          </a:solidFill>
          <a:ln w="15875">
            <a:solidFill>
              <a:srgbClr val="0259A0"/>
            </a:solidFill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人工整理</a:t>
            </a:r>
          </a:p>
          <a:p>
            <a:pPr algn="ctr"/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课程知识</a:t>
            </a:r>
          </a:p>
        </p:txBody>
      </p:sp>
      <p:sp>
        <p:nvSpPr>
          <p:cNvPr id="52" name="节点 3"/>
          <p:cNvSpPr/>
          <p:nvPr/>
        </p:nvSpPr>
        <p:spPr>
          <a:xfrm>
            <a:off x="3239334" y="2093049"/>
            <a:ext cx="1656000" cy="540000"/>
          </a:xfrm>
          <a:prstGeom prst="roundRect">
            <a:avLst>
              <a:gd name="adj" fmla="val 11733"/>
            </a:avLst>
          </a:prstGeom>
          <a:solidFill>
            <a:srgbClr val="E1EBF4"/>
          </a:solidFill>
          <a:ln w="15875">
            <a:solidFill>
              <a:srgbClr val="0259A0"/>
            </a:solidFill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系统启动</a:t>
            </a:r>
          </a:p>
          <a:p>
            <a:pPr algn="ctr"/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读取知识库</a:t>
            </a:r>
          </a:p>
        </p:txBody>
      </p:sp>
      <p:sp>
        <p:nvSpPr>
          <p:cNvPr id="53" name="判断 4"/>
          <p:cNvSpPr/>
          <p:nvPr/>
        </p:nvSpPr>
        <p:spPr>
          <a:xfrm>
            <a:off x="5363334" y="1949049"/>
            <a:ext cx="1584000" cy="828000"/>
          </a:xfrm>
          <a:prstGeom prst="diamond">
            <a:avLst/>
          </a:prstGeom>
          <a:solidFill>
            <a:srgbClr val="FCEEE2"/>
          </a:solidFill>
          <a:ln w="15875">
            <a:solidFill>
              <a:srgbClr val="E8710A"/>
            </a:solidFill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600" b="1" lang="zh-CN" altLang="en-US">
                <a:solidFill>
                  <a:srgbClr val="C2410C"/>
                </a:solidFill>
                <a:latin typeface="微软雅黑"/>
                <a:ea typeface="微软雅黑"/>
              </a:rPr>
              <a:t>20 条检查</a:t>
            </a:r>
          </a:p>
        </p:txBody>
      </p:sp>
      <p:sp>
        <p:nvSpPr>
          <p:cNvPr id="54" name="节点 5"/>
          <p:cNvSpPr/>
          <p:nvPr/>
        </p:nvSpPr>
        <p:spPr>
          <a:xfrm>
            <a:off x="8171334" y="1769049"/>
            <a:ext cx="2088000" cy="504000"/>
          </a:xfrm>
          <a:prstGeom prst="roundRect">
            <a:avLst>
              <a:gd name="adj" fmla="val 12571"/>
            </a:avLst>
          </a:prstGeom>
          <a:solidFill>
            <a:srgbClr val="E1EBF4"/>
          </a:solidFill>
          <a:ln w="15875">
            <a:solidFill>
              <a:srgbClr val="0259A0"/>
            </a:solidFill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正常提供查询和问答</a:t>
            </a:r>
          </a:p>
        </p:txBody>
      </p:sp>
      <p:sp>
        <p:nvSpPr>
          <p:cNvPr id="55" name="节点 6"/>
          <p:cNvSpPr/>
          <p:nvPr/>
        </p:nvSpPr>
        <p:spPr>
          <a:xfrm>
            <a:off x="8171334" y="2489049"/>
            <a:ext cx="2088000" cy="504000"/>
          </a:xfrm>
          <a:prstGeom prst="roundRect">
            <a:avLst>
              <a:gd name="adj" fmla="val 12571"/>
            </a:avLst>
          </a:prstGeom>
          <a:solidFill>
            <a:srgbClr val="F7E0E0"/>
          </a:solidFill>
          <a:ln w="15875">
            <a:solidFill>
              <a:srgbClr val="C00000"/>
            </a:solidFill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报错并指出具体位置</a:t>
            </a:r>
          </a:p>
        </p:txBody>
      </p:sp>
      <p:cxnSp>
        <p:nvCxnSpPr>
          <p:cNvPr id="56" name="连线 7"/>
          <p:cNvCxnSpPr/>
          <p:nvPr/>
        </p:nvCxnSpPr>
        <p:spPr>
          <a:xfrm>
            <a:off x="2735334" y="2363049"/>
            <a:ext cx="504000" cy="0"/>
          </a:xfrm>
          <a:prstGeom prst="line">
            <a:avLst/>
          </a:prstGeom>
          <a:ln w="13970">
            <a:solidFill>
              <a:srgbClr val="64748B"/>
            </a:solidFill>
            <a:tailEnd type="stealth" w="lg" len="lg"/>
          </a:ln>
        </p:spPr>
      </p:cxnSp>
      <p:cxnSp>
        <p:nvCxnSpPr>
          <p:cNvPr id="57" name="连线 8"/>
          <p:cNvCxnSpPr/>
          <p:nvPr/>
        </p:nvCxnSpPr>
        <p:spPr>
          <a:xfrm>
            <a:off x="4895334" y="2363049"/>
            <a:ext cx="468000" cy="0"/>
          </a:xfrm>
          <a:prstGeom prst="line">
            <a:avLst/>
          </a:prstGeom>
          <a:ln w="13970">
            <a:solidFill>
              <a:srgbClr val="64748B"/>
            </a:solidFill>
            <a:tailEnd type="stealth" w="lg" len="lg"/>
          </a:ln>
        </p:spPr>
      </p:cxnSp>
      <p:cxnSp>
        <p:nvCxnSpPr>
          <p:cNvPr id="58" name="连线 9"/>
          <p:cNvCxnSpPr/>
          <p:nvPr/>
        </p:nvCxnSpPr>
        <p:spPr>
          <a:xfrm>
            <a:off x="6947334" y="2363049"/>
            <a:ext cx="396000" cy="0"/>
          </a:xfrm>
          <a:prstGeom prst="line">
            <a:avLst/>
          </a:prstGeom>
          <a:ln w="13970">
            <a:solidFill>
              <a:srgbClr val="64748B"/>
            </a:solidFill>
          </a:ln>
        </p:spPr>
      </p:cxnSp>
      <p:sp>
        <p:nvSpPr>
          <p:cNvPr id="4" name="折线 10"/>
          <p:cNvSpPr/>
          <p:nvPr/>
        </p:nvSpPr>
        <p:spPr>
          <a:xfrm>
            <a:off x="7343334" y="2021049"/>
            <a:ext cx="828000" cy="342000"/>
          </a:xfrm>
          <a:custGeom>
            <a:avLst/>
            <a:gdLst/>
            <a:ahLst/>
            <a:cxnLst/>
            <a:rect l="l" t="t" r="r" b="b"/>
            <a:pathLst>
              <a:path w="828000" h="342000">
                <a:moveTo>
                  <a:pt x="0" y="342000"/>
                </a:moveTo>
                <a:lnTo>
                  <a:pt x="0" y="0"/>
                </a:lnTo>
                <a:lnTo>
                  <a:pt x="828000" y="0"/>
                </a:lnTo>
              </a:path>
            </a:pathLst>
          </a:custGeom>
          <a:noFill/>
          <a:ln w="13970">
            <a:solidFill>
              <a:srgbClr val="0259A0"/>
            </a:solidFill>
            <a:tailEnd type="stealth" w="lg" len="lg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折线 11"/>
          <p:cNvSpPr/>
          <p:nvPr/>
        </p:nvSpPr>
        <p:spPr>
          <a:xfrm>
            <a:off x="7343334" y="2363049"/>
            <a:ext cx="828000" cy="378000"/>
          </a:xfrm>
          <a:custGeom>
            <a:avLst/>
            <a:gdLst/>
            <a:ahLst/>
            <a:cxnLst/>
            <a:rect l="l" t="t" r="r" b="b"/>
            <a:pathLst>
              <a:path w="828000" h="378000">
                <a:moveTo>
                  <a:pt x="0" y="0"/>
                </a:moveTo>
                <a:lnTo>
                  <a:pt x="0" y="378000"/>
                </a:lnTo>
                <a:lnTo>
                  <a:pt x="828000" y="378000"/>
                </a:lnTo>
              </a:path>
            </a:pathLst>
          </a:custGeom>
          <a:noFill/>
          <a:ln w="13970">
            <a:solidFill>
              <a:srgbClr val="C00000"/>
            </a:solidFill>
            <a:tailEnd type="stealth" w="lg" len="lg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连线说明 12"/>
          <p:cNvSpPr txBox="1"/>
          <p:nvPr/>
        </p:nvSpPr>
        <p:spPr>
          <a:xfrm>
            <a:off x="7547224" y="1758399"/>
            <a:ext cx="420221" cy="222899"/>
          </a:xfrm>
          <a:prstGeom prst="rect">
            <a:avLst/>
          </a:prstGeom>
          <a:solidFill>
            <a:srgbClr val="FFFFFF"/>
          </a:solidFill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300" b="0" lang="zh-CN" altLang="en-US">
                <a:solidFill>
                  <a:srgbClr val="1E293B"/>
                </a:solidFill>
                <a:latin typeface="微软雅黑"/>
                <a:ea typeface="微软雅黑"/>
              </a:rPr>
              <a:t>通过</a:t>
            </a:r>
          </a:p>
        </p:txBody>
      </p:sp>
      <p:sp>
        <p:nvSpPr>
          <p:cNvPr id="60" name="连线说明 13"/>
          <p:cNvSpPr txBox="1"/>
          <p:nvPr/>
        </p:nvSpPr>
        <p:spPr>
          <a:xfrm>
            <a:off x="7464668" y="2478399"/>
            <a:ext cx="585331" cy="222899"/>
          </a:xfrm>
          <a:prstGeom prst="rect">
            <a:avLst/>
          </a:prstGeom>
          <a:solidFill>
            <a:srgbClr val="FFFFFF"/>
          </a:solidFill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300" b="0" lang="zh-CN" altLang="en-US">
                <a:solidFill>
                  <a:srgbClr val="1E293B"/>
                </a:solidFill>
                <a:latin typeface="微软雅黑"/>
                <a:ea typeface="微软雅黑"/>
              </a:rPr>
              <a:t>不通过</a:t>
            </a:r>
          </a:p>
        </p:txBody>
      </p:sp>
      <p:sp>
        <p:nvSpPr>
          <p:cNvPr id="7" name="折线 14"/>
          <p:cNvSpPr/>
          <p:nvPr/>
        </p:nvSpPr>
        <p:spPr>
          <a:xfrm>
            <a:off x="1907334" y="2633049"/>
            <a:ext cx="7308000" cy="558000"/>
          </a:xfrm>
          <a:custGeom>
            <a:avLst/>
            <a:gdLst/>
            <a:ahLst/>
            <a:cxnLst/>
            <a:rect l="l" t="t" r="r" b="b"/>
            <a:pathLst>
              <a:path w="7308000" h="558000">
                <a:moveTo>
                  <a:pt x="7308000" y="360000"/>
                </a:moveTo>
                <a:lnTo>
                  <a:pt x="7308000" y="558000"/>
                </a:lnTo>
                <a:lnTo>
                  <a:pt x="0" y="558000"/>
                </a:lnTo>
                <a:lnTo>
                  <a:pt x="0" y="0"/>
                </a:lnTo>
              </a:path>
            </a:pathLst>
          </a:custGeom>
          <a:noFill/>
          <a:ln w="13970">
            <a:solidFill>
              <a:srgbClr val="C00000"/>
            </a:solidFill>
            <a:prstDash val="dash"/>
            <a:tailEnd type="stealth" w="lg" len="lg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连线说明 15"/>
          <p:cNvSpPr txBox="1"/>
          <p:nvPr/>
        </p:nvSpPr>
        <p:spPr>
          <a:xfrm>
            <a:off x="4884448" y="3079599"/>
            <a:ext cx="1245773" cy="222899"/>
          </a:xfrm>
          <a:prstGeom prst="rect">
            <a:avLst/>
          </a:prstGeom>
          <a:solidFill>
            <a:srgbClr val="FFFFFF"/>
          </a:solidFill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300" b="0" lang="zh-CN" altLang="en-US">
                <a:solidFill>
                  <a:srgbClr val="1E293B"/>
                </a:solidFill>
                <a:latin typeface="微软雅黑"/>
                <a:ea typeface="微软雅黑"/>
              </a:rPr>
              <a:t>修改后重新启动</a:t>
            </a:r>
          </a:p>
        </p:txBody>
      </p:sp>
      <p:sp>
        <p:nvSpPr>
          <p:cNvPr id="62" name="卡片 16"/>
          <p:cNvSpPr/>
          <p:nvPr/>
        </p:nvSpPr>
        <p:spPr>
          <a:xfrm>
            <a:off x="683334" y="3551049"/>
            <a:ext cx="5472000" cy="2304000"/>
          </a:xfrm>
          <a:prstGeom prst="roundRect">
            <a:avLst>
              <a:gd name="adj" fmla="val 3859"/>
            </a:avLst>
          </a:prstGeom>
          <a:solidFill>
            <a:srgbClr val="FFFFFF"/>
          </a:solidFill>
          <a:ln w="10160">
            <a:solidFill>
              <a:srgbClr val="D7E0EC"/>
            </a:solidFill>
          </a:ln>
          <a:effectLst>
            <a:outerShdw blurRad="50800" dist="19050" dir="5400000" algn="t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3" name="标题条 17"/>
          <p:cNvSpPr/>
          <p:nvPr/>
        </p:nvSpPr>
        <p:spPr>
          <a:xfrm>
            <a:off x="683334" y="3551049"/>
            <a:ext cx="5472000" cy="396000"/>
          </a:xfrm>
          <a:prstGeom prst="round2SameRect">
            <a:avLst>
              <a:gd name="adj1" fmla="val 22454"/>
              <a:gd name="adj2" fmla="val 0"/>
            </a:avLst>
          </a:prstGeom>
          <a:solidFill>
            <a:srgbClr val="0259A0"/>
          </a:solidFill>
          <a:ln>
            <a:noFill/>
          </a:ln>
        </p:spPr>
        <p:txBody>
          <a:bodyPr rtlCol="0" anchor="ctr" wrap="none" lIns="180000" rIns="108000" tIns="0" bIns="0">
            <a:noAutofit/>
          </a:bodyPr>
          <a:lstStyle/>
          <a:p>
            <a:pPr algn="l"/>
            <a:r>
              <a:rPr sz="1800" b="1" lang="zh-CN" altLang="en-US">
                <a:solidFill>
                  <a:srgbClr val="FFFFFF"/>
                </a:solidFill>
                <a:latin typeface="微软雅黑"/>
                <a:ea typeface="微软雅黑"/>
              </a:rPr>
              <a:t>四类检查规则</a:t>
            </a:r>
          </a:p>
        </p:txBody>
      </p:sp>
      <p:graphicFrame>
        <p:nvGraphicFramePr>
          <p:cNvPr id="64" name="表格 18"/>
          <p:cNvGraphicFramePr>
            <a:graphicFrameLocks noGrp="1"/>
          </p:cNvGraphicFramePr>
          <p:nvPr/>
        </p:nvGraphicFramePr>
        <p:xfrm>
          <a:off x="863334" y="4055049"/>
          <a:ext cx="5112000" cy="1728000"/>
        </p:xfrm>
        <a:graphic>
          <a:graphicData uri="http://schemas.openxmlformats.org/drawingml/2006/table">
            <a:tbl>
              <a:tblPr firstRow="0" bandRow="0"/>
              <a:tblGrid>
                <a:gridCol w="1440000"/>
                <a:gridCol w="3672000"/>
              </a:tblGrid>
              <a:tr h="432000"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/>
                      <a:r>
                        <a:rPr sz="1600" b="1" lang="zh-CN" altLang="en-US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编号是否唯一</a:t>
                      </a:r>
                    </a:p>
                  </a:txBody>
                  <a:tcPr marL="0" marR="72000" marT="18000" marB="18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>
                      <a:solidFill>
                        <a:srgbClr val="D7E0EC"/>
                      </a:solidFill>
                    </a:lnB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/>
                      <a:r>
                        <a:rPr sz="1600" b="0" lang="zh-CN" altLang="en-US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编号不重复；不重复建同类关系</a:t>
                      </a:r>
                    </a:p>
                  </a:txBody>
                  <a:tcPr marL="0" marR="72000" marT="18000" marB="18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>
                      <a:solidFill>
                        <a:srgbClr val="D7E0EC"/>
                      </a:solidFill>
                    </a:lnB>
                  </a:tcPr>
                </a:tc>
              </a:tr>
              <a:tr h="432000"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/>
                      <a:r>
                        <a:rPr sz="1600" b="1" lang="zh-CN" altLang="en-US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引用是否存在</a:t>
                      </a:r>
                    </a:p>
                  </a:txBody>
                  <a:tcPr marL="0" marR="72000" marT="18000" marB="18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>
                      <a:solidFill>
                        <a:srgbClr val="D7E0EC"/>
                      </a:solidFill>
                    </a:lnB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/>
                      <a:r>
                        <a:rPr sz="1600" b="0" lang="zh-CN" altLang="en-US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所属章节、关系两端必须存在</a:t>
                      </a:r>
                    </a:p>
                  </a:txBody>
                  <a:tcPr marL="0" marR="72000" marT="18000" marB="18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>
                      <a:solidFill>
                        <a:srgbClr val="D7E0EC"/>
                      </a:solidFill>
                    </a:lnB>
                  </a:tcPr>
                </a:tc>
              </a:tr>
              <a:tr h="432000"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/>
                      <a:r>
                        <a:rPr sz="1600" b="1" lang="zh-CN" altLang="en-US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内容是否匹配</a:t>
                      </a:r>
                    </a:p>
                  </a:txBody>
                  <a:tcPr marL="0" marR="72000" marT="18000" marB="18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>
                      <a:solidFill>
                        <a:srgbClr val="D7E0EC"/>
                      </a:solidFill>
                    </a:lnB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/>
                      <a:r>
                        <a:rPr sz="1600" b="0" lang="zh-CN" altLang="en-US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专有内容与类型对应</a:t>
                      </a:r>
                    </a:p>
                  </a:txBody>
                  <a:tcPr marL="0" marR="72000" marT="18000" marB="18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>
                      <a:solidFill>
                        <a:srgbClr val="D7E0EC"/>
                      </a:solidFill>
                    </a:lnB>
                  </a:tcPr>
                </a:tc>
              </a:tr>
              <a:tr h="432000"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/>
                      <a:r>
                        <a:rPr sz="1600" b="1" lang="zh-CN" altLang="en-US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</a:rPr>
                        <a:t>取值是否一致</a:t>
                      </a:r>
                    </a:p>
                  </a:txBody>
                  <a:tcPr marL="0" marR="72000" marT="18000" marB="18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</a:tcPr>
                </a:tc>
                <a:tc>
                  <a:txBody>
                    <a:bodyPr wrap="square" anchor="ctr" lIns="0" rIns="0" tIns="0" bIns="0">
                      <a:noAutofit/>
                    </a:bodyPr>
                    <a:lstStyle/>
                    <a:p>
                      <a:pPr algn="l"/>
                      <a:r>
                        <a:rPr sz="1600" b="0" lang="zh-CN" altLang="en-US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</a:rPr>
                        <a:t>变量名称、单位与物理量一致</a:t>
                      </a:r>
                    </a:p>
                  </a:txBody>
                  <a:tcPr marL="0" marR="72000" marT="18000" marB="18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5" name="文字 19"/>
          <p:cNvSpPr txBox="1"/>
          <p:nvPr/>
        </p:nvSpPr>
        <p:spPr>
          <a:xfrm>
            <a:off x="6371334" y="3551049"/>
            <a:ext cx="2064558" cy="2146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00" b="1" lang="zh-CN" altLang="en-US">
                <a:solidFill>
                  <a:srgbClr val="64748B"/>
                </a:solidFill>
                <a:latin typeface="微软雅黑"/>
                <a:ea typeface="微软雅黑"/>
              </a:rPr>
              <a:t>实际报错：B 的单位写错时</a:t>
            </a:r>
          </a:p>
        </p:txBody>
      </p:sp>
      <p:pic>
        <p:nvPicPr>
          <p:cNvPr id="66" name="截图 20" descr="validation_err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334" y="3803049"/>
            <a:ext cx="5053584" cy="1551432"/>
          </a:xfrm>
          <a:prstGeom prst="rect">
            <a:avLst/>
          </a:prstGeom>
        </p:spPr>
      </p:pic>
      <p:sp>
        <p:nvSpPr>
          <p:cNvPr id="67" name="底色 21"/>
          <p:cNvSpPr/>
          <p:nvPr/>
        </p:nvSpPr>
        <p:spPr>
          <a:xfrm>
            <a:off x="611334" y="5963049"/>
            <a:ext cx="10872000" cy="450000"/>
          </a:xfrm>
          <a:prstGeom prst="roundRect">
            <a:avLst>
              <a:gd name="adj" fmla="val 19760"/>
            </a:avLst>
          </a:prstGeom>
          <a:solidFill>
            <a:srgbClr val="E1EB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文字 22"/>
          <p:cNvSpPr txBox="1"/>
          <p:nvPr/>
        </p:nvSpPr>
        <p:spPr>
          <a:xfrm>
            <a:off x="791334" y="6055961"/>
            <a:ext cx="920851" cy="26417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600" b="1" lang="zh-CN" altLang="en-US">
                <a:solidFill>
                  <a:srgbClr val="0259A0"/>
                </a:solidFill>
                <a:latin typeface="微软雅黑"/>
                <a:ea typeface="微软雅黑"/>
              </a:rPr>
              <a:t>人工审核</a:t>
            </a:r>
          </a:p>
        </p:txBody>
      </p:sp>
      <p:cxnSp>
        <p:nvCxnSpPr>
          <p:cNvPr id="69" name="连线 23"/>
          <p:cNvCxnSpPr/>
          <p:nvPr/>
        </p:nvCxnSpPr>
        <p:spPr>
          <a:xfrm flipV="1">
            <a:off x="1799334" y="6062049"/>
            <a:ext cx="0" cy="252000"/>
          </a:xfrm>
          <a:prstGeom prst="line">
            <a:avLst/>
          </a:prstGeom>
          <a:ln w="12700">
            <a:solidFill>
              <a:srgbClr val="D7E0EC"/>
            </a:solidFill>
          </a:ln>
        </p:spPr>
      </p:cxnSp>
      <p:sp>
        <p:nvSpPr>
          <p:cNvPr id="70" name="文字 24"/>
          <p:cNvSpPr txBox="1"/>
          <p:nvPr/>
        </p:nvSpPr>
        <p:spPr>
          <a:xfrm>
            <a:off x="1943334" y="6055961"/>
            <a:ext cx="5797958" cy="26417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内容是否符合教材、关系方向是否写反，仍需对照教材逐条确认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6" name="直线连接符 5"/>
          <p:cNvCxnSpPr/>
          <p:nvPr/>
        </p:nvCxnSpPr>
        <p:spPr>
          <a:xfrm>
            <a:off x="1587829" y="2385773"/>
            <a:ext cx="0" cy="2087198"/>
          </a:xfrm>
          <a:prstGeom prst="line">
            <a:avLst/>
          </a:prstGeom>
          <a:ln w="28575">
            <a:solidFill>
              <a:schemeClr val="accent1">
                <a:alpha val="6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章节标题"/>
          <p:cNvSpPr txBox="1"/>
          <p:nvPr/>
        </p:nvSpPr>
        <p:spPr>
          <a:xfrm>
            <a:off x="1989455" y="2583180"/>
            <a:ext cx="910399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六、后续计划</a:t>
            </a:r>
          </a:p>
        </p:txBody>
      </p:sp>
      <p:sp>
        <p:nvSpPr>
          <p:cNvPr id="14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46551" y="640282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1"/>
            <a:ext cx="12192000" cy="6730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1" y="-504223"/>
            <a:ext cx="2472973" cy="139104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46551" y="640282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线连接符 29"/>
          <p:cNvCxnSpPr/>
          <p:nvPr/>
        </p:nvCxnSpPr>
        <p:spPr>
          <a:xfrm>
            <a:off x="554825" y="1269824"/>
            <a:ext cx="110823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0" y="1"/>
            <a:ext cx="12192000" cy="6730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1" y="-504223"/>
            <a:ext cx="2472973" cy="1391047"/>
          </a:xfrm>
          <a:prstGeom prst="rect">
            <a:avLst/>
          </a:prstGeom>
        </p:spPr>
      </p:pic>
      <p:sp>
        <p:nvSpPr>
          <p:cNvPr id="8" name="页面标题"/>
          <p:cNvSpPr txBox="1"/>
          <p:nvPr/>
        </p:nvSpPr>
        <p:spPr>
          <a:xfrm>
            <a:off x="554681" y="756992"/>
            <a:ext cx="104085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kumimoji="1"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下一阶段先定技术选型，再完成五项原型工作</a:t>
            </a:r>
            <a:endParaRPr kumimoji="1"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" name="章节标签"/>
          <p:cNvSpPr txBox="1"/>
          <p:nvPr/>
        </p:nvSpPr>
        <p:spPr>
          <a:xfrm>
            <a:off x="8748716" y="90049"/>
            <a:ext cx="34432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后续计划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0" name="卡片 1"/>
          <p:cNvSpPr/>
          <p:nvPr/>
        </p:nvSpPr>
        <p:spPr>
          <a:xfrm>
            <a:off x="683334" y="1571049"/>
            <a:ext cx="10728000" cy="864000"/>
          </a:xfrm>
          <a:prstGeom prst="roundRect">
            <a:avLst>
              <a:gd name="adj" fmla="val 10291"/>
            </a:avLst>
          </a:prstGeom>
          <a:solidFill>
            <a:srgbClr val="FFFFFF"/>
          </a:solidFill>
          <a:ln w="10160">
            <a:solidFill>
              <a:srgbClr val="D7E0EC"/>
            </a:solidFill>
          </a:ln>
          <a:effectLst>
            <a:outerShdw blurRad="50800" dist="19050" dir="5400000" algn="t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1" name="序号 2"/>
          <p:cNvSpPr/>
          <p:nvPr/>
        </p:nvSpPr>
        <p:spPr>
          <a:xfrm>
            <a:off x="881334" y="1715049"/>
            <a:ext cx="324000" cy="32400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lang="zh-CN" altLang="en-US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52" name="文字 3"/>
          <p:cNvSpPr txBox="1"/>
          <p:nvPr/>
        </p:nvSpPr>
        <p:spPr>
          <a:xfrm>
            <a:off x="1259334" y="1744961"/>
            <a:ext cx="1124064" cy="26417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600" b="1" lang="zh-CN" altLang="en-US">
                <a:solidFill>
                  <a:srgbClr val="1E293B"/>
                </a:solidFill>
                <a:latin typeface="微软雅黑"/>
                <a:ea typeface="微软雅黑"/>
              </a:rPr>
              <a:t>需求与调研</a:t>
            </a:r>
          </a:p>
        </p:txBody>
      </p:sp>
      <p:sp>
        <p:nvSpPr>
          <p:cNvPr id="53" name="序号 4"/>
          <p:cNvSpPr/>
          <p:nvPr/>
        </p:nvSpPr>
        <p:spPr>
          <a:xfrm>
            <a:off x="3041334" y="1715049"/>
            <a:ext cx="324000" cy="32400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lang="zh-CN" altLang="en-US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54" name="文字 5"/>
          <p:cNvSpPr txBox="1"/>
          <p:nvPr/>
        </p:nvSpPr>
        <p:spPr>
          <a:xfrm>
            <a:off x="3419334" y="1744961"/>
            <a:ext cx="1327277" cy="26417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600" b="1" lang="zh-CN" altLang="en-US">
                <a:solidFill>
                  <a:srgbClr val="1E293B"/>
                </a:solidFill>
                <a:latin typeface="微软雅黑"/>
                <a:ea typeface="微软雅黑"/>
              </a:rPr>
              <a:t>系统架构设计</a:t>
            </a:r>
          </a:p>
        </p:txBody>
      </p:sp>
      <p:sp>
        <p:nvSpPr>
          <p:cNvPr id="55" name="序号 6"/>
          <p:cNvSpPr/>
          <p:nvPr/>
        </p:nvSpPr>
        <p:spPr>
          <a:xfrm>
            <a:off x="5201334" y="1715049"/>
            <a:ext cx="324000" cy="32400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lang="zh-CN" altLang="en-US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56" name="文字 7"/>
          <p:cNvSpPr txBox="1"/>
          <p:nvPr/>
        </p:nvSpPr>
        <p:spPr>
          <a:xfrm>
            <a:off x="5579334" y="1744961"/>
            <a:ext cx="1530490" cy="26417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600" b="1" lang="zh-CN" altLang="en-US">
                <a:solidFill>
                  <a:srgbClr val="1E293B"/>
                </a:solidFill>
                <a:latin typeface="微软雅黑"/>
                <a:ea typeface="微软雅黑"/>
              </a:rPr>
              <a:t>对象与数据结构</a:t>
            </a:r>
          </a:p>
        </p:txBody>
      </p:sp>
      <p:sp>
        <p:nvSpPr>
          <p:cNvPr id="57" name="序号 8"/>
          <p:cNvSpPr/>
          <p:nvPr/>
        </p:nvSpPr>
        <p:spPr>
          <a:xfrm>
            <a:off x="7361334" y="1715049"/>
            <a:ext cx="324000" cy="324000"/>
          </a:xfrm>
          <a:prstGeom prst="ellipse">
            <a:avLst/>
          </a:prstGeom>
          <a:solidFill>
            <a:srgbClr val="E8710A"/>
          </a:solidFill>
          <a:ln>
            <a:noFill/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lang="zh-CN" altLang="en-US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58" name="文字 9"/>
          <p:cNvSpPr txBox="1"/>
          <p:nvPr/>
        </p:nvSpPr>
        <p:spPr>
          <a:xfrm>
            <a:off x="7739334" y="1744961"/>
            <a:ext cx="1530490" cy="26417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600" b="1" lang="zh-CN" altLang="en-US">
                <a:solidFill>
                  <a:srgbClr val="1E293B"/>
                </a:solidFill>
                <a:latin typeface="微软雅黑"/>
                <a:ea typeface="微软雅黑"/>
              </a:rPr>
              <a:t>样例与原型实现</a:t>
            </a:r>
          </a:p>
        </p:txBody>
      </p:sp>
      <p:sp>
        <p:nvSpPr>
          <p:cNvPr id="59" name="标签 10"/>
          <p:cNvSpPr/>
          <p:nvPr/>
        </p:nvSpPr>
        <p:spPr>
          <a:xfrm>
            <a:off x="7859113" y="2081563"/>
            <a:ext cx="840442" cy="274972"/>
          </a:xfrm>
          <a:prstGeom prst="roundRect">
            <a:avLst>
              <a:gd name="adj" fmla="val 18460"/>
            </a:avLst>
          </a:prstGeom>
          <a:solidFill>
            <a:srgbClr val="E8710A"/>
          </a:solidFill>
          <a:ln>
            <a:noFill/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lang="zh-CN" altLang="en-US">
                <a:solidFill>
                  <a:srgbClr val="FFFFFF"/>
                </a:solidFill>
                <a:latin typeface="微软雅黑"/>
                <a:ea typeface="微软雅黑"/>
              </a:rPr>
              <a:t>下一阶段</a:t>
            </a:r>
          </a:p>
        </p:txBody>
      </p:sp>
      <p:sp>
        <p:nvSpPr>
          <p:cNvPr id="60" name="序号 11"/>
          <p:cNvSpPr/>
          <p:nvPr/>
        </p:nvSpPr>
        <p:spPr>
          <a:xfrm>
            <a:off x="9521334" y="1715049"/>
            <a:ext cx="324000" cy="32400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lang="zh-CN" altLang="en-US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61" name="文字 12"/>
          <p:cNvSpPr txBox="1"/>
          <p:nvPr/>
        </p:nvSpPr>
        <p:spPr>
          <a:xfrm>
            <a:off x="9899334" y="1744961"/>
            <a:ext cx="1124064" cy="26417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600" b="1" lang="zh-CN" altLang="en-US">
                <a:solidFill>
                  <a:srgbClr val="1E293B"/>
                </a:solidFill>
                <a:latin typeface="微软雅黑"/>
                <a:ea typeface="微软雅黑"/>
              </a:rPr>
              <a:t>测试与评价</a:t>
            </a:r>
          </a:p>
        </p:txBody>
      </p:sp>
      <p:cxnSp>
        <p:nvCxnSpPr>
          <p:cNvPr id="62" name="连线 13"/>
          <p:cNvCxnSpPr/>
          <p:nvPr/>
        </p:nvCxnSpPr>
        <p:spPr>
          <a:xfrm>
            <a:off x="899334" y="2219049"/>
            <a:ext cx="5184000" cy="0"/>
          </a:xfrm>
          <a:prstGeom prst="line">
            <a:avLst/>
          </a:prstGeom>
          <a:ln w="12700">
            <a:solidFill>
              <a:srgbClr val="D7E0EC"/>
            </a:solidFill>
          </a:ln>
        </p:spPr>
      </p:cxnSp>
      <p:sp>
        <p:nvSpPr>
          <p:cNvPr id="63" name="连线说明 14"/>
          <p:cNvSpPr txBox="1"/>
          <p:nvPr/>
        </p:nvSpPr>
        <p:spPr>
          <a:xfrm>
            <a:off x="2707465" y="2107599"/>
            <a:ext cx="1567738" cy="222899"/>
          </a:xfrm>
          <a:prstGeom prst="rect">
            <a:avLst/>
          </a:prstGeom>
          <a:solidFill>
            <a:srgbClr val="FFFFFF"/>
          </a:solidFill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300" b="0" lang="zh-CN" altLang="en-US">
                <a:solidFill>
                  <a:srgbClr val="1E293B"/>
                </a:solidFill>
                <a:latin typeface="微软雅黑"/>
                <a:ea typeface="微软雅黑"/>
              </a:rPr>
              <a:t>已完成（阶段 1–3）</a:t>
            </a:r>
          </a:p>
        </p:txBody>
      </p:sp>
      <p:sp>
        <p:nvSpPr>
          <p:cNvPr id="64" name="卡片 15"/>
          <p:cNvSpPr/>
          <p:nvPr/>
        </p:nvSpPr>
        <p:spPr>
          <a:xfrm>
            <a:off x="683334" y="2543049"/>
            <a:ext cx="10728000" cy="396000"/>
          </a:xfrm>
          <a:prstGeom prst="roundRect">
            <a:avLst>
              <a:gd name="adj" fmla="val 22454"/>
            </a:avLst>
          </a:prstGeom>
          <a:solidFill>
            <a:srgbClr val="FFFFFF"/>
          </a:solidFill>
          <a:ln w="10160">
            <a:solidFill>
              <a:srgbClr val="D7E0EC"/>
            </a:solidFill>
          </a:ln>
          <a:effectLst>
            <a:outerShdw blurRad="50800" dist="19050" dir="5400000" algn="t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5" name="序号 16"/>
          <p:cNvSpPr/>
          <p:nvPr/>
        </p:nvSpPr>
        <p:spPr>
          <a:xfrm>
            <a:off x="827334" y="2579049"/>
            <a:ext cx="324000" cy="324000"/>
          </a:xfrm>
          <a:prstGeom prst="ellipse">
            <a:avLst/>
          </a:prstGeom>
          <a:solidFill>
            <a:srgbClr val="0259A0"/>
          </a:solidFill>
          <a:ln>
            <a:noFill/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lang="zh-CN" altLang="en-US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66" name="文字 17"/>
          <p:cNvSpPr txBox="1"/>
          <p:nvPr/>
        </p:nvSpPr>
        <p:spPr>
          <a:xfrm>
            <a:off x="1241334" y="2592450"/>
            <a:ext cx="1479686" cy="297199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800" b="1" lang="zh-CN" altLang="en-US">
                <a:solidFill>
                  <a:srgbClr val="1E293B"/>
                </a:solidFill>
                <a:latin typeface="微软雅黑"/>
                <a:ea typeface="微软雅黑"/>
              </a:rPr>
              <a:t>确定技术选型</a:t>
            </a:r>
          </a:p>
        </p:txBody>
      </p:sp>
      <p:sp>
        <p:nvSpPr>
          <p:cNvPr id="67" name="文字 18"/>
          <p:cNvSpPr txBox="1"/>
          <p:nvPr/>
        </p:nvSpPr>
        <p:spPr>
          <a:xfrm>
            <a:off x="2807334" y="2608961"/>
            <a:ext cx="4985107" cy="26417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后端、存储、检索、大模型和前端各用什么，说明理由</a:t>
            </a:r>
          </a:p>
        </p:txBody>
      </p:sp>
      <p:sp>
        <p:nvSpPr>
          <p:cNvPr id="68" name="标签 19"/>
          <p:cNvSpPr/>
          <p:nvPr/>
        </p:nvSpPr>
        <p:spPr>
          <a:xfrm>
            <a:off x="9931561" y="2603563"/>
            <a:ext cx="1335773" cy="274972"/>
          </a:xfrm>
          <a:prstGeom prst="roundRect">
            <a:avLst>
              <a:gd name="adj" fmla="val 18460"/>
            </a:avLst>
          </a:prstGeom>
          <a:solidFill>
            <a:srgbClr val="FCEEE2"/>
          </a:solidFill>
          <a:ln>
            <a:noFill/>
          </a:ln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 lang="zh-CN" altLang="en-US">
                <a:solidFill>
                  <a:srgbClr val="C2410C"/>
                </a:solidFill>
                <a:latin typeface="微软雅黑"/>
                <a:ea typeface="微软雅黑"/>
              </a:rPr>
              <a:t>产出：选型说明</a:t>
            </a:r>
          </a:p>
        </p:txBody>
      </p:sp>
      <p:sp>
        <p:nvSpPr>
          <p:cNvPr id="69" name="卡片 20"/>
          <p:cNvSpPr/>
          <p:nvPr/>
        </p:nvSpPr>
        <p:spPr>
          <a:xfrm>
            <a:off x="683334" y="3029049"/>
            <a:ext cx="2044800" cy="32940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D7E0EC"/>
            </a:solidFill>
          </a:ln>
          <a:effectLst>
            <a:outerShdw blurRad="50800" dist="19050" dir="5400000" algn="t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0" name="标题条 21"/>
          <p:cNvSpPr/>
          <p:nvPr/>
        </p:nvSpPr>
        <p:spPr>
          <a:xfrm>
            <a:off x="683334" y="3029049"/>
            <a:ext cx="2044800" cy="396000"/>
          </a:xfrm>
          <a:prstGeom prst="round2SameRect">
            <a:avLst>
              <a:gd name="adj1" fmla="val 22454"/>
              <a:gd name="adj2" fmla="val 0"/>
            </a:avLst>
          </a:prstGeom>
          <a:solidFill>
            <a:srgbClr val="E1EBF4"/>
          </a:solidFill>
          <a:ln>
            <a:noFill/>
          </a:ln>
        </p:spPr>
        <p:txBody>
          <a:bodyPr rtlCol="0" anchor="ctr" wrap="none" lIns="180000" rIns="108000" tIns="0" bIns="0">
            <a:noAutofit/>
          </a:bodyPr>
          <a:lstStyle/>
          <a:p>
            <a:pPr algn="l"/>
            <a:r>
              <a:rPr sz="1800" b="1" lang="zh-CN" altLang="en-US">
                <a:solidFill>
                  <a:srgbClr val="0259A0"/>
                </a:solidFill>
                <a:latin typeface="微软雅黑"/>
                <a:ea typeface="微软雅黑"/>
              </a:rPr>
              <a:t>整理样例数据</a:t>
            </a:r>
          </a:p>
        </p:txBody>
      </p:sp>
      <p:sp>
        <p:nvSpPr>
          <p:cNvPr id="71" name="文字 22"/>
          <p:cNvSpPr txBox="1"/>
          <p:nvPr/>
        </p:nvSpPr>
        <p:spPr>
          <a:xfrm>
            <a:off x="845334" y="3569049"/>
            <a:ext cx="628098" cy="2146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00" b="1" lang="zh-CN" altLang="en-US">
                <a:solidFill>
                  <a:srgbClr val="0259A0"/>
                </a:solidFill>
                <a:latin typeface="微软雅黑"/>
                <a:ea typeface="微软雅黑"/>
              </a:rPr>
              <a:t>第 2 步</a:t>
            </a:r>
          </a:p>
        </p:txBody>
      </p:sp>
      <p:sp>
        <p:nvSpPr>
          <p:cNvPr id="72" name="文字 23"/>
          <p:cNvSpPr txBox="1"/>
          <p:nvPr/>
        </p:nvSpPr>
        <p:spPr>
          <a:xfrm>
            <a:off x="845334" y="3821049"/>
            <a:ext cx="1756800" cy="14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</a:pPr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选一个代表性章节，按本次结构整理并检验</a:t>
            </a:r>
          </a:p>
        </p:txBody>
      </p:sp>
      <p:sp>
        <p:nvSpPr>
          <p:cNvPr id="73" name="底色 24"/>
          <p:cNvSpPr/>
          <p:nvPr/>
        </p:nvSpPr>
        <p:spPr>
          <a:xfrm>
            <a:off x="791334" y="5567049"/>
            <a:ext cx="1828800" cy="648000"/>
          </a:xfrm>
          <a:prstGeom prst="roundRect">
            <a:avLst>
              <a:gd name="adj" fmla="val 13722"/>
            </a:avLst>
          </a:prstGeom>
          <a:solidFill>
            <a:srgbClr val="FCEE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文字 25"/>
          <p:cNvSpPr txBox="1"/>
          <p:nvPr/>
        </p:nvSpPr>
        <p:spPr>
          <a:xfrm>
            <a:off x="899334" y="5639049"/>
            <a:ext cx="1648800" cy="52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00" b="1" lang="zh-CN" altLang="en-US">
                <a:solidFill>
                  <a:srgbClr val="C2410C"/>
                </a:solidFill>
                <a:latin typeface="微软雅黑"/>
                <a:ea typeface="微软雅黑"/>
              </a:rPr>
              <a:t>产出</a:t>
            </a:r>
          </a:p>
          <a:p>
            <a:pPr algn="l">
              <a:spcBef>
                <a:spcPts val="200"/>
              </a:spcBef>
            </a:pPr>
            <a:r>
              <a:rPr sz="1300" b="1" lang="zh-CN" altLang="en-US">
                <a:solidFill>
                  <a:srgbClr val="1E293B"/>
                </a:solidFill>
                <a:latin typeface="微软雅黑"/>
                <a:ea typeface="微软雅黑"/>
              </a:rPr>
              <a:t>样例章节数据</a:t>
            </a:r>
          </a:p>
        </p:txBody>
      </p:sp>
      <p:sp>
        <p:nvSpPr>
          <p:cNvPr id="75" name="卡片 26"/>
          <p:cNvSpPr/>
          <p:nvPr/>
        </p:nvSpPr>
        <p:spPr>
          <a:xfrm>
            <a:off x="2854134" y="3029049"/>
            <a:ext cx="2044800" cy="32940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D7E0EC"/>
            </a:solidFill>
          </a:ln>
          <a:effectLst>
            <a:outerShdw blurRad="50800" dist="19050" dir="5400000" algn="t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6" name="标题条 27"/>
          <p:cNvSpPr/>
          <p:nvPr/>
        </p:nvSpPr>
        <p:spPr>
          <a:xfrm>
            <a:off x="2854134" y="3029049"/>
            <a:ext cx="2044800" cy="396000"/>
          </a:xfrm>
          <a:prstGeom prst="round2SameRect">
            <a:avLst>
              <a:gd name="adj1" fmla="val 22454"/>
              <a:gd name="adj2" fmla="val 0"/>
            </a:avLst>
          </a:prstGeom>
          <a:solidFill>
            <a:srgbClr val="E1EBF4"/>
          </a:solidFill>
          <a:ln>
            <a:noFill/>
          </a:ln>
        </p:spPr>
        <p:txBody>
          <a:bodyPr rtlCol="0" anchor="ctr" wrap="none" lIns="180000" rIns="108000" tIns="0" bIns="0">
            <a:noAutofit/>
          </a:bodyPr>
          <a:lstStyle/>
          <a:p>
            <a:pPr algn="l"/>
            <a:r>
              <a:rPr sz="1800" b="1" lang="zh-CN" altLang="en-US">
                <a:solidFill>
                  <a:srgbClr val="0259A0"/>
                </a:solidFill>
                <a:latin typeface="微软雅黑"/>
                <a:ea typeface="微软雅黑"/>
              </a:rPr>
              <a:t>实现查询接口</a:t>
            </a:r>
          </a:p>
        </p:txBody>
      </p:sp>
      <p:sp>
        <p:nvSpPr>
          <p:cNvPr id="77" name="文字 28"/>
          <p:cNvSpPr txBox="1"/>
          <p:nvPr/>
        </p:nvSpPr>
        <p:spPr>
          <a:xfrm>
            <a:off x="3016134" y="3569049"/>
            <a:ext cx="628098" cy="2146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00" b="1" lang="zh-CN" altLang="en-US">
                <a:solidFill>
                  <a:srgbClr val="0259A0"/>
                </a:solidFill>
                <a:latin typeface="微软雅黑"/>
                <a:ea typeface="微软雅黑"/>
              </a:rPr>
              <a:t>第 3 步</a:t>
            </a:r>
          </a:p>
        </p:txBody>
      </p:sp>
      <p:sp>
        <p:nvSpPr>
          <p:cNvPr id="78" name="文字 29"/>
          <p:cNvSpPr txBox="1"/>
          <p:nvPr/>
        </p:nvSpPr>
        <p:spPr>
          <a:xfrm>
            <a:off x="3016134" y="3821049"/>
            <a:ext cx="1756800" cy="14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</a:pPr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搜索、知识详情、学习路径查询</a:t>
            </a:r>
          </a:p>
        </p:txBody>
      </p:sp>
      <p:sp>
        <p:nvSpPr>
          <p:cNvPr id="79" name="底色 30"/>
          <p:cNvSpPr/>
          <p:nvPr/>
        </p:nvSpPr>
        <p:spPr>
          <a:xfrm>
            <a:off x="2962134" y="5567049"/>
            <a:ext cx="1828800" cy="648000"/>
          </a:xfrm>
          <a:prstGeom prst="roundRect">
            <a:avLst>
              <a:gd name="adj" fmla="val 13722"/>
            </a:avLst>
          </a:prstGeom>
          <a:solidFill>
            <a:srgbClr val="FCEE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文字 31"/>
          <p:cNvSpPr txBox="1"/>
          <p:nvPr/>
        </p:nvSpPr>
        <p:spPr>
          <a:xfrm>
            <a:off x="3070134" y="5639049"/>
            <a:ext cx="1648800" cy="52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00" b="1" lang="zh-CN" altLang="en-US">
                <a:solidFill>
                  <a:srgbClr val="C2410C"/>
                </a:solidFill>
                <a:latin typeface="微软雅黑"/>
                <a:ea typeface="微软雅黑"/>
              </a:rPr>
              <a:t>产出</a:t>
            </a:r>
          </a:p>
          <a:p>
            <a:pPr algn="l">
              <a:spcBef>
                <a:spcPts val="200"/>
              </a:spcBef>
            </a:pPr>
            <a:r>
              <a:rPr sz="1300" b="1" lang="zh-CN" altLang="en-US">
                <a:solidFill>
                  <a:srgbClr val="1E293B"/>
                </a:solidFill>
                <a:latin typeface="微软雅黑"/>
                <a:ea typeface="微软雅黑"/>
              </a:rPr>
              <a:t>查询接口</a:t>
            </a:r>
          </a:p>
        </p:txBody>
      </p:sp>
      <p:sp>
        <p:nvSpPr>
          <p:cNvPr id="81" name="卡片 32"/>
          <p:cNvSpPr/>
          <p:nvPr/>
        </p:nvSpPr>
        <p:spPr>
          <a:xfrm>
            <a:off x="5024934" y="3029049"/>
            <a:ext cx="2044800" cy="32940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D7E0EC"/>
            </a:solidFill>
          </a:ln>
          <a:effectLst>
            <a:outerShdw blurRad="50800" dist="19050" dir="5400000" algn="t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2" name="标题条 33"/>
          <p:cNvSpPr/>
          <p:nvPr/>
        </p:nvSpPr>
        <p:spPr>
          <a:xfrm>
            <a:off x="5024934" y="3029049"/>
            <a:ext cx="2044800" cy="396000"/>
          </a:xfrm>
          <a:prstGeom prst="round2SameRect">
            <a:avLst>
              <a:gd name="adj1" fmla="val 22454"/>
              <a:gd name="adj2" fmla="val 0"/>
            </a:avLst>
          </a:prstGeom>
          <a:solidFill>
            <a:srgbClr val="E1EBF4"/>
          </a:solidFill>
          <a:ln>
            <a:noFill/>
          </a:ln>
        </p:spPr>
        <p:txBody>
          <a:bodyPr rtlCol="0" anchor="ctr" wrap="none" lIns="180000" rIns="108000" tIns="0" bIns="0">
            <a:noAutofit/>
          </a:bodyPr>
          <a:lstStyle/>
          <a:p>
            <a:pPr algn="l"/>
            <a:r>
              <a:rPr sz="1800" b="1" lang="zh-CN" altLang="en-US">
                <a:solidFill>
                  <a:srgbClr val="0259A0"/>
                </a:solidFill>
                <a:latin typeface="微软雅黑"/>
                <a:ea typeface="微软雅黑"/>
              </a:rPr>
              <a:t>实现知识检索</a:t>
            </a:r>
          </a:p>
        </p:txBody>
      </p:sp>
      <p:sp>
        <p:nvSpPr>
          <p:cNvPr id="83" name="文字 34"/>
          <p:cNvSpPr txBox="1"/>
          <p:nvPr/>
        </p:nvSpPr>
        <p:spPr>
          <a:xfrm>
            <a:off x="5186934" y="3569049"/>
            <a:ext cx="628098" cy="2146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00" b="1" lang="zh-CN" altLang="en-US">
                <a:solidFill>
                  <a:srgbClr val="0259A0"/>
                </a:solidFill>
                <a:latin typeface="微软雅黑"/>
                <a:ea typeface="微软雅黑"/>
              </a:rPr>
              <a:t>第 4 步</a:t>
            </a:r>
          </a:p>
        </p:txBody>
      </p:sp>
      <p:sp>
        <p:nvSpPr>
          <p:cNvPr id="84" name="文字 35"/>
          <p:cNvSpPr txBox="1"/>
          <p:nvPr/>
        </p:nvSpPr>
        <p:spPr>
          <a:xfrm>
            <a:off x="5186934" y="3821049"/>
            <a:ext cx="1756800" cy="14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</a:pPr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按问题找出相关知识点和关系</a:t>
            </a:r>
          </a:p>
        </p:txBody>
      </p:sp>
      <p:sp>
        <p:nvSpPr>
          <p:cNvPr id="85" name="底色 36"/>
          <p:cNvSpPr/>
          <p:nvPr/>
        </p:nvSpPr>
        <p:spPr>
          <a:xfrm>
            <a:off x="5132934" y="5567049"/>
            <a:ext cx="1828800" cy="648000"/>
          </a:xfrm>
          <a:prstGeom prst="roundRect">
            <a:avLst>
              <a:gd name="adj" fmla="val 13722"/>
            </a:avLst>
          </a:prstGeom>
          <a:solidFill>
            <a:srgbClr val="FCEE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文字 37"/>
          <p:cNvSpPr txBox="1"/>
          <p:nvPr/>
        </p:nvSpPr>
        <p:spPr>
          <a:xfrm>
            <a:off x="5240934" y="5639049"/>
            <a:ext cx="1648800" cy="52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00" b="1" lang="zh-CN" altLang="en-US">
                <a:solidFill>
                  <a:srgbClr val="C2410C"/>
                </a:solidFill>
                <a:latin typeface="微软雅黑"/>
                <a:ea typeface="微软雅黑"/>
              </a:rPr>
              <a:t>产出</a:t>
            </a:r>
          </a:p>
          <a:p>
            <a:pPr algn="l">
              <a:spcBef>
                <a:spcPts val="200"/>
              </a:spcBef>
            </a:pPr>
            <a:r>
              <a:rPr sz="1300" b="1" lang="zh-CN" altLang="en-US">
                <a:solidFill>
                  <a:srgbClr val="1E293B"/>
                </a:solidFill>
                <a:latin typeface="微软雅黑"/>
                <a:ea typeface="微软雅黑"/>
              </a:rPr>
              <a:t>检索模块</a:t>
            </a:r>
          </a:p>
        </p:txBody>
      </p:sp>
      <p:sp>
        <p:nvSpPr>
          <p:cNvPr id="87" name="卡片 38"/>
          <p:cNvSpPr/>
          <p:nvPr/>
        </p:nvSpPr>
        <p:spPr>
          <a:xfrm>
            <a:off x="7195734" y="3029049"/>
            <a:ext cx="2044800" cy="32940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D7E0EC"/>
            </a:solidFill>
          </a:ln>
          <a:effectLst>
            <a:outerShdw blurRad="50800" dist="19050" dir="5400000" algn="t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8" name="标题条 39"/>
          <p:cNvSpPr/>
          <p:nvPr/>
        </p:nvSpPr>
        <p:spPr>
          <a:xfrm>
            <a:off x="7195734" y="3029049"/>
            <a:ext cx="2044800" cy="396000"/>
          </a:xfrm>
          <a:prstGeom prst="round2SameRect">
            <a:avLst>
              <a:gd name="adj1" fmla="val 22454"/>
              <a:gd name="adj2" fmla="val 0"/>
            </a:avLst>
          </a:prstGeom>
          <a:solidFill>
            <a:srgbClr val="E1EBF4"/>
          </a:solidFill>
          <a:ln>
            <a:noFill/>
          </a:ln>
        </p:spPr>
        <p:txBody>
          <a:bodyPr rtlCol="0" anchor="ctr" wrap="none" lIns="180000" rIns="108000" tIns="0" bIns="0">
            <a:noAutofit/>
          </a:bodyPr>
          <a:lstStyle/>
          <a:p>
            <a:pPr algn="l"/>
            <a:r>
              <a:rPr sz="1800" b="1" lang="zh-CN" altLang="en-US">
                <a:solidFill>
                  <a:srgbClr val="0259A0"/>
                </a:solidFill>
                <a:latin typeface="微软雅黑"/>
                <a:ea typeface="微软雅黑"/>
              </a:rPr>
              <a:t>接入课程问答</a:t>
            </a:r>
          </a:p>
        </p:txBody>
      </p:sp>
      <p:sp>
        <p:nvSpPr>
          <p:cNvPr id="89" name="文字 40"/>
          <p:cNvSpPr txBox="1"/>
          <p:nvPr/>
        </p:nvSpPr>
        <p:spPr>
          <a:xfrm>
            <a:off x="7357734" y="3569049"/>
            <a:ext cx="628098" cy="2146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00" b="1" lang="zh-CN" altLang="en-US">
                <a:solidFill>
                  <a:srgbClr val="0259A0"/>
                </a:solidFill>
                <a:latin typeface="微软雅黑"/>
                <a:ea typeface="微软雅黑"/>
              </a:rPr>
              <a:t>第 5 步</a:t>
            </a:r>
          </a:p>
        </p:txBody>
      </p:sp>
      <p:sp>
        <p:nvSpPr>
          <p:cNvPr id="90" name="文字 41"/>
          <p:cNvSpPr txBox="1"/>
          <p:nvPr/>
        </p:nvSpPr>
        <p:spPr>
          <a:xfrm>
            <a:off x="7357734" y="3821049"/>
            <a:ext cx="1756800" cy="14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</a:pPr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大模型组织回答，返回引用的知识点</a:t>
            </a:r>
          </a:p>
        </p:txBody>
      </p:sp>
      <p:sp>
        <p:nvSpPr>
          <p:cNvPr id="91" name="底色 42"/>
          <p:cNvSpPr/>
          <p:nvPr/>
        </p:nvSpPr>
        <p:spPr>
          <a:xfrm>
            <a:off x="7303734" y="5567049"/>
            <a:ext cx="1828800" cy="648000"/>
          </a:xfrm>
          <a:prstGeom prst="roundRect">
            <a:avLst>
              <a:gd name="adj" fmla="val 13722"/>
            </a:avLst>
          </a:prstGeom>
          <a:solidFill>
            <a:srgbClr val="FCEE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文字 43"/>
          <p:cNvSpPr txBox="1"/>
          <p:nvPr/>
        </p:nvSpPr>
        <p:spPr>
          <a:xfrm>
            <a:off x="7411734" y="5639049"/>
            <a:ext cx="1648800" cy="52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00" b="1" lang="zh-CN" altLang="en-US">
                <a:solidFill>
                  <a:srgbClr val="C2410C"/>
                </a:solidFill>
                <a:latin typeface="微软雅黑"/>
                <a:ea typeface="微软雅黑"/>
              </a:rPr>
              <a:t>产出</a:t>
            </a:r>
          </a:p>
          <a:p>
            <a:pPr algn="l">
              <a:spcBef>
                <a:spcPts val="200"/>
              </a:spcBef>
            </a:pPr>
            <a:r>
              <a:rPr sz="1300" b="1" lang="zh-CN" altLang="en-US">
                <a:solidFill>
                  <a:srgbClr val="1E293B"/>
                </a:solidFill>
                <a:latin typeface="微软雅黑"/>
                <a:ea typeface="微软雅黑"/>
              </a:rPr>
              <a:t>问答接口</a:t>
            </a:r>
          </a:p>
        </p:txBody>
      </p:sp>
      <p:sp>
        <p:nvSpPr>
          <p:cNvPr id="93" name="卡片 44"/>
          <p:cNvSpPr/>
          <p:nvPr/>
        </p:nvSpPr>
        <p:spPr>
          <a:xfrm>
            <a:off x="9366534" y="3029049"/>
            <a:ext cx="2044800" cy="32940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D7E0EC"/>
            </a:solidFill>
          </a:ln>
          <a:effectLst>
            <a:outerShdw blurRad="50800" dist="19050" dir="5400000" algn="t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94" name="标题条 45"/>
          <p:cNvSpPr/>
          <p:nvPr/>
        </p:nvSpPr>
        <p:spPr>
          <a:xfrm>
            <a:off x="9366534" y="3029049"/>
            <a:ext cx="2044800" cy="396000"/>
          </a:xfrm>
          <a:prstGeom prst="round2SameRect">
            <a:avLst>
              <a:gd name="adj1" fmla="val 22454"/>
              <a:gd name="adj2" fmla="val 0"/>
            </a:avLst>
          </a:prstGeom>
          <a:solidFill>
            <a:srgbClr val="E1EBF4"/>
          </a:solidFill>
          <a:ln>
            <a:noFill/>
          </a:ln>
        </p:spPr>
        <p:txBody>
          <a:bodyPr rtlCol="0" anchor="ctr" wrap="none" lIns="180000" rIns="108000" tIns="0" bIns="0">
            <a:noAutofit/>
          </a:bodyPr>
          <a:lstStyle/>
          <a:p>
            <a:pPr algn="l"/>
            <a:r>
              <a:rPr sz="1800" b="1" lang="zh-CN" altLang="en-US">
                <a:solidFill>
                  <a:srgbClr val="0259A0"/>
                </a:solidFill>
                <a:latin typeface="微软雅黑"/>
                <a:ea typeface="微软雅黑"/>
              </a:rPr>
              <a:t>开发前端页面</a:t>
            </a:r>
          </a:p>
        </p:txBody>
      </p:sp>
      <p:sp>
        <p:nvSpPr>
          <p:cNvPr id="95" name="文字 46"/>
          <p:cNvSpPr txBox="1"/>
          <p:nvPr/>
        </p:nvSpPr>
        <p:spPr>
          <a:xfrm>
            <a:off x="9528534" y="3569049"/>
            <a:ext cx="628098" cy="2146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00" b="1" lang="zh-CN" altLang="en-US">
                <a:solidFill>
                  <a:srgbClr val="0259A0"/>
                </a:solidFill>
                <a:latin typeface="微软雅黑"/>
                <a:ea typeface="微软雅黑"/>
              </a:rPr>
              <a:t>第 6 步</a:t>
            </a:r>
          </a:p>
        </p:txBody>
      </p:sp>
      <p:sp>
        <p:nvSpPr>
          <p:cNvPr id="96" name="文字 47"/>
          <p:cNvSpPr txBox="1"/>
          <p:nvPr/>
        </p:nvSpPr>
        <p:spPr>
          <a:xfrm>
            <a:off x="9528534" y="3821049"/>
            <a:ext cx="1756800" cy="14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</a:pPr>
            <a:r>
              <a:rPr sz="1600" b="0" lang="zh-CN" altLang="en-US">
                <a:solidFill>
                  <a:srgbClr val="334155"/>
                </a:solidFill>
                <a:latin typeface="微软雅黑"/>
                <a:ea typeface="微软雅黑"/>
              </a:rPr>
              <a:t>搜索与详情、局部图谱、问答对话</a:t>
            </a:r>
          </a:p>
        </p:txBody>
      </p:sp>
      <p:sp>
        <p:nvSpPr>
          <p:cNvPr id="97" name="底色 48"/>
          <p:cNvSpPr/>
          <p:nvPr/>
        </p:nvSpPr>
        <p:spPr>
          <a:xfrm>
            <a:off x="9474534" y="5567049"/>
            <a:ext cx="1828800" cy="648000"/>
          </a:xfrm>
          <a:prstGeom prst="roundRect">
            <a:avLst>
              <a:gd name="adj" fmla="val 13722"/>
            </a:avLst>
          </a:prstGeom>
          <a:solidFill>
            <a:srgbClr val="FCEE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文字 49"/>
          <p:cNvSpPr txBox="1"/>
          <p:nvPr/>
        </p:nvSpPr>
        <p:spPr>
          <a:xfrm>
            <a:off x="9582534" y="5639049"/>
            <a:ext cx="1648800" cy="52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00" b="1" lang="zh-CN" altLang="en-US">
                <a:solidFill>
                  <a:srgbClr val="C2410C"/>
                </a:solidFill>
                <a:latin typeface="微软雅黑"/>
                <a:ea typeface="微软雅黑"/>
              </a:rPr>
              <a:t>产出</a:t>
            </a:r>
          </a:p>
          <a:p>
            <a:pPr algn="l">
              <a:spcBef>
                <a:spcPts val="200"/>
              </a:spcBef>
            </a:pPr>
            <a:r>
              <a:rPr sz="1300" b="1" lang="zh-CN" altLang="en-US">
                <a:solidFill>
                  <a:srgbClr val="1E293B"/>
                </a:solidFill>
                <a:latin typeface="微软雅黑"/>
                <a:ea typeface="微软雅黑"/>
              </a:rPr>
              <a:t>前端页面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9.999842519685,&quot;left&quot;:0,&quot;top&quot;:1,&quot;width&quot;:917.0512598425197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9.999842519685,&quot;left&quot;:0,&quot;top&quot;:1,&quot;width&quot;:917.0512598425197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9.999842519685,&quot;left&quot;:0,&quot;top&quot;:1,&quot;width&quot;:917.0512598425197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9.999842519685,&quot;left&quot;:0,&quot;top&quot;:1,&quot;width&quot;:917.0512598425197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9.999842519685,&quot;left&quot;:0,&quot;top&quot;:1,&quot;width&quot;:917.0512598425197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9.999842519685,&quot;left&quot;:0,&quot;top&quot;:1,&quot;width&quot;:917.0512598425197}"/>
</p:tagLst>
</file>

<file path=ppt/theme/theme1.xml><?xml version="1.0" encoding="utf-8"?>
<a:theme xmlns:a="http://schemas.openxmlformats.org/drawingml/2006/main" name="Office 主题​​">
  <a:themeElements>
    <a:clrScheme name="自定义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4593"/>
      </a:accent1>
      <a:accent2>
        <a:srgbClr val="00459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16569B7BEAFD4E8196537F8893A0A8" ma:contentTypeVersion="15" ma:contentTypeDescription="Create a new document." ma:contentTypeScope="" ma:versionID="2791f40b03eab4f7fcc004a27762eebd">
  <xsd:schema xmlns:xsd="http://www.w3.org/2001/XMLSchema" xmlns:xs="http://www.w3.org/2001/XMLSchema" xmlns:p="http://schemas.microsoft.com/office/2006/metadata/properties" xmlns:ns3="cdd358b4-4f07-40a4-9f73-3ac0d69b7109" targetNamespace="http://schemas.microsoft.com/office/2006/metadata/properties" ma:root="true" ma:fieldsID="15c10a9dcc04e627a424c024f12db733" ns3:_="">
    <xsd:import namespace="cdd358b4-4f07-40a4-9f73-3ac0d69b710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d358b4-4f07-40a4-9f73-3ac0d69b71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2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dd358b4-4f07-40a4-9f73-3ac0d69b7109" xsi:nil="true"/>
  </documentManagement>
</p:properties>
</file>

<file path=customXml/itemProps1.xml><?xml version="1.0" encoding="utf-8"?>
<ds:datastoreItem xmlns:ds="http://schemas.openxmlformats.org/officeDocument/2006/customXml" ds:itemID="{3140A2EE-BAF8-43CD-A9F4-2176353083E5}">
  <ds:schemaRefs/>
</ds:datastoreItem>
</file>

<file path=customXml/itemProps2.xml><?xml version="1.0" encoding="utf-8"?>
<ds:datastoreItem xmlns:ds="http://schemas.openxmlformats.org/officeDocument/2006/customXml" ds:itemID="{F9E4E6E6-7256-46CE-9D42-B49E8391017A}">
  <ds:schemaRefs/>
</ds:datastoreItem>
</file>

<file path=customXml/itemProps3.xml><?xml version="1.0" encoding="utf-8"?>
<ds:datastoreItem xmlns:ds="http://schemas.openxmlformats.org/officeDocument/2006/customXml" ds:itemID="{84AA52E5-0B20-4590-878C-11CEE6144865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323</Words>
  <Application>Microsoft Office PowerPoint</Application>
  <PresentationFormat>宽屏</PresentationFormat>
  <Paragraphs>63</Paragraphs>
  <Slides>15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等线</vt:lpstr>
      <vt:lpstr>等线 Light</vt:lpstr>
      <vt:lpstr>微软雅黑</vt:lpstr>
      <vt:lpstr>Arial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国炜 杨</cp:lastModifiedBy>
  <cp:revision>563</cp:revision>
  <dcterms:created xsi:type="dcterms:W3CDTF">2022-12-07T07:00:00Z</dcterms:created>
  <dcterms:modified xsi:type="dcterms:W3CDTF">2026-09-22T13:08:26Z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0x0101003E16569B7BEAFD4E8196537F8893A0A8</vt:lpwstr>
  </property>
  <property fmtid="{D5CDD505-2E9C-101B-9397-08002B2CF9AE}" pid="3" name="ICV">
    <vt:lpwstr>755731B8074C46A3BFC2A3E6AA39965D_13</vt:lpwstr>
  </property>
  <property fmtid="{D5CDD505-2E9C-101B-9397-08002B2CF9AE}" pid="4" name="KSOProductBuildVer">
    <vt:lpwstr>2052-12.1.0.23542</vt:lpwstr>
  </property>
</Properties>
</file>