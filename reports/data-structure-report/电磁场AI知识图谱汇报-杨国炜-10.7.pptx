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sldIdLst>
    <p:sldId id="283" r:id="rId5"/>
    <p:sldId id="512" r:id="rId6"/>
    <p:sldId id="506" r:id="rId7"/>
    <p:sldId id="547" r:id="rId8"/>
    <p:sldId id="555" r:id="rId26"/>
    <p:sldId id="560" r:id="rId31"/>
    <p:sldId id="561" r:id="rId32"/>
    <p:sldId id="556" r:id="rId27"/>
    <p:sldId id="562" r:id="rId33"/>
    <p:sldId id="563" r:id="rId34"/>
    <p:sldId id="557" r:id="rId28"/>
    <p:sldId id="564" r:id="rId35"/>
    <p:sldId id="565" r:id="rId36"/>
    <p:sldId id="566" r:id="rId37"/>
    <p:sldId id="558" r:id="rId29"/>
    <p:sldId id="567" r:id="rId38"/>
    <p:sldId id="559" r:id="rId30"/>
    <p:sldId id="568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曾婷 王" initials="曾王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B7D1"/>
    <a:srgbClr val="004593"/>
    <a:srgbClr val="0065B0"/>
    <a:srgbClr val="0066B1"/>
    <a:srgbClr val="FA4D00"/>
    <a:srgbClr val="E0CDBE"/>
    <a:srgbClr val="FCF4D0"/>
    <a:srgbClr val="FAEDB8"/>
    <a:srgbClr val="DBC5B3"/>
    <a:srgbClr val="DCC5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21" autoAdjust="0"/>
    <p:restoredTop sz="93724" autoAdjust="0"/>
  </p:normalViewPr>
  <p:slideViewPr>
    <p:cSldViewPr snapToGrid="0">
      <p:cViewPr varScale="1">
        <p:scale>
          <a:sx n="149" d="100"/>
          <a:sy n="149" d="100"/>
        </p:scale>
        <p:origin x="354" y="31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1693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commentAuthors" Target="commentAuthors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5.xml"/><Relationship Id="rId27" Type="http://schemas.openxmlformats.org/officeDocument/2006/relationships/slide" Target="slides/slide8.xml"/><Relationship Id="rId28" Type="http://schemas.openxmlformats.org/officeDocument/2006/relationships/slide" Target="slides/slide11.xml"/><Relationship Id="rId29" Type="http://schemas.openxmlformats.org/officeDocument/2006/relationships/slide" Target="slides/slide15.xml"/><Relationship Id="rId30" Type="http://schemas.openxmlformats.org/officeDocument/2006/relationships/slide" Target="slides/slide17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9.xml"/><Relationship Id="rId34" Type="http://schemas.openxmlformats.org/officeDocument/2006/relationships/slide" Target="slides/slide10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6.xml"/><Relationship Id="rId39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7B4F6-38B3-4F9C-B5DD-388BFB0B2338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B1546-4BCA-4F29-B0D6-5545C6E37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B1546-4BCA-4F29-B0D6-5545C6E3757B}" type="slidenum">
              <a:rPr lang="zh-CN" altLang="en-US" smtClean="0"/>
              <a:t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Layout" Target="../slideLayouts/slideLayout2.xml"/><Relationship Id="rId8" Type="http://schemas.openxmlformats.org/officeDocument/2006/relationships/image" Target="../media/image1.png"/><Relationship Id="rId9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818083" y="616727"/>
            <a:ext cx="2471217" cy="596694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/>
          <a:srcRect t="20698" b="20698"/>
          <a:stretch>
            <a:fillRect/>
          </a:stretch>
        </p:blipFill>
        <p:spPr bwMode="auto">
          <a:xfrm>
            <a:off x="4856126" y="1718187"/>
            <a:ext cx="7335874" cy="2861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0" y="1718187"/>
            <a:ext cx="8882743" cy="2861554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3000">
                <a:schemeClr val="accent1">
                  <a:alpha val="60050"/>
                </a:schemeClr>
              </a:gs>
              <a:gs pos="0">
                <a:schemeClr val="accent2"/>
              </a:gs>
              <a:gs pos="63000">
                <a:srgbClr val="0361A6"/>
              </a:gs>
              <a:gs pos="44226">
                <a:srgbClr val="0259A0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313690" y="2623820"/>
            <a:ext cx="11795760" cy="860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电磁场与波AI知识图谱对象与数据结构设计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4645025" y="5084445"/>
            <a:ext cx="3208020" cy="402112"/>
            <a:chOff x="4077" y="8205"/>
            <a:chExt cx="5052" cy="633"/>
          </a:xfrm>
        </p:grpSpPr>
        <p:cxnSp>
          <p:nvCxnSpPr>
            <p:cNvPr id="7" name="直线连接符 10"/>
            <p:cNvCxnSpPr/>
            <p:nvPr/>
          </p:nvCxnSpPr>
          <p:spPr>
            <a:xfrm>
              <a:off x="4230" y="8838"/>
              <a:ext cx="4762" cy="0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/>
            <p:cNvSpPr txBox="1"/>
            <p:nvPr/>
          </p:nvSpPr>
          <p:spPr>
            <a:xfrm>
              <a:off x="4077" y="8205"/>
              <a:ext cx="220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kumimoji="1"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汇报人：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6379" y="8205"/>
              <a:ext cx="275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spc="300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杨国炜</a:t>
              </a:r>
            </a:p>
          </p:txBody>
        </p:sp>
      </p:grpSp>
      <p:sp>
        <p:nvSpPr>
          <p:cNvPr id="29" name="AutoShape 4"/>
          <p:cNvSpPr>
            <a:spLocks noChangeAspect="1" noChangeArrowheads="1"/>
          </p:cNvSpPr>
          <p:nvPr/>
        </p:nvSpPr>
        <p:spPr bwMode="auto">
          <a:xfrm>
            <a:off x="5943600" y="3054929"/>
            <a:ext cx="1543050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9845" y="5701030"/>
            <a:ext cx="2520315" cy="4762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kumimoji="1" lang="en-US" altLang="zh-CN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2026年10月7日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组合 7"/>
          <p:cNvGrpSpPr/>
          <p:nvPr>
            <p:custDataLst>
              <p:tags r:id="rId1"/>
            </p:custDataLst>
          </p:nvPr>
        </p:nvGrpSpPr>
        <p:grpSpPr>
          <a:xfrm>
            <a:off x="0" y="12700"/>
            <a:ext cx="11646551" cy="6857998"/>
            <a:chOff x="0" y="0"/>
            <a:chExt cx="11646551" cy="6857998"/>
          </a:xfrm>
        </p:grpSpPr>
        <p:cxnSp>
          <p:nvCxnSpPr>
            <p:cNvPr id="10" name="直线连接符 9"/>
            <p:cNvCxnSpPr/>
            <p:nvPr/>
          </p:nvCxnSpPr>
          <p:spPr>
            <a:xfrm>
              <a:off x="1539972" y="1348352"/>
              <a:ext cx="10106579" cy="0"/>
            </a:xfrm>
            <a:prstGeom prst="line">
              <a:avLst/>
            </a:prstGeom>
            <a:ln w="222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>
              <a:fillRect/>
            </a:stretch>
          </p:blipFill>
          <p:spPr>
            <a:xfrm>
              <a:off x="9603207" y="592406"/>
              <a:ext cx="1800617" cy="43477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0" y="0"/>
              <a:ext cx="730468" cy="68579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539972" y="578911"/>
              <a:ext cx="192760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4400" b="1" spc="300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目录</a:t>
              </a:r>
            </a:p>
          </p:txBody>
        </p:sp>
      </p:grpSp>
      <p:sp>
        <p:nvSpPr>
          <p:cNvPr id="14" name="目录 1"/>
          <p:cNvSpPr txBox="1"/>
          <p:nvPr>
            <p:custDataLst>
              <p:tags r:id="rId5"/>
            </p:custDataLst>
          </p:nvPr>
        </p:nvSpPr>
        <p:spPr>
          <a:xfrm>
            <a:off x="3133193" y="1600000"/>
            <a:ext cx="65854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一、本次工作内容</a:t>
            </a:r>
          </a:p>
        </p:txBody>
      </p:sp>
      <p:sp>
        <p:nvSpPr>
          <p:cNvPr id="15" name="目录 2"/>
          <p:cNvSpPr txBox="1"/>
          <p:nvPr>
            <p:custDataLst>
              <p:tags r:id="rId5"/>
            </p:custDataLst>
          </p:nvPr>
        </p:nvSpPr>
        <p:spPr>
          <a:xfrm>
            <a:off x="3133193" y="2350000"/>
            <a:ext cx="65854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二、知识对象设计</a:t>
            </a:r>
          </a:p>
        </p:txBody>
      </p:sp>
      <p:sp>
        <p:nvSpPr>
          <p:cNvPr id="16" name="目录 3"/>
          <p:cNvSpPr txBox="1"/>
          <p:nvPr>
            <p:custDataLst>
              <p:tags r:id="rId5"/>
            </p:custDataLst>
          </p:nvPr>
        </p:nvSpPr>
        <p:spPr>
          <a:xfrm>
            <a:off x="3133193" y="3100000"/>
            <a:ext cx="65854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三、知识点内容设计</a:t>
            </a:r>
          </a:p>
        </p:txBody>
      </p:sp>
      <p:sp>
        <p:nvSpPr>
          <p:cNvPr id="17" name="目录 4"/>
          <p:cNvSpPr txBox="1"/>
          <p:nvPr>
            <p:custDataLst>
              <p:tags r:id="rId5"/>
            </p:custDataLst>
          </p:nvPr>
        </p:nvSpPr>
        <p:spPr>
          <a:xfrm>
            <a:off x="3133193" y="3850000"/>
            <a:ext cx="65854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四、知识关系设计</a:t>
            </a:r>
          </a:p>
        </p:txBody>
      </p:sp>
      <p:sp>
        <p:nvSpPr>
          <p:cNvPr id="18" name="目录 5"/>
          <p:cNvSpPr txBox="1"/>
          <p:nvPr>
            <p:custDataLst>
              <p:tags r:id="rId5"/>
            </p:custDataLst>
          </p:nvPr>
        </p:nvSpPr>
        <p:spPr>
          <a:xfrm>
            <a:off x="3133193" y="4600000"/>
            <a:ext cx="65854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五、数据校验</a:t>
            </a:r>
          </a:p>
        </p:txBody>
      </p:sp>
      <p:sp>
        <p:nvSpPr>
          <p:cNvPr id="19" name="目录 6"/>
          <p:cNvSpPr txBox="1"/>
          <p:nvPr>
            <p:custDataLst>
              <p:tags r:id="rId5"/>
            </p:custDataLst>
          </p:nvPr>
        </p:nvSpPr>
        <p:spPr>
          <a:xfrm>
            <a:off x="3133193" y="5350000"/>
            <a:ext cx="6585489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六、后续计划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一、本次工作内容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分阶段建设路线与本次任务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本次工作内容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0" name="连线 1"/>
          <p:cNvCxnSpPr/>
          <p:nvPr/>
        </p:nvCxnSpPr>
        <p:spPr>
          <a:xfrm>
            <a:off x="899334" y="1769049"/>
            <a:ext cx="10296000" cy="0"/>
          </a:xfrm>
          <a:prstGeom prst="line">
            <a:avLst/>
          </a:prstGeom>
          <a:ln w="63500" cap="rnd">
            <a:solidFill>
              <a:srgbClr val="D7E0EC"/>
            </a:solidFill>
          </a:ln>
        </p:spPr>
      </p:cxnSp>
      <p:sp>
        <p:nvSpPr>
          <p:cNvPr id="51" name="卡片 2"/>
          <p:cNvSpPr/>
          <p:nvPr/>
        </p:nvSpPr>
        <p:spPr>
          <a:xfrm>
            <a:off x="683334" y="2147049"/>
            <a:ext cx="2044800" cy="36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2" name="色条 3"/>
          <p:cNvSpPr/>
          <p:nvPr/>
        </p:nvSpPr>
        <p:spPr>
          <a:xfrm>
            <a:off x="683334" y="2147049"/>
            <a:ext cx="2044800" cy="1152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F6F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3" name="连线 4"/>
          <p:cNvCxnSpPr/>
          <p:nvPr/>
        </p:nvCxnSpPr>
        <p:spPr>
          <a:xfrm>
            <a:off x="989334" y="1769049"/>
            <a:ext cx="0" cy="378000"/>
          </a:xfrm>
          <a:prstGeom prst="line">
            <a:avLst/>
          </a:prstGeom>
          <a:ln w="17780">
            <a:solidFill>
              <a:srgbClr val="1F6FEB"/>
            </a:solidFill>
          </a:ln>
        </p:spPr>
      </p:cxnSp>
      <p:sp>
        <p:nvSpPr>
          <p:cNvPr id="54" name="序号 5"/>
          <p:cNvSpPr/>
          <p:nvPr/>
        </p:nvSpPr>
        <p:spPr>
          <a:xfrm>
            <a:off x="809334" y="1589049"/>
            <a:ext cx="360000" cy="36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5" name="标签 6"/>
          <p:cNvSpPr/>
          <p:nvPr/>
        </p:nvSpPr>
        <p:spPr>
          <a:xfrm>
            <a:off x="1259334" y="1634897"/>
            <a:ext cx="65628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56" name="文字 7"/>
          <p:cNvSpPr txBox="1"/>
          <p:nvPr/>
        </p:nvSpPr>
        <p:spPr>
          <a:xfrm>
            <a:off x="845334" y="2363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1F6FEB"/>
                </a:solidFill>
                <a:latin typeface="微软雅黑"/>
                <a:ea typeface="微软雅黑"/>
              </a:rPr>
              <a:t>阶段1</a:t>
            </a:r>
          </a:p>
        </p:txBody>
      </p:sp>
      <p:sp>
        <p:nvSpPr>
          <p:cNvPr id="57" name="文字 8"/>
          <p:cNvSpPr txBox="1"/>
          <p:nvPr/>
        </p:nvSpPr>
        <p:spPr>
          <a:xfrm>
            <a:off x="845334" y="2579049"/>
            <a:ext cx="1251072" cy="297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需求与调研</a:t>
            </a:r>
          </a:p>
        </p:txBody>
      </p:sp>
      <p:sp>
        <p:nvSpPr>
          <p:cNvPr id="58" name="文字 9"/>
          <p:cNvSpPr txBox="1"/>
          <p:nvPr/>
        </p:nvSpPr>
        <p:spPr>
          <a:xfrm>
            <a:off x="845334" y="2921049"/>
            <a:ext cx="17568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22264" indent="-222264">
              <a:lnSpc>
                <a:spcPts val="2200"/>
              </a:lnSpc>
              <a:buClr>
                <a:srgbClr val="1F6FE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明确研究问题</a:t>
            </a:r>
          </a:p>
          <a:p>
            <a:pPr algn="l" marL="222264" indent="-222264">
              <a:lnSpc>
                <a:spcPts val="2200"/>
              </a:lnSpc>
              <a:buClr>
                <a:srgbClr val="1F6FE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调研相关案例</a:t>
            </a:r>
          </a:p>
          <a:p>
            <a:pPr algn="l" marL="222264" indent="-222264">
              <a:lnSpc>
                <a:spcPts val="2200"/>
              </a:lnSpc>
              <a:buClr>
                <a:srgbClr val="1F6FE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确定课程范围</a:t>
            </a:r>
          </a:p>
        </p:txBody>
      </p:sp>
      <p:sp>
        <p:nvSpPr>
          <p:cNvPr id="59" name="底色 10"/>
          <p:cNvSpPr/>
          <p:nvPr/>
        </p:nvSpPr>
        <p:spPr>
          <a:xfrm>
            <a:off x="7913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E9F1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文字 11"/>
          <p:cNvSpPr txBox="1"/>
          <p:nvPr/>
        </p:nvSpPr>
        <p:spPr>
          <a:xfrm>
            <a:off x="8993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1959B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需求说明</a:t>
            </a:r>
          </a:p>
        </p:txBody>
      </p:sp>
      <p:sp>
        <p:nvSpPr>
          <p:cNvPr id="61" name="卡片 12"/>
          <p:cNvSpPr/>
          <p:nvPr/>
        </p:nvSpPr>
        <p:spPr>
          <a:xfrm>
            <a:off x="2854134" y="2147049"/>
            <a:ext cx="2044800" cy="36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2" name="色条 13"/>
          <p:cNvSpPr/>
          <p:nvPr/>
        </p:nvSpPr>
        <p:spPr>
          <a:xfrm>
            <a:off x="2854134" y="2147049"/>
            <a:ext cx="2044800" cy="1152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A5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3" name="连线 14"/>
          <p:cNvCxnSpPr/>
          <p:nvPr/>
        </p:nvCxnSpPr>
        <p:spPr>
          <a:xfrm>
            <a:off x="3160134" y="1769049"/>
            <a:ext cx="0" cy="378000"/>
          </a:xfrm>
          <a:prstGeom prst="line">
            <a:avLst/>
          </a:prstGeom>
          <a:ln w="17780">
            <a:solidFill>
              <a:srgbClr val="0EA5A0"/>
            </a:solidFill>
          </a:ln>
        </p:spPr>
      </p:cxnSp>
      <p:sp>
        <p:nvSpPr>
          <p:cNvPr id="64" name="序号 15"/>
          <p:cNvSpPr/>
          <p:nvPr/>
        </p:nvSpPr>
        <p:spPr>
          <a:xfrm>
            <a:off x="2980134" y="1589049"/>
            <a:ext cx="360000" cy="360000"/>
          </a:xfrm>
          <a:prstGeom prst="ellipse">
            <a:avLst/>
          </a:prstGeom>
          <a:solidFill>
            <a:srgbClr val="0EA5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5" name="标签 16"/>
          <p:cNvSpPr/>
          <p:nvPr/>
        </p:nvSpPr>
        <p:spPr>
          <a:xfrm>
            <a:off x="3430134" y="1634897"/>
            <a:ext cx="160884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已完成（上次汇报）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3016134" y="2363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0EA5A0"/>
                </a:solidFill>
                <a:latin typeface="微软雅黑"/>
                <a:ea typeface="微软雅黑"/>
              </a:rPr>
              <a:t>阶段2</a:t>
            </a:r>
          </a:p>
        </p:txBody>
      </p:sp>
      <p:sp>
        <p:nvSpPr>
          <p:cNvPr id="67" name="文字 18"/>
          <p:cNvSpPr txBox="1"/>
          <p:nvPr/>
        </p:nvSpPr>
        <p:spPr>
          <a:xfrm>
            <a:off x="3016134" y="2579049"/>
            <a:ext cx="1479686" cy="297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系统架构设计</a:t>
            </a:r>
          </a:p>
        </p:txBody>
      </p:sp>
      <p:sp>
        <p:nvSpPr>
          <p:cNvPr id="68" name="文字 19"/>
          <p:cNvSpPr txBox="1"/>
          <p:nvPr/>
        </p:nvSpPr>
        <p:spPr>
          <a:xfrm>
            <a:off x="3016134" y="2921049"/>
            <a:ext cx="17568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22264" indent="-222264">
              <a:lnSpc>
                <a:spcPts val="2200"/>
              </a:lnSpc>
              <a:buClr>
                <a:srgbClr val="0EA5A0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划分系统层次</a:t>
            </a:r>
          </a:p>
          <a:p>
            <a:pPr algn="l" marL="222264" indent="-222264">
              <a:lnSpc>
                <a:spcPts val="2200"/>
              </a:lnSpc>
              <a:buClr>
                <a:srgbClr val="0EA5A0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明确模块职责</a:t>
            </a:r>
          </a:p>
          <a:p>
            <a:pPr algn="l" marL="222264" indent="-222264">
              <a:lnSpc>
                <a:spcPts val="2200"/>
              </a:lnSpc>
              <a:buClr>
                <a:srgbClr val="0EA5A0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梳理数据流向</a:t>
            </a:r>
          </a:p>
        </p:txBody>
      </p:sp>
      <p:sp>
        <p:nvSpPr>
          <p:cNvPr id="69" name="底色 20"/>
          <p:cNvSpPr/>
          <p:nvPr/>
        </p:nvSpPr>
        <p:spPr>
          <a:xfrm>
            <a:off x="29621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E7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文字 21"/>
          <p:cNvSpPr txBox="1"/>
          <p:nvPr/>
        </p:nvSpPr>
        <p:spPr>
          <a:xfrm>
            <a:off x="30701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0B8480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架构方案</a:t>
            </a:r>
          </a:p>
        </p:txBody>
      </p:sp>
      <p:sp>
        <p:nvSpPr>
          <p:cNvPr id="71" name="卡片 22"/>
          <p:cNvSpPr/>
          <p:nvPr/>
        </p:nvSpPr>
        <p:spPr>
          <a:xfrm>
            <a:off x="5024934" y="2147049"/>
            <a:ext cx="2044800" cy="36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2" name="色条 23"/>
          <p:cNvSpPr/>
          <p:nvPr/>
        </p:nvSpPr>
        <p:spPr>
          <a:xfrm>
            <a:off x="5024934" y="2147049"/>
            <a:ext cx="2044800" cy="1152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高亮边框 24"/>
          <p:cNvSpPr/>
          <p:nvPr/>
        </p:nvSpPr>
        <p:spPr>
          <a:xfrm>
            <a:off x="5024934" y="2147049"/>
            <a:ext cx="2044800" cy="3600000"/>
          </a:xfrm>
          <a:prstGeom prst="roundRect">
            <a:avLst>
              <a:gd name="adj" fmla="val 4348"/>
            </a:avLst>
          </a:prstGeom>
          <a:noFill/>
          <a:ln w="22225">
            <a:solidFill>
              <a:srgbClr val="7C3AE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4" name="连线 25"/>
          <p:cNvCxnSpPr/>
          <p:nvPr/>
        </p:nvCxnSpPr>
        <p:spPr>
          <a:xfrm>
            <a:off x="5330934" y="1769049"/>
            <a:ext cx="0" cy="378000"/>
          </a:xfrm>
          <a:prstGeom prst="line">
            <a:avLst/>
          </a:prstGeom>
          <a:ln w="17780">
            <a:solidFill>
              <a:srgbClr val="7C3AED"/>
            </a:solidFill>
          </a:ln>
        </p:spPr>
      </p:cxnSp>
      <p:sp>
        <p:nvSpPr>
          <p:cNvPr id="75" name="序号 26"/>
          <p:cNvSpPr/>
          <p:nvPr/>
        </p:nvSpPr>
        <p:spPr>
          <a:xfrm>
            <a:off x="5150934" y="1589049"/>
            <a:ext cx="360000" cy="360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6" name="标签 27"/>
          <p:cNvSpPr/>
          <p:nvPr/>
        </p:nvSpPr>
        <p:spPr>
          <a:xfrm>
            <a:off x="5600934" y="1634897"/>
            <a:ext cx="815040" cy="268304"/>
          </a:xfrm>
          <a:prstGeom prst="roundRect">
            <a:avLst>
              <a:gd name="adj" fmla="val 18918"/>
            </a:avLst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本次进度</a:t>
            </a:r>
          </a:p>
        </p:txBody>
      </p:sp>
      <p:sp>
        <p:nvSpPr>
          <p:cNvPr id="77" name="文字 28"/>
          <p:cNvSpPr txBox="1"/>
          <p:nvPr/>
        </p:nvSpPr>
        <p:spPr>
          <a:xfrm>
            <a:off x="5186934" y="2363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7C3AED"/>
                </a:solidFill>
                <a:latin typeface="微软雅黑"/>
                <a:ea typeface="微软雅黑"/>
              </a:rPr>
              <a:t>阶段3</a:t>
            </a:r>
          </a:p>
        </p:txBody>
      </p:sp>
      <p:sp>
        <p:nvSpPr>
          <p:cNvPr id="78" name="文字 29"/>
          <p:cNvSpPr txBox="1"/>
          <p:nvPr/>
        </p:nvSpPr>
        <p:spPr>
          <a:xfrm>
            <a:off x="5186934" y="2579049"/>
            <a:ext cx="1708301" cy="297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对象与数据结构</a:t>
            </a:r>
          </a:p>
        </p:txBody>
      </p:sp>
      <p:sp>
        <p:nvSpPr>
          <p:cNvPr id="79" name="文字 30"/>
          <p:cNvSpPr txBox="1"/>
          <p:nvPr/>
        </p:nvSpPr>
        <p:spPr>
          <a:xfrm>
            <a:off x="5186934" y="2921049"/>
            <a:ext cx="17568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22264" indent="-222264">
              <a:lnSpc>
                <a:spcPts val="2200"/>
              </a:lnSpc>
              <a:buClr>
                <a:srgbClr val="7C3AED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设计知识对象</a:t>
            </a:r>
          </a:p>
          <a:p>
            <a:pPr algn="l" marL="222264" indent="-222264">
              <a:lnSpc>
                <a:spcPts val="2200"/>
              </a:lnSpc>
              <a:buClr>
                <a:srgbClr val="7C3AED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定义字段与关系</a:t>
            </a:r>
          </a:p>
          <a:p>
            <a:pPr algn="l" marL="222264" indent="-222264">
              <a:lnSpc>
                <a:spcPts val="2200"/>
              </a:lnSpc>
              <a:buClr>
                <a:srgbClr val="7C3AED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编写校验程序</a:t>
            </a:r>
          </a:p>
        </p:txBody>
      </p:sp>
      <p:sp>
        <p:nvSpPr>
          <p:cNvPr id="80" name="底色 31"/>
          <p:cNvSpPr/>
          <p:nvPr/>
        </p:nvSpPr>
        <p:spPr>
          <a:xfrm>
            <a:off x="51329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F2E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文字 32"/>
          <p:cNvSpPr txBox="1"/>
          <p:nvPr/>
        </p:nvSpPr>
        <p:spPr>
          <a:xfrm>
            <a:off x="52409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632EBE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格式说明、校验程序</a:t>
            </a:r>
          </a:p>
        </p:txBody>
      </p:sp>
      <p:sp>
        <p:nvSpPr>
          <p:cNvPr id="82" name="卡片 33"/>
          <p:cNvSpPr/>
          <p:nvPr/>
        </p:nvSpPr>
        <p:spPr>
          <a:xfrm>
            <a:off x="7195734" y="2147049"/>
            <a:ext cx="2044800" cy="36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3" name="色条 34"/>
          <p:cNvSpPr/>
          <p:nvPr/>
        </p:nvSpPr>
        <p:spPr>
          <a:xfrm>
            <a:off x="7195734" y="2147049"/>
            <a:ext cx="2044800" cy="1152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4" name="连线 35"/>
          <p:cNvCxnSpPr/>
          <p:nvPr/>
        </p:nvCxnSpPr>
        <p:spPr>
          <a:xfrm>
            <a:off x="7501734" y="1769049"/>
            <a:ext cx="0" cy="378000"/>
          </a:xfrm>
          <a:prstGeom prst="line">
            <a:avLst/>
          </a:prstGeom>
          <a:ln w="17780">
            <a:solidFill>
              <a:srgbClr val="F59E0B"/>
            </a:solidFill>
          </a:ln>
        </p:spPr>
      </p:cxnSp>
      <p:sp>
        <p:nvSpPr>
          <p:cNvPr id="85" name="序号 36"/>
          <p:cNvSpPr/>
          <p:nvPr/>
        </p:nvSpPr>
        <p:spPr>
          <a:xfrm>
            <a:off x="7321734" y="1589049"/>
            <a:ext cx="360000" cy="36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86" name="标签 37"/>
          <p:cNvSpPr/>
          <p:nvPr/>
        </p:nvSpPr>
        <p:spPr>
          <a:xfrm>
            <a:off x="7771734" y="1634897"/>
            <a:ext cx="815040" cy="268304"/>
          </a:xfrm>
          <a:prstGeom prst="roundRect">
            <a:avLst>
              <a:gd name="adj" fmla="val 18918"/>
            </a:avLst>
          </a:prstGeom>
          <a:solidFill>
            <a:srgbClr val="FEF3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B87608"/>
                </a:solidFill>
                <a:latin typeface="微软雅黑"/>
                <a:ea typeface="微软雅黑"/>
              </a:rPr>
              <a:t>下一阶段</a:t>
            </a:r>
          </a:p>
        </p:txBody>
      </p:sp>
      <p:sp>
        <p:nvSpPr>
          <p:cNvPr id="87" name="文字 38"/>
          <p:cNvSpPr txBox="1"/>
          <p:nvPr/>
        </p:nvSpPr>
        <p:spPr>
          <a:xfrm>
            <a:off x="7357734" y="2363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F59E0B"/>
                </a:solidFill>
                <a:latin typeface="微软雅黑"/>
                <a:ea typeface="微软雅黑"/>
              </a:rPr>
              <a:t>阶段4</a:t>
            </a:r>
          </a:p>
        </p:txBody>
      </p:sp>
      <p:sp>
        <p:nvSpPr>
          <p:cNvPr id="88" name="文字 39"/>
          <p:cNvSpPr txBox="1"/>
          <p:nvPr/>
        </p:nvSpPr>
        <p:spPr>
          <a:xfrm>
            <a:off x="7357734" y="2579049"/>
            <a:ext cx="1708301" cy="297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样例与原型实现</a:t>
            </a:r>
          </a:p>
        </p:txBody>
      </p:sp>
      <p:sp>
        <p:nvSpPr>
          <p:cNvPr id="89" name="文字 40"/>
          <p:cNvSpPr txBox="1"/>
          <p:nvPr/>
        </p:nvSpPr>
        <p:spPr>
          <a:xfrm>
            <a:off x="7357734" y="2921049"/>
            <a:ext cx="17568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22264" indent="-222264">
              <a:lnSpc>
                <a:spcPts val="2200"/>
              </a:lnSpc>
              <a:buClr>
                <a:srgbClr val="F59E0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确定技术选型</a:t>
            </a:r>
          </a:p>
          <a:p>
            <a:pPr algn="l" marL="222264" indent="-222264">
              <a:lnSpc>
                <a:spcPts val="2200"/>
              </a:lnSpc>
              <a:buClr>
                <a:srgbClr val="F59E0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整理样例章节数据</a:t>
            </a:r>
          </a:p>
          <a:p>
            <a:pPr algn="l" marL="222264" indent="-222264">
              <a:lnSpc>
                <a:spcPts val="2200"/>
              </a:lnSpc>
              <a:buClr>
                <a:srgbClr val="F59E0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实现查询接口</a:t>
            </a:r>
          </a:p>
          <a:p>
            <a:pPr algn="l" marL="222264" indent="-222264">
              <a:lnSpc>
                <a:spcPts val="2200"/>
              </a:lnSpc>
              <a:buClr>
                <a:srgbClr val="F59E0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实现知识检索</a:t>
            </a:r>
          </a:p>
          <a:p>
            <a:pPr algn="l" marL="222264" indent="-222264">
              <a:lnSpc>
                <a:spcPts val="2200"/>
              </a:lnSpc>
              <a:buClr>
                <a:srgbClr val="F59E0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接入课程问答</a:t>
            </a:r>
          </a:p>
          <a:p>
            <a:pPr algn="l" marL="222264" indent="-222264">
              <a:lnSpc>
                <a:spcPts val="2200"/>
              </a:lnSpc>
              <a:buClr>
                <a:srgbClr val="F59E0B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开发前端页面</a:t>
            </a:r>
          </a:p>
        </p:txBody>
      </p:sp>
      <p:sp>
        <p:nvSpPr>
          <p:cNvPr id="90" name="底色 41"/>
          <p:cNvSpPr/>
          <p:nvPr/>
        </p:nvSpPr>
        <p:spPr>
          <a:xfrm>
            <a:off x="73037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FEF5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文字 42"/>
          <p:cNvSpPr txBox="1"/>
          <p:nvPr/>
        </p:nvSpPr>
        <p:spPr>
          <a:xfrm>
            <a:off x="74117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C47E09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可运行的原型系统</a:t>
            </a:r>
          </a:p>
        </p:txBody>
      </p:sp>
      <p:sp>
        <p:nvSpPr>
          <p:cNvPr id="92" name="卡片 43"/>
          <p:cNvSpPr/>
          <p:nvPr/>
        </p:nvSpPr>
        <p:spPr>
          <a:xfrm>
            <a:off x="9366534" y="2147049"/>
            <a:ext cx="2044800" cy="3600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3" name="色条 44"/>
          <p:cNvSpPr/>
          <p:nvPr/>
        </p:nvSpPr>
        <p:spPr>
          <a:xfrm>
            <a:off x="9366534" y="2147049"/>
            <a:ext cx="2044800" cy="1152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4" name="连线 45"/>
          <p:cNvCxnSpPr/>
          <p:nvPr/>
        </p:nvCxnSpPr>
        <p:spPr>
          <a:xfrm>
            <a:off x="9672534" y="1769049"/>
            <a:ext cx="0" cy="378000"/>
          </a:xfrm>
          <a:prstGeom prst="line">
            <a:avLst/>
          </a:prstGeom>
          <a:ln w="17780">
            <a:solidFill>
              <a:srgbClr val="EF4444"/>
            </a:solidFill>
          </a:ln>
        </p:spPr>
      </p:cxnSp>
      <p:sp>
        <p:nvSpPr>
          <p:cNvPr id="95" name="序号 46"/>
          <p:cNvSpPr/>
          <p:nvPr/>
        </p:nvSpPr>
        <p:spPr>
          <a:xfrm>
            <a:off x="9492534" y="1589049"/>
            <a:ext cx="360000" cy="3600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6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96" name="文字 47"/>
          <p:cNvSpPr txBox="1"/>
          <p:nvPr/>
        </p:nvSpPr>
        <p:spPr>
          <a:xfrm>
            <a:off x="9528534" y="2363049"/>
            <a:ext cx="529032" cy="21464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300" b="1" lang="zh-CN" altLang="en-US">
                <a:solidFill>
                  <a:srgbClr val="EF4444"/>
                </a:solidFill>
                <a:latin typeface="微软雅黑"/>
                <a:ea typeface="微软雅黑"/>
              </a:rPr>
              <a:t>阶段5</a:t>
            </a:r>
          </a:p>
        </p:txBody>
      </p:sp>
      <p:sp>
        <p:nvSpPr>
          <p:cNvPr id="97" name="文字 48"/>
          <p:cNvSpPr txBox="1"/>
          <p:nvPr/>
        </p:nvSpPr>
        <p:spPr>
          <a:xfrm>
            <a:off x="9528534" y="2579049"/>
            <a:ext cx="1251072" cy="297199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测试与评价</a:t>
            </a:r>
          </a:p>
        </p:txBody>
      </p:sp>
      <p:sp>
        <p:nvSpPr>
          <p:cNvPr id="98" name="文字 49"/>
          <p:cNvSpPr txBox="1"/>
          <p:nvPr/>
        </p:nvSpPr>
        <p:spPr>
          <a:xfrm>
            <a:off x="9528534" y="2921049"/>
            <a:ext cx="1756800" cy="172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22264" indent="-222264">
              <a:lnSpc>
                <a:spcPts val="2200"/>
              </a:lnSpc>
              <a:buClr>
                <a:srgbClr val="EF4444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扩充教材知识</a:t>
            </a:r>
          </a:p>
          <a:p>
            <a:pPr algn="l" marL="222264" indent="-222264">
              <a:lnSpc>
                <a:spcPts val="2200"/>
              </a:lnSpc>
              <a:buClr>
                <a:srgbClr val="EF4444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检索与问答评测</a:t>
            </a:r>
          </a:p>
          <a:p>
            <a:pPr algn="l" marL="222264" indent="-222264">
              <a:lnSpc>
                <a:spcPts val="2200"/>
              </a:lnSpc>
              <a:buClr>
                <a:srgbClr val="EF4444"/>
              </a:buClr>
              <a:buSzPct val="80000"/>
              <a:buFont typeface="微软雅黑"/>
              <a:buChar char="●"/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开展师生试用</a:t>
            </a:r>
          </a:p>
        </p:txBody>
      </p:sp>
      <p:sp>
        <p:nvSpPr>
          <p:cNvPr id="99" name="底色 50"/>
          <p:cNvSpPr/>
          <p:nvPr/>
        </p:nvSpPr>
        <p:spPr>
          <a:xfrm>
            <a:off x="94745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FDEC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文字 51"/>
          <p:cNvSpPr txBox="1"/>
          <p:nvPr/>
        </p:nvSpPr>
        <p:spPr>
          <a:xfrm>
            <a:off x="95825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BF3636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评测结果与改进方案</a:t>
            </a:r>
          </a:p>
        </p:txBody>
      </p:sp>
      <p:sp>
        <p:nvSpPr>
          <p:cNvPr id="101" name="底色 52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文字 53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本次进度</a:t>
            </a:r>
          </a:p>
        </p:txBody>
      </p:sp>
      <p:cxnSp>
        <p:nvCxnSpPr>
          <p:cNvPr id="103" name="连线 54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104" name="文字 55"/>
          <p:cNvSpPr txBox="1"/>
          <p:nvPr/>
        </p:nvSpPr>
        <p:spPr>
          <a:xfrm>
            <a:off x="2051334" y="6072472"/>
            <a:ext cx="917637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第三阶段的数据结构已写成格式说明，并编写了知识库的加载与校验程序，人工整理的数据可直接被系统读取和检查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二、知识对象设计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对象的划分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知识对象设计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3672000" cy="3744000"/>
          </a:xfrm>
          <a:prstGeom prst="roundRect">
            <a:avLst>
              <a:gd name="adj" fmla="val 2421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文字 2"/>
          <p:cNvSpPr txBox="1"/>
          <p:nvPr/>
        </p:nvSpPr>
        <p:spPr>
          <a:xfrm>
            <a:off x="899334" y="1692450"/>
            <a:ext cx="3079987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知识库（人工依据教材整理）</a:t>
            </a:r>
          </a:p>
        </p:txBody>
      </p:sp>
      <p:sp>
        <p:nvSpPr>
          <p:cNvPr id="52" name="知识点 3"/>
          <p:cNvSpPr/>
          <p:nvPr/>
        </p:nvSpPr>
        <p:spPr>
          <a:xfrm>
            <a:off x="1151334" y="2174049"/>
            <a:ext cx="2736000" cy="414000"/>
          </a:xfrm>
          <a:prstGeom prst="roundRect">
            <a:avLst>
              <a:gd name="adj" fmla="val 15304"/>
            </a:avLst>
          </a:prstGeom>
          <a:solidFill>
            <a:srgbClr val="E9F1FD"/>
          </a:solidFill>
          <a:ln w="12700">
            <a:solidFill>
              <a:srgbClr val="1F6F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章节</a:t>
            </a:r>
          </a:p>
        </p:txBody>
      </p:sp>
      <p:sp>
        <p:nvSpPr>
          <p:cNvPr id="53" name="知识点 4"/>
          <p:cNvSpPr/>
          <p:nvPr/>
        </p:nvSpPr>
        <p:spPr>
          <a:xfrm>
            <a:off x="1151334" y="2876049"/>
            <a:ext cx="2736000" cy="414000"/>
          </a:xfrm>
          <a:prstGeom prst="roundRect">
            <a:avLst>
              <a:gd name="adj" fmla="val 15304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知识实体（六类知识点）</a:t>
            </a:r>
          </a:p>
        </p:txBody>
      </p:sp>
      <p:cxnSp>
        <p:nvCxnSpPr>
          <p:cNvPr id="54" name="连线 5"/>
          <p:cNvCxnSpPr/>
          <p:nvPr/>
        </p:nvCxnSpPr>
        <p:spPr>
          <a:xfrm>
            <a:off x="2519334" y="3290049"/>
            <a:ext cx="0" cy="180000"/>
          </a:xfrm>
          <a:prstGeom prst="line">
            <a:avLst/>
          </a:prstGeom>
          <a:ln w="12700">
            <a:solidFill>
              <a:srgbClr val="F59E0B"/>
            </a:solidFill>
          </a:ln>
        </p:spPr>
      </p:cxnSp>
      <p:sp>
        <p:nvSpPr>
          <p:cNvPr id="55" name="知识点 6"/>
          <p:cNvSpPr/>
          <p:nvPr/>
        </p:nvSpPr>
        <p:spPr>
          <a:xfrm>
            <a:off x="1475334" y="3470049"/>
            <a:ext cx="2088000" cy="342000"/>
          </a:xfrm>
          <a:prstGeom prst="roundRect">
            <a:avLst>
              <a:gd name="adj" fmla="val 18526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公式变量（随公式保存）</a:t>
            </a:r>
          </a:p>
        </p:txBody>
      </p:sp>
      <p:sp>
        <p:nvSpPr>
          <p:cNvPr id="56" name="知识点 7"/>
          <p:cNvSpPr/>
          <p:nvPr/>
        </p:nvSpPr>
        <p:spPr>
          <a:xfrm>
            <a:off x="1151334" y="4064049"/>
            <a:ext cx="2736000" cy="414000"/>
          </a:xfrm>
          <a:prstGeom prst="roundRect">
            <a:avLst>
              <a:gd name="adj" fmla="val 15304"/>
            </a:avLst>
          </a:prstGeom>
          <a:solidFill>
            <a:srgbClr val="E7F6F6"/>
          </a:solidFill>
          <a:ln w="12700">
            <a:solidFill>
              <a:srgbClr val="0EA5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知识关系</a:t>
            </a:r>
          </a:p>
        </p:txBody>
      </p:sp>
      <p:sp>
        <p:nvSpPr>
          <p:cNvPr id="57" name="文字 8"/>
          <p:cNvSpPr txBox="1"/>
          <p:nvPr/>
        </p:nvSpPr>
        <p:spPr>
          <a:xfrm>
            <a:off x="1592154" y="4977855"/>
            <a:ext cx="185436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5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需要长期保存的课程知识</a:t>
            </a:r>
          </a:p>
        </p:txBody>
      </p:sp>
      <p:sp>
        <p:nvSpPr>
          <p:cNvPr id="58" name="卡片 9"/>
          <p:cNvSpPr/>
          <p:nvPr/>
        </p:nvSpPr>
        <p:spPr>
          <a:xfrm>
            <a:off x="6443334" y="1571049"/>
            <a:ext cx="4896000" cy="1656000"/>
          </a:xfrm>
          <a:prstGeom prst="roundRect">
            <a:avLst>
              <a:gd name="adj" fmla="val 5369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9" name="序号 10"/>
          <p:cNvSpPr/>
          <p:nvPr/>
        </p:nvSpPr>
        <p:spPr>
          <a:xfrm>
            <a:off x="6596334" y="1724049"/>
            <a:ext cx="342000" cy="342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0" name="文字 11"/>
          <p:cNvSpPr txBox="1"/>
          <p:nvPr/>
        </p:nvSpPr>
        <p:spPr>
          <a:xfrm>
            <a:off x="7055334" y="1746450"/>
            <a:ext cx="1022458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查询结果</a:t>
            </a:r>
          </a:p>
        </p:txBody>
      </p:sp>
      <p:sp>
        <p:nvSpPr>
          <p:cNvPr id="61" name="文字 12"/>
          <p:cNvSpPr txBox="1"/>
          <p:nvPr/>
        </p:nvSpPr>
        <p:spPr>
          <a:xfrm>
            <a:off x="6659334" y="2201049"/>
            <a:ext cx="4320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搜索结果、某个知识点的相邻知识、两个知识点之间的学习路径、局部图谱</a:t>
            </a:r>
          </a:p>
        </p:txBody>
      </p:sp>
      <p:cxnSp>
        <p:nvCxnSpPr>
          <p:cNvPr id="62" name="连线 13"/>
          <p:cNvCxnSpPr/>
          <p:nvPr/>
        </p:nvCxnSpPr>
        <p:spPr>
          <a:xfrm>
            <a:off x="4355334" y="2327049"/>
            <a:ext cx="2088000" cy="0"/>
          </a:xfrm>
          <a:prstGeom prst="line">
            <a:avLst/>
          </a:prstGeom>
          <a:ln w="17780">
            <a:solidFill>
              <a:srgbClr val="1E293B"/>
            </a:solidFill>
            <a:tailEnd type="stealth" w="lg" len="lg"/>
          </a:ln>
        </p:spPr>
      </p:cxnSp>
      <p:sp>
        <p:nvSpPr>
          <p:cNvPr id="63" name="连线说明 14"/>
          <p:cNvSpPr txBox="1"/>
          <p:nvPr/>
        </p:nvSpPr>
        <p:spPr>
          <a:xfrm>
            <a:off x="4973310" y="2080173"/>
            <a:ext cx="852048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运行时查询</a:t>
            </a:r>
          </a:p>
        </p:txBody>
      </p:sp>
      <p:sp>
        <p:nvSpPr>
          <p:cNvPr id="64" name="卡片 15"/>
          <p:cNvSpPr/>
          <p:nvPr/>
        </p:nvSpPr>
        <p:spPr>
          <a:xfrm>
            <a:off x="6443334" y="3515049"/>
            <a:ext cx="4896000" cy="1656000"/>
          </a:xfrm>
          <a:prstGeom prst="roundRect">
            <a:avLst>
              <a:gd name="adj" fmla="val 5369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5" name="序号 16"/>
          <p:cNvSpPr/>
          <p:nvPr/>
        </p:nvSpPr>
        <p:spPr>
          <a:xfrm>
            <a:off x="6596334" y="3668049"/>
            <a:ext cx="342000" cy="342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7055334" y="3690450"/>
            <a:ext cx="1022458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问答结果</a:t>
            </a:r>
          </a:p>
        </p:txBody>
      </p:sp>
      <p:sp>
        <p:nvSpPr>
          <p:cNvPr id="67" name="文字 18"/>
          <p:cNvSpPr txBox="1"/>
          <p:nvPr/>
        </p:nvSpPr>
        <p:spPr>
          <a:xfrm>
            <a:off x="6659334" y="4145049"/>
            <a:ext cx="4320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学生的问题、检索到的知识点和关系、模型的回答及引用依据</a:t>
            </a:r>
          </a:p>
        </p:txBody>
      </p:sp>
      <p:cxnSp>
        <p:nvCxnSpPr>
          <p:cNvPr id="68" name="连线 19"/>
          <p:cNvCxnSpPr/>
          <p:nvPr/>
        </p:nvCxnSpPr>
        <p:spPr>
          <a:xfrm>
            <a:off x="4355334" y="4271049"/>
            <a:ext cx="2088000" cy="0"/>
          </a:xfrm>
          <a:prstGeom prst="line">
            <a:avLst/>
          </a:prstGeom>
          <a:ln w="17780">
            <a:solidFill>
              <a:srgbClr val="1E293B"/>
            </a:solidFill>
            <a:tailEnd type="stealth" w="lg" len="lg"/>
          </a:ln>
        </p:spPr>
      </p:cxnSp>
      <p:sp>
        <p:nvSpPr>
          <p:cNvPr id="69" name="连线说明 20"/>
          <p:cNvSpPr txBox="1"/>
          <p:nvPr/>
        </p:nvSpPr>
        <p:spPr>
          <a:xfrm>
            <a:off x="4973310" y="4024173"/>
            <a:ext cx="852048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检索后生成</a:t>
            </a:r>
          </a:p>
        </p:txBody>
      </p:sp>
      <p:sp>
        <p:nvSpPr>
          <p:cNvPr id="70" name="标签 21"/>
          <p:cNvSpPr/>
          <p:nvPr/>
        </p:nvSpPr>
        <p:spPr>
          <a:xfrm>
            <a:off x="7690014" y="4838897"/>
            <a:ext cx="240264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由后端即时生成，不写回知识库</a:t>
            </a:r>
          </a:p>
        </p:txBody>
      </p:sp>
      <p:sp>
        <p:nvSpPr>
          <p:cNvPr id="71" name="底色 22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文字 23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设计原则</a:t>
            </a:r>
          </a:p>
        </p:txBody>
      </p:sp>
      <p:cxnSp>
        <p:nvCxnSpPr>
          <p:cNvPr id="73" name="连线 24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74" name="文字 25"/>
          <p:cNvSpPr txBox="1"/>
          <p:nvPr/>
        </p:nvSpPr>
        <p:spPr>
          <a:xfrm>
            <a:off x="2051334" y="6072472"/>
            <a:ext cx="5264525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课程知识只保存一份，搜索、学习路径和问答都从同一份数据读取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章节与公式的定位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知识对象设计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5256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卡片 2"/>
          <p:cNvSpPr/>
          <p:nvPr/>
        </p:nvSpPr>
        <p:spPr>
          <a:xfrm>
            <a:off x="6155334" y="1571049"/>
            <a:ext cx="5256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2" name="序号 3"/>
          <p:cNvSpPr/>
          <p:nvPr/>
        </p:nvSpPr>
        <p:spPr>
          <a:xfrm>
            <a:off x="836334" y="1724049"/>
            <a:ext cx="342000" cy="342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3" name="文字 4"/>
          <p:cNvSpPr txBox="1"/>
          <p:nvPr/>
        </p:nvSpPr>
        <p:spPr>
          <a:xfrm>
            <a:off x="1295334" y="1746450"/>
            <a:ext cx="1936915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章节不作为知识点</a:t>
            </a:r>
          </a:p>
        </p:txBody>
      </p:sp>
      <p:sp>
        <p:nvSpPr>
          <p:cNvPr id="54" name="文字 5"/>
          <p:cNvSpPr txBox="1"/>
          <p:nvPr/>
        </p:nvSpPr>
        <p:spPr>
          <a:xfrm>
            <a:off x="899334" y="2219049"/>
            <a:ext cx="4752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章节只负责导航和排序，不进入图谱。每个知识点只属于一个章节，跨章节的联系用知识关系表达。</a:t>
            </a:r>
          </a:p>
        </p:txBody>
      </p:sp>
      <p:sp>
        <p:nvSpPr>
          <p:cNvPr id="55" name="底色 6"/>
          <p:cNvSpPr/>
          <p:nvPr/>
        </p:nvSpPr>
        <p:spPr>
          <a:xfrm>
            <a:off x="971334" y="3227049"/>
            <a:ext cx="2016000" cy="1548000"/>
          </a:xfrm>
          <a:prstGeom prst="roundRect">
            <a:avLst>
              <a:gd name="adj" fmla="val 5744"/>
            </a:avLst>
          </a:prstGeom>
          <a:solidFill>
            <a:srgbClr val="EFF5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文字 7"/>
          <p:cNvSpPr txBox="1"/>
          <p:nvPr/>
        </p:nvSpPr>
        <p:spPr>
          <a:xfrm>
            <a:off x="1449054" y="3285855"/>
            <a:ext cx="106056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1F6FEB"/>
                </a:solidFill>
                <a:latin typeface="微软雅黑"/>
                <a:ea typeface="微软雅黑"/>
              </a:rPr>
              <a:t>章节：静电场</a:t>
            </a:r>
          </a:p>
        </p:txBody>
      </p:sp>
      <p:sp>
        <p:nvSpPr>
          <p:cNvPr id="57" name="知识点 8"/>
          <p:cNvSpPr/>
          <p:nvPr/>
        </p:nvSpPr>
        <p:spPr>
          <a:xfrm>
            <a:off x="1367334" y="39200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</a:t>
            </a:r>
          </a:p>
        </p:txBody>
      </p:sp>
      <p:sp>
        <p:nvSpPr>
          <p:cNvPr id="58" name="底色 9"/>
          <p:cNvSpPr/>
          <p:nvPr/>
        </p:nvSpPr>
        <p:spPr>
          <a:xfrm>
            <a:off x="3635334" y="3227049"/>
            <a:ext cx="2016000" cy="1548000"/>
          </a:xfrm>
          <a:prstGeom prst="roundRect">
            <a:avLst>
              <a:gd name="adj" fmla="val 5744"/>
            </a:avLst>
          </a:prstGeom>
          <a:solidFill>
            <a:srgbClr val="EFF5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文字 10"/>
          <p:cNvSpPr txBox="1"/>
          <p:nvPr/>
        </p:nvSpPr>
        <p:spPr>
          <a:xfrm>
            <a:off x="3954294" y="3285855"/>
            <a:ext cx="137808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1F6FEB"/>
                </a:solidFill>
                <a:latin typeface="微软雅黑"/>
                <a:ea typeface="微软雅黑"/>
              </a:rPr>
              <a:t>章节：时变电磁场</a:t>
            </a:r>
          </a:p>
        </p:txBody>
      </p:sp>
      <p:sp>
        <p:nvSpPr>
          <p:cNvPr id="60" name="知识点 11"/>
          <p:cNvSpPr/>
          <p:nvPr/>
        </p:nvSpPr>
        <p:spPr>
          <a:xfrm>
            <a:off x="3912995" y="3920049"/>
            <a:ext cx="1460678" cy="414000"/>
          </a:xfrm>
          <a:prstGeom prst="roundRect">
            <a:avLst>
              <a:gd name="adj" fmla="val 15304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麦克斯韦方程组</a:t>
            </a:r>
          </a:p>
        </p:txBody>
      </p:sp>
      <p:cxnSp>
        <p:nvCxnSpPr>
          <p:cNvPr id="61" name="连线 12"/>
          <p:cNvCxnSpPr/>
          <p:nvPr/>
        </p:nvCxnSpPr>
        <p:spPr>
          <a:xfrm>
            <a:off x="2591334" y="4127049"/>
            <a:ext cx="1321661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2" name="连线说明 13"/>
          <p:cNvSpPr txBox="1"/>
          <p:nvPr/>
        </p:nvSpPr>
        <p:spPr>
          <a:xfrm>
            <a:off x="2902345" y="3880173"/>
            <a:ext cx="699638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前置知识</a:t>
            </a:r>
          </a:p>
        </p:txBody>
      </p:sp>
      <p:sp>
        <p:nvSpPr>
          <p:cNvPr id="63" name="文字 14"/>
          <p:cNvSpPr txBox="1"/>
          <p:nvPr/>
        </p:nvSpPr>
        <p:spPr>
          <a:xfrm>
            <a:off x="2372247" y="5283855"/>
            <a:ext cx="1878174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5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共 6 个章节，暂不分层级</a:t>
            </a:r>
          </a:p>
        </p:txBody>
      </p:sp>
      <p:sp>
        <p:nvSpPr>
          <p:cNvPr id="64" name="序号 15"/>
          <p:cNvSpPr/>
          <p:nvPr/>
        </p:nvSpPr>
        <p:spPr>
          <a:xfrm>
            <a:off x="6308334" y="1724049"/>
            <a:ext cx="342000" cy="342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65" name="文字 16"/>
          <p:cNvSpPr txBox="1"/>
          <p:nvPr/>
        </p:nvSpPr>
        <p:spPr>
          <a:xfrm>
            <a:off x="6767334" y="1746450"/>
            <a:ext cx="2165530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公式单独作为知识点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6371334" y="2219049"/>
            <a:ext cx="4752000" cy="7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公式可以被搜索、点击，单独展示变量和成立条件，并和定律、物理量、其他公式建立联系。</a:t>
            </a:r>
          </a:p>
        </p:txBody>
      </p:sp>
      <p:sp>
        <p:nvSpPr>
          <p:cNvPr id="67" name="知识点 18"/>
          <p:cNvSpPr/>
          <p:nvPr/>
        </p:nvSpPr>
        <p:spPr>
          <a:xfrm>
            <a:off x="8171334" y="32720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</a:t>
            </a:r>
          </a:p>
        </p:txBody>
      </p:sp>
      <p:sp>
        <p:nvSpPr>
          <p:cNvPr id="68" name="知识点 19"/>
          <p:cNvSpPr/>
          <p:nvPr/>
        </p:nvSpPr>
        <p:spPr>
          <a:xfrm>
            <a:off x="6740089" y="4316049"/>
            <a:ext cx="1638490" cy="414000"/>
          </a:xfrm>
          <a:prstGeom prst="roundRect">
            <a:avLst>
              <a:gd name="adj" fmla="val 15304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高斯定律积分形式</a:t>
            </a:r>
          </a:p>
        </p:txBody>
      </p:sp>
      <p:cxnSp>
        <p:nvCxnSpPr>
          <p:cNvPr id="69" name="连线 20"/>
          <p:cNvCxnSpPr/>
          <p:nvPr/>
        </p:nvCxnSpPr>
        <p:spPr>
          <a:xfrm flipH="1">
            <a:off x="7802024" y="3686049"/>
            <a:ext cx="738620" cy="6300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70" name="连线说明 21"/>
          <p:cNvSpPr txBox="1"/>
          <p:nvPr/>
        </p:nvSpPr>
        <p:spPr>
          <a:xfrm>
            <a:off x="7897720" y="38981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sp>
        <p:nvSpPr>
          <p:cNvPr id="71" name="知识点 22"/>
          <p:cNvSpPr/>
          <p:nvPr/>
        </p:nvSpPr>
        <p:spPr>
          <a:xfrm>
            <a:off x="9188089" y="4316049"/>
            <a:ext cx="1638490" cy="414000"/>
          </a:xfrm>
          <a:prstGeom prst="roundRect">
            <a:avLst>
              <a:gd name="adj" fmla="val 15304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高斯定律微分形式</a:t>
            </a:r>
          </a:p>
        </p:txBody>
      </p:sp>
      <p:cxnSp>
        <p:nvCxnSpPr>
          <p:cNvPr id="72" name="连线 23"/>
          <p:cNvCxnSpPr/>
          <p:nvPr/>
        </p:nvCxnSpPr>
        <p:spPr>
          <a:xfrm>
            <a:off x="9026024" y="3686049"/>
            <a:ext cx="738620" cy="6300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73" name="连线说明 24"/>
          <p:cNvSpPr txBox="1"/>
          <p:nvPr/>
        </p:nvSpPr>
        <p:spPr>
          <a:xfrm>
            <a:off x="9121720" y="38981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sp>
        <p:nvSpPr>
          <p:cNvPr id="74" name="底色 25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文字 26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对象编号</a:t>
            </a:r>
          </a:p>
        </p:txBody>
      </p:sp>
      <p:cxnSp>
        <p:nvCxnSpPr>
          <p:cNvPr id="76" name="连线 27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77" name="文字 28"/>
          <p:cNvSpPr txBox="1"/>
          <p:nvPr/>
        </p:nvSpPr>
        <p:spPr>
          <a:xfrm>
            <a:off x="2051334" y="6072472"/>
            <a:ext cx="7869459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每个对象有固定的英文编号（如 maxwell-equations），名称修改不影响引用，界面显示中文名称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三、知识点内容设计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共有内容与各类专有内容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知识点内容设计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3024000" cy="4068000"/>
          </a:xfrm>
          <a:prstGeom prst="roundRect">
            <a:avLst>
              <a:gd name="adj" fmla="val 2940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文字 2"/>
          <p:cNvSpPr txBox="1"/>
          <p:nvPr/>
        </p:nvSpPr>
        <p:spPr>
          <a:xfrm>
            <a:off x="899334" y="1710450"/>
            <a:ext cx="1022458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共有内容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899334" y="2147049"/>
            <a:ext cx="2664000" cy="194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238140" indent="-238140">
              <a:lnSpc>
                <a:spcPts val="25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5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编号、名称、类型</a:t>
            </a:r>
          </a:p>
          <a:p>
            <a:pPr algn="l" marL="238140" indent="-238140">
              <a:lnSpc>
                <a:spcPts val="25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5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一句话说明</a:t>
            </a:r>
          </a:p>
          <a:p>
            <a:pPr algn="l" marL="238140" indent="-238140">
              <a:lnSpc>
                <a:spcPts val="25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5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所属章节（只有一个）</a:t>
            </a:r>
          </a:p>
          <a:p>
            <a:pPr algn="l" marL="238140" indent="-238140">
              <a:lnSpc>
                <a:spcPts val="25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5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别名（如「高斯定理」）</a:t>
            </a:r>
          </a:p>
          <a:p>
            <a:pPr algn="l" marL="238140" indent="-238140">
              <a:lnSpc>
                <a:spcPts val="2500"/>
              </a:lnSpc>
              <a:buClr>
                <a:srgbClr val="64748B"/>
              </a:buClr>
              <a:buSzPct val="80000"/>
              <a:buFont typeface="微软雅黑"/>
              <a:buChar char="●"/>
            </a:pPr>
            <a:r>
              <a:rPr sz="15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标签</a:t>
            </a:r>
          </a:p>
          <a:p>
            <a:pPr algn="l" marL="238140" indent="-238140">
              <a:lnSpc>
                <a:spcPts val="2500"/>
              </a:lnSpc>
              <a:buClr>
                <a:srgbClr val="EF4444"/>
              </a:buClr>
              <a:buSzPct val="80000"/>
              <a:buFont typeface="微软雅黑"/>
              <a:buChar char="●"/>
            </a:pPr>
            <a:r>
              <a:rPr sz="1500" b="1" lang="zh-CN" altLang="en-US">
                <a:solidFill>
                  <a:srgbClr val="EF4444"/>
                </a:solidFill>
                <a:latin typeface="微软雅黑"/>
                <a:ea typeface="微软雅黑"/>
              </a:rPr>
              <a:t>适用条件</a:t>
            </a:r>
          </a:p>
        </p:txBody>
      </p:sp>
      <p:sp>
        <p:nvSpPr>
          <p:cNvPr id="53" name="底色 4"/>
          <p:cNvSpPr/>
          <p:nvPr/>
        </p:nvSpPr>
        <p:spPr>
          <a:xfrm>
            <a:off x="899334" y="4631049"/>
            <a:ext cx="2592000" cy="828000"/>
          </a:xfrm>
          <a:prstGeom prst="roundRect">
            <a:avLst>
              <a:gd name="adj" fmla="val 10739"/>
            </a:avLst>
          </a:prstGeom>
          <a:solidFill>
            <a:srgbClr val="FE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文字 5"/>
          <p:cNvSpPr txBox="1"/>
          <p:nvPr/>
        </p:nvSpPr>
        <p:spPr>
          <a:xfrm>
            <a:off x="1007334" y="4721049"/>
            <a:ext cx="2376000" cy="648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ts val="1700"/>
              </a:lnSpc>
            </a:pPr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公式的成立条件、方法的适用范围、定律的有效条件都记在这里，查看时位置统一</a:t>
            </a:r>
          </a:p>
        </p:txBody>
      </p:sp>
      <p:sp>
        <p:nvSpPr>
          <p:cNvPr id="55" name="卡片 6"/>
          <p:cNvSpPr/>
          <p:nvPr/>
        </p:nvSpPr>
        <p:spPr>
          <a:xfrm>
            <a:off x="4031334" y="1571049"/>
            <a:ext cx="7416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序号 7"/>
          <p:cNvSpPr/>
          <p:nvPr/>
        </p:nvSpPr>
        <p:spPr>
          <a:xfrm>
            <a:off x="4130334" y="1724049"/>
            <a:ext cx="270000" cy="27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7" name="文字 8"/>
          <p:cNvSpPr txBox="1"/>
          <p:nvPr/>
        </p:nvSpPr>
        <p:spPr>
          <a:xfrm>
            <a:off x="4499334" y="1726961"/>
            <a:ext cx="514426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概念</a:t>
            </a:r>
          </a:p>
        </p:txBody>
      </p:sp>
      <p:sp>
        <p:nvSpPr>
          <p:cNvPr id="58" name="标签 9"/>
          <p:cNvSpPr/>
          <p:nvPr/>
        </p:nvSpPr>
        <p:spPr>
          <a:xfrm>
            <a:off x="5723334" y="1724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4EE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1753B0"/>
                </a:solidFill>
                <a:latin typeface="微软雅黑"/>
                <a:ea typeface="微软雅黑"/>
              </a:rPr>
              <a:t>专有</a:t>
            </a:r>
          </a:p>
        </p:txBody>
      </p:sp>
      <p:sp>
        <p:nvSpPr>
          <p:cNvPr id="59" name="文字 10"/>
          <p:cNvSpPr txBox="1"/>
          <p:nvPr/>
        </p:nvSpPr>
        <p:spPr>
          <a:xfrm>
            <a:off x="6281334" y="1743472"/>
            <a:ext cx="2241734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定义、核心要点、常见误解</a:t>
            </a:r>
          </a:p>
        </p:txBody>
      </p:sp>
      <p:sp>
        <p:nvSpPr>
          <p:cNvPr id="60" name="标签 11"/>
          <p:cNvSpPr/>
          <p:nvPr/>
        </p:nvSpPr>
        <p:spPr>
          <a:xfrm>
            <a:off x="9071334" y="1724897"/>
            <a:ext cx="33876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例</a:t>
            </a:r>
          </a:p>
        </p:txBody>
      </p:sp>
      <p:sp>
        <p:nvSpPr>
          <p:cNvPr id="61" name="文字 12"/>
          <p:cNvSpPr txBox="1"/>
          <p:nvPr/>
        </p:nvSpPr>
        <p:spPr>
          <a:xfrm>
            <a:off x="9431334" y="1743472"/>
            <a:ext cx="170830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电偶极子、电磁感应</a:t>
            </a:r>
          </a:p>
        </p:txBody>
      </p:sp>
      <p:sp>
        <p:nvSpPr>
          <p:cNvPr id="62" name="卡片 13"/>
          <p:cNvSpPr/>
          <p:nvPr/>
        </p:nvSpPr>
        <p:spPr>
          <a:xfrm>
            <a:off x="4031334" y="2255049"/>
            <a:ext cx="7416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3" name="序号 14"/>
          <p:cNvSpPr/>
          <p:nvPr/>
        </p:nvSpPr>
        <p:spPr>
          <a:xfrm>
            <a:off x="4130334" y="2408049"/>
            <a:ext cx="270000" cy="270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64" name="文字 15"/>
          <p:cNvSpPr txBox="1"/>
          <p:nvPr/>
        </p:nvSpPr>
        <p:spPr>
          <a:xfrm>
            <a:off x="4499334" y="2410961"/>
            <a:ext cx="112406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定律或定理</a:t>
            </a:r>
          </a:p>
        </p:txBody>
      </p:sp>
      <p:sp>
        <p:nvSpPr>
          <p:cNvPr id="65" name="标签 16"/>
          <p:cNvSpPr/>
          <p:nvPr/>
        </p:nvSpPr>
        <p:spPr>
          <a:xfrm>
            <a:off x="5723334" y="240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FE7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5D2CB2"/>
                </a:solidFill>
                <a:latin typeface="微软雅黑"/>
                <a:ea typeface="微软雅黑"/>
              </a:rPr>
              <a:t>专有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6281334" y="2427472"/>
            <a:ext cx="2597357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文字表述、物理意义、常见误解</a:t>
            </a:r>
          </a:p>
        </p:txBody>
      </p:sp>
      <p:sp>
        <p:nvSpPr>
          <p:cNvPr id="67" name="标签 18"/>
          <p:cNvSpPr/>
          <p:nvPr/>
        </p:nvSpPr>
        <p:spPr>
          <a:xfrm>
            <a:off x="9071334" y="2408897"/>
            <a:ext cx="33876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例</a:t>
            </a:r>
          </a:p>
        </p:txBody>
      </p:sp>
      <p:sp>
        <p:nvSpPr>
          <p:cNvPr id="68" name="文字 19"/>
          <p:cNvSpPr txBox="1"/>
          <p:nvPr/>
        </p:nvSpPr>
        <p:spPr>
          <a:xfrm>
            <a:off x="9431334" y="2427472"/>
            <a:ext cx="1886112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高斯定律、唯一性定理</a:t>
            </a:r>
          </a:p>
        </p:txBody>
      </p:sp>
      <p:sp>
        <p:nvSpPr>
          <p:cNvPr id="69" name="卡片 20"/>
          <p:cNvSpPr/>
          <p:nvPr/>
        </p:nvSpPr>
        <p:spPr>
          <a:xfrm>
            <a:off x="4031334" y="2939049"/>
            <a:ext cx="7416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0" name="序号 21"/>
          <p:cNvSpPr/>
          <p:nvPr/>
        </p:nvSpPr>
        <p:spPr>
          <a:xfrm>
            <a:off x="4130334" y="3092049"/>
            <a:ext cx="270000" cy="270000"/>
          </a:xfrm>
          <a:prstGeom prst="ellipse">
            <a:avLst/>
          </a:prstGeom>
          <a:solidFill>
            <a:srgbClr val="0EA5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71" name="文字 22"/>
          <p:cNvSpPr txBox="1"/>
          <p:nvPr/>
        </p:nvSpPr>
        <p:spPr>
          <a:xfrm>
            <a:off x="4499334" y="3094961"/>
            <a:ext cx="717638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72" name="标签 23"/>
          <p:cNvSpPr/>
          <p:nvPr/>
        </p:nvSpPr>
        <p:spPr>
          <a:xfrm>
            <a:off x="5723334" y="3092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2F4F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A7C78"/>
                </a:solidFill>
                <a:latin typeface="微软雅黑"/>
                <a:ea typeface="微软雅黑"/>
              </a:rPr>
              <a:t>专有</a:t>
            </a:r>
          </a:p>
        </p:txBody>
      </p:sp>
      <p:sp>
        <p:nvSpPr>
          <p:cNvPr id="73" name="文字 24"/>
          <p:cNvSpPr txBox="1"/>
          <p:nvPr/>
        </p:nvSpPr>
        <p:spPr>
          <a:xfrm>
            <a:off x="6281334" y="3111472"/>
            <a:ext cx="2063923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符号、单位、标量或矢量</a:t>
            </a:r>
          </a:p>
        </p:txBody>
      </p:sp>
      <p:sp>
        <p:nvSpPr>
          <p:cNvPr id="74" name="标签 25"/>
          <p:cNvSpPr/>
          <p:nvPr/>
        </p:nvSpPr>
        <p:spPr>
          <a:xfrm>
            <a:off x="9071334" y="3092897"/>
            <a:ext cx="33876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例</a:t>
            </a:r>
          </a:p>
        </p:txBody>
      </p:sp>
      <p:sp>
        <p:nvSpPr>
          <p:cNvPr id="75" name="文字 26"/>
          <p:cNvSpPr txBox="1"/>
          <p:nvPr/>
        </p:nvSpPr>
        <p:spPr>
          <a:xfrm>
            <a:off x="9431334" y="3111472"/>
            <a:ext cx="1743863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电场强度（E，V/m）</a:t>
            </a:r>
          </a:p>
        </p:txBody>
      </p:sp>
      <p:sp>
        <p:nvSpPr>
          <p:cNvPr id="76" name="卡片 27"/>
          <p:cNvSpPr/>
          <p:nvPr/>
        </p:nvSpPr>
        <p:spPr>
          <a:xfrm>
            <a:off x="4031334" y="3623049"/>
            <a:ext cx="7416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7" name="序号 28"/>
          <p:cNvSpPr/>
          <p:nvPr/>
        </p:nvSpPr>
        <p:spPr>
          <a:xfrm>
            <a:off x="4130334" y="3776049"/>
            <a:ext cx="270000" cy="27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78" name="文字 29"/>
          <p:cNvSpPr txBox="1"/>
          <p:nvPr/>
        </p:nvSpPr>
        <p:spPr>
          <a:xfrm>
            <a:off x="4499334" y="3778961"/>
            <a:ext cx="112406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公式或方程</a:t>
            </a:r>
          </a:p>
        </p:txBody>
      </p:sp>
      <p:sp>
        <p:nvSpPr>
          <p:cNvPr id="79" name="标签 30"/>
          <p:cNvSpPr/>
          <p:nvPr/>
        </p:nvSpPr>
        <p:spPr>
          <a:xfrm>
            <a:off x="5723334" y="3776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FEF3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B87608"/>
                </a:solidFill>
                <a:latin typeface="微软雅黑"/>
                <a:ea typeface="微软雅黑"/>
              </a:rPr>
              <a:t>专有</a:t>
            </a:r>
          </a:p>
        </p:txBody>
      </p:sp>
      <p:sp>
        <p:nvSpPr>
          <p:cNvPr id="80" name="文字 31"/>
          <p:cNvSpPr txBox="1"/>
          <p:nvPr/>
        </p:nvSpPr>
        <p:spPr>
          <a:xfrm>
            <a:off x="6281334" y="3795472"/>
            <a:ext cx="2241734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数学表达式、变量及其含义</a:t>
            </a:r>
          </a:p>
        </p:txBody>
      </p:sp>
      <p:sp>
        <p:nvSpPr>
          <p:cNvPr id="81" name="标签 32"/>
          <p:cNvSpPr/>
          <p:nvPr/>
        </p:nvSpPr>
        <p:spPr>
          <a:xfrm>
            <a:off x="9071334" y="3776897"/>
            <a:ext cx="33876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例</a:t>
            </a:r>
          </a:p>
        </p:txBody>
      </p:sp>
      <p:sp>
        <p:nvSpPr>
          <p:cNvPr id="82" name="文字 33"/>
          <p:cNvSpPr txBox="1"/>
          <p:nvPr/>
        </p:nvSpPr>
        <p:spPr>
          <a:xfrm>
            <a:off x="9431334" y="3795472"/>
            <a:ext cx="170830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法拉第定律微分形式</a:t>
            </a:r>
          </a:p>
        </p:txBody>
      </p:sp>
      <p:sp>
        <p:nvSpPr>
          <p:cNvPr id="83" name="卡片 34"/>
          <p:cNvSpPr/>
          <p:nvPr/>
        </p:nvSpPr>
        <p:spPr>
          <a:xfrm>
            <a:off x="4031334" y="4307049"/>
            <a:ext cx="7416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4" name="序号 35"/>
          <p:cNvSpPr/>
          <p:nvPr/>
        </p:nvSpPr>
        <p:spPr>
          <a:xfrm>
            <a:off x="4130334" y="4460049"/>
            <a:ext cx="270000" cy="27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85" name="文字 36"/>
          <p:cNvSpPr txBox="1"/>
          <p:nvPr/>
        </p:nvSpPr>
        <p:spPr>
          <a:xfrm>
            <a:off x="4499334" y="4462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工程应用</a:t>
            </a:r>
          </a:p>
        </p:txBody>
      </p:sp>
      <p:sp>
        <p:nvSpPr>
          <p:cNvPr id="86" name="标签 37"/>
          <p:cNvSpPr/>
          <p:nvPr/>
        </p:nvSpPr>
        <p:spPr>
          <a:xfrm>
            <a:off x="5723334" y="4460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2F7F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C8B61"/>
                </a:solidFill>
                <a:latin typeface="微软雅黑"/>
                <a:ea typeface="微软雅黑"/>
              </a:rPr>
              <a:t>专有</a:t>
            </a:r>
          </a:p>
        </p:txBody>
      </p:sp>
      <p:sp>
        <p:nvSpPr>
          <p:cNvPr id="87" name="文字 38"/>
          <p:cNvSpPr txBox="1"/>
          <p:nvPr/>
        </p:nvSpPr>
        <p:spPr>
          <a:xfrm>
            <a:off x="6281334" y="4479472"/>
            <a:ext cx="170830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应用场景、关键参数</a:t>
            </a:r>
          </a:p>
        </p:txBody>
      </p:sp>
      <p:sp>
        <p:nvSpPr>
          <p:cNvPr id="88" name="标签 39"/>
          <p:cNvSpPr/>
          <p:nvPr/>
        </p:nvSpPr>
        <p:spPr>
          <a:xfrm>
            <a:off x="9071334" y="4460897"/>
            <a:ext cx="33876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例</a:t>
            </a:r>
          </a:p>
        </p:txBody>
      </p:sp>
      <p:sp>
        <p:nvSpPr>
          <p:cNvPr id="89" name="文字 40"/>
          <p:cNvSpPr txBox="1"/>
          <p:nvPr/>
        </p:nvSpPr>
        <p:spPr>
          <a:xfrm>
            <a:off x="9431334" y="4479472"/>
            <a:ext cx="1174867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传输线、波导</a:t>
            </a:r>
          </a:p>
        </p:txBody>
      </p:sp>
      <p:sp>
        <p:nvSpPr>
          <p:cNvPr id="90" name="卡片 41"/>
          <p:cNvSpPr/>
          <p:nvPr/>
        </p:nvSpPr>
        <p:spPr>
          <a:xfrm>
            <a:off x="4031334" y="4991049"/>
            <a:ext cx="7416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1" name="序号 42"/>
          <p:cNvSpPr/>
          <p:nvPr/>
        </p:nvSpPr>
        <p:spPr>
          <a:xfrm>
            <a:off x="4130334" y="5144049"/>
            <a:ext cx="270000" cy="27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92" name="文字 43"/>
          <p:cNvSpPr txBox="1"/>
          <p:nvPr/>
        </p:nvSpPr>
        <p:spPr>
          <a:xfrm>
            <a:off x="4499334" y="5146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分析方法</a:t>
            </a:r>
          </a:p>
        </p:txBody>
      </p:sp>
      <p:sp>
        <p:nvSpPr>
          <p:cNvPr id="93" name="标签 44"/>
          <p:cNvSpPr/>
          <p:nvPr/>
        </p:nvSpPr>
        <p:spPr>
          <a:xfrm>
            <a:off x="5723334" y="5144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4EE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1753B0"/>
                </a:solidFill>
                <a:latin typeface="微软雅黑"/>
                <a:ea typeface="微软雅黑"/>
              </a:rPr>
              <a:t>专有</a:t>
            </a:r>
          </a:p>
        </p:txBody>
      </p:sp>
      <p:sp>
        <p:nvSpPr>
          <p:cNvPr id="94" name="文字 45"/>
          <p:cNvSpPr txBox="1"/>
          <p:nvPr/>
        </p:nvSpPr>
        <p:spPr>
          <a:xfrm>
            <a:off x="6281334" y="5163472"/>
            <a:ext cx="1352678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用途、主要步骤</a:t>
            </a:r>
          </a:p>
        </p:txBody>
      </p:sp>
      <p:sp>
        <p:nvSpPr>
          <p:cNvPr id="95" name="标签 46"/>
          <p:cNvSpPr/>
          <p:nvPr/>
        </p:nvSpPr>
        <p:spPr>
          <a:xfrm>
            <a:off x="9071334" y="5144897"/>
            <a:ext cx="33876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例</a:t>
            </a:r>
          </a:p>
        </p:txBody>
      </p:sp>
      <p:sp>
        <p:nvSpPr>
          <p:cNvPr id="96" name="文字 47"/>
          <p:cNvSpPr txBox="1"/>
          <p:nvPr/>
        </p:nvSpPr>
        <p:spPr>
          <a:xfrm>
            <a:off x="9431334" y="5163472"/>
            <a:ext cx="641434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镜像法</a:t>
            </a:r>
          </a:p>
        </p:txBody>
      </p:sp>
      <p:sp>
        <p:nvSpPr>
          <p:cNvPr id="97" name="底色 48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文字 49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两处调整</a:t>
            </a:r>
          </a:p>
        </p:txBody>
      </p:sp>
      <p:cxnSp>
        <p:nvCxnSpPr>
          <p:cNvPr id="99" name="连线 50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100" name="文字 51"/>
          <p:cNvSpPr txBox="1"/>
          <p:nvPr/>
        </p:nvSpPr>
        <p:spPr>
          <a:xfrm>
            <a:off x="2051334" y="6072472"/>
            <a:ext cx="8411783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定律与概念记录的内容相同，直接沿用概念的结构；「常见误解」单独记录，学生查询和 AI 回答都能用到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公式与变量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知识点内容设计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5112000" cy="4068000"/>
          </a:xfrm>
          <a:prstGeom prst="roundRect">
            <a:avLst>
              <a:gd name="adj" fmla="val 2185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签 2"/>
          <p:cNvSpPr/>
          <p:nvPr/>
        </p:nvSpPr>
        <p:spPr>
          <a:xfrm>
            <a:off x="899334" y="1724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FEF3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B87608"/>
                </a:solidFill>
                <a:latin typeface="微软雅黑"/>
                <a:ea typeface="微软雅黑"/>
              </a:rPr>
              <a:t>公式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1439334" y="1710450"/>
            <a:ext cx="2165530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法拉第定律微分形式</a:t>
            </a:r>
          </a:p>
        </p:txBody>
      </p:sp>
      <p:pic>
        <p:nvPicPr>
          <p:cNvPr id="53" name="公式 4" descr="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778" y="2121291"/>
            <a:ext cx="2039112" cy="699516"/>
          </a:xfrm>
          <a:prstGeom prst="rect">
            <a:avLst/>
          </a:prstGeom>
        </p:spPr>
      </p:pic>
      <p:sp>
        <p:nvSpPr>
          <p:cNvPr id="54" name="文字 5"/>
          <p:cNvSpPr txBox="1"/>
          <p:nvPr/>
        </p:nvSpPr>
        <p:spPr>
          <a:xfrm>
            <a:off x="899334" y="2921049"/>
            <a:ext cx="4680000" cy="50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800"/>
              </a:lnSpc>
            </a:pPr>
            <a:r>
              <a:rPr sz="13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所属章节：时变电磁场        别名：法拉第方程</a:t>
            </a:r>
          </a:p>
          <a:p>
            <a:pPr algn="l">
              <a:lnSpc>
                <a:spcPts val="1800"/>
              </a:lnSpc>
            </a:pPr>
            <a:r>
              <a:rPr sz="1300" b="0" lang="zh-CN" altLang="en-US">
                <a:solidFill>
                  <a:srgbClr val="EF4444"/>
                </a:solidFill>
                <a:latin typeface="微软雅黑"/>
                <a:ea typeface="微软雅黑"/>
              </a:rPr>
              <a:t>适用条件：适用于时变电磁场；介质连续</a:t>
            </a:r>
          </a:p>
        </p:txBody>
      </p:sp>
      <p:sp>
        <p:nvSpPr>
          <p:cNvPr id="55" name="底色 6"/>
          <p:cNvSpPr/>
          <p:nvPr/>
        </p:nvSpPr>
        <p:spPr>
          <a:xfrm>
            <a:off x="917334" y="3803049"/>
            <a:ext cx="4644000" cy="1656000"/>
          </a:xfrm>
          <a:prstGeom prst="roundRect">
            <a:avLst>
              <a:gd name="adj" fmla="val 5369"/>
            </a:avLst>
          </a:prstGeom>
          <a:solidFill>
            <a:srgbClr val="FEF8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56" name="变量表 7"/>
          <p:cNvGraphicFramePr>
            <a:graphicFrameLocks noGrp="1"/>
          </p:cNvGraphicFramePr>
          <p:nvPr/>
        </p:nvGraphicFramePr>
        <p:xfrm>
          <a:off x="1061334" y="3929049"/>
          <a:ext cx="4356000" cy="1404000"/>
        </p:xfrm>
        <a:graphic>
          <a:graphicData uri="http://schemas.openxmlformats.org/drawingml/2006/table">
            <a:tbl>
              <a:tblPr firstRow="0" bandRow="0"/>
              <a:tblGrid>
                <a:gridCol w="612000"/>
                <a:gridCol w="1188000"/>
                <a:gridCol w="792000"/>
                <a:gridCol w="1764000"/>
              </a:tblGrid>
              <a:tr h="324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1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符号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1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名称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1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单位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1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对应物理量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334155"/>
                      </a:solidFill>
                    </a:lnB>
                  </a:tcPr>
                </a:tc>
              </a:tr>
              <a:tr h="360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1" lang="zh-CN" altLang="en-US">
                          <a:solidFill>
                            <a:srgbClr val="334155"/>
                          </a:solidFill>
                          <a:latin typeface="Times New Roman"/>
                          <a:ea typeface="微软雅黑"/>
                        </a:rPr>
                        <a:t>E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电场强度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V/m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电场强度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  <a:tr h="360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1" lang="zh-CN" altLang="en-US">
                          <a:solidFill>
                            <a:srgbClr val="334155"/>
                          </a:solidFill>
                          <a:latin typeface="Times New Roman"/>
                          <a:ea typeface="微软雅黑"/>
                        </a:rPr>
                        <a:t>B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磁感应强度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T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磁感应强度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  <a:tr h="360000"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i="1" lang="zh-CN" altLang="en-US">
                          <a:solidFill>
                            <a:srgbClr val="334155"/>
                          </a:solidFill>
                          <a:latin typeface="Times New Roman"/>
                          <a:ea typeface="微软雅黑"/>
                        </a:rPr>
                        <a:t>t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时间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s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  <a:tc>
                  <a:txBody>
                    <a:bodyPr wrap="square" anchor="ctr" lIns="0" rIns="0" tIns="0" bIns="0">
                      <a:noAutofit/>
                    </a:bodyPr>
                    <a:lstStyle/>
                    <a:p>
                      <a:pPr algn="l"/>
                      <a:r>
                        <a:rPr sz="1400" b="0" lang="zh-CN" altLang="en-US">
                          <a:solidFill>
                            <a:srgbClr val="334155"/>
                          </a:solidFill>
                          <a:latin typeface="微软雅黑"/>
                          <a:ea typeface="微软雅黑"/>
                        </a:rPr>
                        <a:t>无（不单独建模）</a:t>
                      </a:r>
                    </a:p>
                  </a:txBody>
                  <a:tcPr marL="0" marR="0" marT="18000" marB="18000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7" name="卡片 8"/>
          <p:cNvSpPr/>
          <p:nvPr/>
        </p:nvSpPr>
        <p:spPr>
          <a:xfrm>
            <a:off x="6443334" y="1571049"/>
            <a:ext cx="4968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8" name="标签 9"/>
          <p:cNvSpPr/>
          <p:nvPr/>
        </p:nvSpPr>
        <p:spPr>
          <a:xfrm>
            <a:off x="6587334" y="1724897"/>
            <a:ext cx="656280" cy="268304"/>
          </a:xfrm>
          <a:prstGeom prst="roundRect">
            <a:avLst>
              <a:gd name="adj" fmla="val 18918"/>
            </a:avLst>
          </a:prstGeom>
          <a:solidFill>
            <a:srgbClr val="E2F4F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A7C78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59" name="文字 10"/>
          <p:cNvSpPr txBox="1"/>
          <p:nvPr/>
        </p:nvSpPr>
        <p:spPr>
          <a:xfrm>
            <a:off x="7235334" y="1726961"/>
            <a:ext cx="920851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电场强度</a:t>
            </a:r>
          </a:p>
        </p:txBody>
      </p:sp>
      <p:sp>
        <p:nvSpPr>
          <p:cNvPr id="60" name="文字 11"/>
          <p:cNvSpPr txBox="1"/>
          <p:nvPr/>
        </p:nvSpPr>
        <p:spPr>
          <a:xfrm>
            <a:off x="8963334" y="1747599"/>
            <a:ext cx="2234114" cy="2228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符号 E      单位 V/m      矢量</a:t>
            </a:r>
          </a:p>
        </p:txBody>
      </p:sp>
      <p:cxnSp>
        <p:nvCxnSpPr>
          <p:cNvPr id="61" name="连线 12"/>
          <p:cNvCxnSpPr/>
          <p:nvPr/>
        </p:nvCxnSpPr>
        <p:spPr>
          <a:xfrm>
            <a:off x="5795334" y="1859049"/>
            <a:ext cx="648000" cy="0"/>
          </a:xfrm>
          <a:prstGeom prst="line">
            <a:avLst/>
          </a:prstGeom>
          <a:ln w="16510">
            <a:solidFill>
              <a:srgbClr val="0EA5A0"/>
            </a:solidFill>
            <a:tailEnd type="stealth" w="lg" len="lg"/>
          </a:ln>
        </p:spPr>
      </p:cxnSp>
      <p:sp>
        <p:nvSpPr>
          <p:cNvPr id="62" name="连线说明 13"/>
          <p:cNvSpPr txBox="1"/>
          <p:nvPr/>
        </p:nvSpPr>
        <p:spPr>
          <a:xfrm>
            <a:off x="5921924" y="16193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关联</a:t>
            </a:r>
          </a:p>
        </p:txBody>
      </p:sp>
      <p:sp>
        <p:nvSpPr>
          <p:cNvPr id="63" name="卡片 14"/>
          <p:cNvSpPr/>
          <p:nvPr/>
        </p:nvSpPr>
        <p:spPr>
          <a:xfrm>
            <a:off x="6443334" y="2255049"/>
            <a:ext cx="4968000" cy="576000"/>
          </a:xfrm>
          <a:prstGeom prst="roundRect">
            <a:avLst>
              <a:gd name="adj" fmla="val 1543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4" name="标签 15"/>
          <p:cNvSpPr/>
          <p:nvPr/>
        </p:nvSpPr>
        <p:spPr>
          <a:xfrm>
            <a:off x="6587334" y="2408897"/>
            <a:ext cx="656280" cy="268304"/>
          </a:xfrm>
          <a:prstGeom prst="roundRect">
            <a:avLst>
              <a:gd name="adj" fmla="val 18918"/>
            </a:avLst>
          </a:prstGeom>
          <a:solidFill>
            <a:srgbClr val="E2F4F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A7C78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65" name="文字 16"/>
          <p:cNvSpPr txBox="1"/>
          <p:nvPr/>
        </p:nvSpPr>
        <p:spPr>
          <a:xfrm>
            <a:off x="7235334" y="2410961"/>
            <a:ext cx="1124064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磁感应强度</a:t>
            </a:r>
          </a:p>
        </p:txBody>
      </p:sp>
      <p:sp>
        <p:nvSpPr>
          <p:cNvPr id="66" name="文字 17"/>
          <p:cNvSpPr txBox="1"/>
          <p:nvPr/>
        </p:nvSpPr>
        <p:spPr>
          <a:xfrm>
            <a:off x="8963334" y="2431599"/>
            <a:ext cx="2045507" cy="2228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符号 B      单位 T      矢量</a:t>
            </a:r>
          </a:p>
        </p:txBody>
      </p:sp>
      <p:cxnSp>
        <p:nvCxnSpPr>
          <p:cNvPr id="67" name="连线 18"/>
          <p:cNvCxnSpPr/>
          <p:nvPr/>
        </p:nvCxnSpPr>
        <p:spPr>
          <a:xfrm>
            <a:off x="5795334" y="2543049"/>
            <a:ext cx="648000" cy="0"/>
          </a:xfrm>
          <a:prstGeom prst="line">
            <a:avLst/>
          </a:prstGeom>
          <a:ln w="16510">
            <a:solidFill>
              <a:srgbClr val="0EA5A0"/>
            </a:solidFill>
            <a:tailEnd type="stealth" w="lg" len="lg"/>
          </a:ln>
        </p:spPr>
      </p:cxnSp>
      <p:sp>
        <p:nvSpPr>
          <p:cNvPr id="68" name="连线说明 19"/>
          <p:cNvSpPr txBox="1"/>
          <p:nvPr/>
        </p:nvSpPr>
        <p:spPr>
          <a:xfrm>
            <a:off x="5921924" y="23033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关联</a:t>
            </a:r>
          </a:p>
        </p:txBody>
      </p:sp>
      <p:sp>
        <p:nvSpPr>
          <p:cNvPr id="69" name="卡片 20"/>
          <p:cNvSpPr/>
          <p:nvPr/>
        </p:nvSpPr>
        <p:spPr>
          <a:xfrm>
            <a:off x="6443334" y="3047049"/>
            <a:ext cx="4968000" cy="12780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0" name="序号 21"/>
          <p:cNvSpPr/>
          <p:nvPr/>
        </p:nvSpPr>
        <p:spPr>
          <a:xfrm>
            <a:off x="6596334" y="3182049"/>
            <a:ext cx="342000" cy="342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1" name="文字 22"/>
          <p:cNvSpPr txBox="1"/>
          <p:nvPr/>
        </p:nvSpPr>
        <p:spPr>
          <a:xfrm>
            <a:off x="7055334" y="3204450"/>
            <a:ext cx="1936915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点击变量即可跳转</a:t>
            </a:r>
          </a:p>
        </p:txBody>
      </p:sp>
      <p:sp>
        <p:nvSpPr>
          <p:cNvPr id="72" name="文字 23"/>
          <p:cNvSpPr txBox="1"/>
          <p:nvPr/>
        </p:nvSpPr>
        <p:spPr>
          <a:xfrm>
            <a:off x="6659334" y="3641049"/>
            <a:ext cx="4536000" cy="57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学生看公式时，点击 E 或 B 就能看到对应物理量的定义和单位</a:t>
            </a:r>
          </a:p>
        </p:txBody>
      </p:sp>
      <p:sp>
        <p:nvSpPr>
          <p:cNvPr id="73" name="卡片 24"/>
          <p:cNvSpPr/>
          <p:nvPr/>
        </p:nvSpPr>
        <p:spPr>
          <a:xfrm>
            <a:off x="6443334" y="4433049"/>
            <a:ext cx="4968000" cy="12780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4" name="序号 25"/>
          <p:cNvSpPr/>
          <p:nvPr/>
        </p:nvSpPr>
        <p:spPr>
          <a:xfrm>
            <a:off x="6596334" y="4568049"/>
            <a:ext cx="342000" cy="3420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75" name="文字 26"/>
          <p:cNvSpPr txBox="1"/>
          <p:nvPr/>
        </p:nvSpPr>
        <p:spPr>
          <a:xfrm>
            <a:off x="7055334" y="4590450"/>
            <a:ext cx="2394144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自动检查写法是否一致</a:t>
            </a:r>
          </a:p>
        </p:txBody>
      </p:sp>
      <p:sp>
        <p:nvSpPr>
          <p:cNvPr id="76" name="文字 27"/>
          <p:cNvSpPr txBox="1"/>
          <p:nvPr/>
        </p:nvSpPr>
        <p:spPr>
          <a:xfrm>
            <a:off x="6659334" y="5027049"/>
            <a:ext cx="4536000" cy="57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同一物理量出现在很多公式中，名称或单位写得不一致时自动报错</a:t>
            </a:r>
          </a:p>
        </p:txBody>
      </p:sp>
      <p:sp>
        <p:nvSpPr>
          <p:cNvPr id="77" name="底色 28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文字 29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记录原则</a:t>
            </a:r>
          </a:p>
        </p:txBody>
      </p:sp>
      <p:cxnSp>
        <p:nvCxnSpPr>
          <p:cNvPr id="79" name="连线 30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80" name="文字 31"/>
          <p:cNvSpPr txBox="1"/>
          <p:nvPr/>
        </p:nvSpPr>
        <p:spPr>
          <a:xfrm>
            <a:off x="2051334" y="6072472"/>
            <a:ext cx="6331392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公式里出现哪些物理量只通过变量关联记录，不再另建关系，同一件事只记一处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四、知识关系设计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九种关系类型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知识关系设计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标签 2"/>
          <p:cNvSpPr/>
          <p:nvPr/>
        </p:nvSpPr>
        <p:spPr>
          <a:xfrm>
            <a:off x="845334" y="168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4EE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1753B0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1385334" y="1674450"/>
            <a:ext cx="1022458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前置知识</a:t>
            </a:r>
          </a:p>
        </p:txBody>
      </p:sp>
      <p:sp>
        <p:nvSpPr>
          <p:cNvPr id="53" name="文字 4"/>
          <p:cNvSpPr txBox="1"/>
          <p:nvPr/>
        </p:nvSpPr>
        <p:spPr>
          <a:xfrm>
            <a:off x="845334" y="2031472"/>
            <a:ext cx="1023728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1959BC"/>
                </a:solidFill>
                <a:latin typeface="微软雅黑"/>
                <a:ea typeface="微软雅黑"/>
              </a:rPr>
              <a:t>先学 → 后学</a:t>
            </a:r>
          </a:p>
        </p:txBody>
      </p:sp>
      <p:sp>
        <p:nvSpPr>
          <p:cNvPr id="54" name="文字 5"/>
          <p:cNvSpPr txBox="1"/>
          <p:nvPr/>
        </p:nvSpPr>
        <p:spPr>
          <a:xfrm>
            <a:off x="845334" y="2363727"/>
            <a:ext cx="2444312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例：高斯定律 → 麦克斯韦方程组</a:t>
            </a:r>
          </a:p>
        </p:txBody>
      </p:sp>
      <p:sp>
        <p:nvSpPr>
          <p:cNvPr id="55" name="卡片 6"/>
          <p:cNvSpPr/>
          <p:nvPr/>
        </p:nvSpPr>
        <p:spPr>
          <a:xfrm>
            <a:off x="4308534" y="157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标签 7"/>
          <p:cNvSpPr/>
          <p:nvPr/>
        </p:nvSpPr>
        <p:spPr>
          <a:xfrm>
            <a:off x="4470534" y="168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4EE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1753B0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57" name="文字 8"/>
          <p:cNvSpPr txBox="1"/>
          <p:nvPr/>
        </p:nvSpPr>
        <p:spPr>
          <a:xfrm>
            <a:off x="5010534" y="1674450"/>
            <a:ext cx="565229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定义</a:t>
            </a:r>
          </a:p>
        </p:txBody>
      </p:sp>
      <p:sp>
        <p:nvSpPr>
          <p:cNvPr id="58" name="文字 9"/>
          <p:cNvSpPr txBox="1"/>
          <p:nvPr/>
        </p:nvSpPr>
        <p:spPr>
          <a:xfrm>
            <a:off x="4470534" y="2031472"/>
            <a:ext cx="155716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1959BC"/>
                </a:solidFill>
                <a:latin typeface="微软雅黑"/>
                <a:ea typeface="微软雅黑"/>
              </a:rPr>
              <a:t>定义者 → 被定义者</a:t>
            </a:r>
          </a:p>
        </p:txBody>
      </p:sp>
      <p:sp>
        <p:nvSpPr>
          <p:cNvPr id="59" name="文字 10"/>
          <p:cNvSpPr txBox="1"/>
          <p:nvPr/>
        </p:nvSpPr>
        <p:spPr>
          <a:xfrm>
            <a:off x="4470534" y="2363727"/>
            <a:ext cx="2444312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例：电场强度定义式 → 电场强度</a:t>
            </a:r>
          </a:p>
        </p:txBody>
      </p:sp>
      <p:sp>
        <p:nvSpPr>
          <p:cNvPr id="60" name="卡片 11"/>
          <p:cNvSpPr/>
          <p:nvPr/>
        </p:nvSpPr>
        <p:spPr>
          <a:xfrm>
            <a:off x="7933734" y="157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1" name="标签 12"/>
          <p:cNvSpPr/>
          <p:nvPr/>
        </p:nvSpPr>
        <p:spPr>
          <a:xfrm>
            <a:off x="8095734" y="168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FEF3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B87608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62" name="文字 13"/>
          <p:cNvSpPr txBox="1"/>
          <p:nvPr/>
        </p:nvSpPr>
        <p:spPr>
          <a:xfrm>
            <a:off x="8635734" y="1674450"/>
            <a:ext cx="793843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sp>
        <p:nvSpPr>
          <p:cNvPr id="63" name="文字 14"/>
          <p:cNvSpPr txBox="1"/>
          <p:nvPr/>
        </p:nvSpPr>
        <p:spPr>
          <a:xfrm>
            <a:off x="8095734" y="2031472"/>
            <a:ext cx="1023728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C47E09"/>
                </a:solidFill>
                <a:latin typeface="微软雅黑"/>
                <a:ea typeface="微软雅黑"/>
              </a:rPr>
              <a:t>定律 → 公式</a:t>
            </a:r>
          </a:p>
        </p:txBody>
      </p:sp>
      <p:sp>
        <p:nvSpPr>
          <p:cNvPr id="64" name="文字 15"/>
          <p:cNvSpPr txBox="1"/>
          <p:nvPr/>
        </p:nvSpPr>
        <p:spPr>
          <a:xfrm>
            <a:off x="8095734" y="2363727"/>
            <a:ext cx="2609423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例：高斯定律 → 高斯定律积分形式</a:t>
            </a:r>
          </a:p>
        </p:txBody>
      </p:sp>
      <p:sp>
        <p:nvSpPr>
          <p:cNvPr id="65" name="卡片 16"/>
          <p:cNvSpPr/>
          <p:nvPr/>
        </p:nvSpPr>
        <p:spPr>
          <a:xfrm>
            <a:off x="683334" y="292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6" name="标签 17"/>
          <p:cNvSpPr/>
          <p:nvPr/>
        </p:nvSpPr>
        <p:spPr>
          <a:xfrm>
            <a:off x="845334" y="303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FE7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5D2CB2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67" name="文字 18"/>
          <p:cNvSpPr txBox="1"/>
          <p:nvPr/>
        </p:nvSpPr>
        <p:spPr>
          <a:xfrm>
            <a:off x="1385334" y="3024450"/>
            <a:ext cx="793843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推导出</a:t>
            </a:r>
          </a:p>
        </p:txBody>
      </p:sp>
      <p:sp>
        <p:nvSpPr>
          <p:cNvPr id="68" name="文字 19"/>
          <p:cNvSpPr txBox="1"/>
          <p:nvPr/>
        </p:nvSpPr>
        <p:spPr>
          <a:xfrm>
            <a:off x="845334" y="3381472"/>
            <a:ext cx="1379350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632EBE"/>
                </a:solidFill>
                <a:latin typeface="微软雅黑"/>
                <a:ea typeface="微软雅黑"/>
              </a:rPr>
              <a:t>已知 → 推导结果</a:t>
            </a:r>
          </a:p>
        </p:txBody>
      </p:sp>
      <p:sp>
        <p:nvSpPr>
          <p:cNvPr id="69" name="文字 20"/>
          <p:cNvSpPr txBox="1"/>
          <p:nvPr/>
        </p:nvSpPr>
        <p:spPr>
          <a:xfrm>
            <a:off x="845334" y="3713727"/>
            <a:ext cx="2444312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例：麦克斯韦方程组 → 波动方程</a:t>
            </a:r>
          </a:p>
        </p:txBody>
      </p:sp>
      <p:sp>
        <p:nvSpPr>
          <p:cNvPr id="70" name="卡片 21"/>
          <p:cNvSpPr/>
          <p:nvPr/>
        </p:nvSpPr>
        <p:spPr>
          <a:xfrm>
            <a:off x="4308534" y="292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1" name="标签 22"/>
          <p:cNvSpPr/>
          <p:nvPr/>
        </p:nvSpPr>
        <p:spPr>
          <a:xfrm>
            <a:off x="4470534" y="303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FE7F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5D2CB2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72" name="文字 23"/>
          <p:cNvSpPr txBox="1"/>
          <p:nvPr/>
        </p:nvSpPr>
        <p:spPr>
          <a:xfrm>
            <a:off x="5010534" y="3024450"/>
            <a:ext cx="565229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73" name="文字 24"/>
          <p:cNvSpPr txBox="1"/>
          <p:nvPr/>
        </p:nvSpPr>
        <p:spPr>
          <a:xfrm>
            <a:off x="4470534" y="3381472"/>
            <a:ext cx="155716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632EBE"/>
                </a:solidFill>
                <a:latin typeface="微软雅黑"/>
                <a:ea typeface="微软雅黑"/>
              </a:rPr>
              <a:t>使用者 → 被使用者</a:t>
            </a:r>
          </a:p>
        </p:txBody>
      </p:sp>
      <p:sp>
        <p:nvSpPr>
          <p:cNvPr id="74" name="文字 25"/>
          <p:cNvSpPr txBox="1"/>
          <p:nvPr/>
        </p:nvSpPr>
        <p:spPr>
          <a:xfrm>
            <a:off x="4470534" y="3713727"/>
            <a:ext cx="194898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例：镜像法 → 唯一性定理</a:t>
            </a:r>
          </a:p>
        </p:txBody>
      </p:sp>
      <p:sp>
        <p:nvSpPr>
          <p:cNvPr id="75" name="卡片 26"/>
          <p:cNvSpPr/>
          <p:nvPr/>
        </p:nvSpPr>
        <p:spPr>
          <a:xfrm>
            <a:off x="7933734" y="292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6" name="标签 27"/>
          <p:cNvSpPr/>
          <p:nvPr/>
        </p:nvSpPr>
        <p:spPr>
          <a:xfrm>
            <a:off x="8095734" y="303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2F4F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A7C78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77" name="文字 28"/>
          <p:cNvSpPr txBox="1"/>
          <p:nvPr/>
        </p:nvSpPr>
        <p:spPr>
          <a:xfrm>
            <a:off x="8635734" y="3024450"/>
            <a:ext cx="565229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描述</a:t>
            </a:r>
          </a:p>
        </p:txBody>
      </p:sp>
      <p:sp>
        <p:nvSpPr>
          <p:cNvPr id="78" name="文字 29"/>
          <p:cNvSpPr txBox="1"/>
          <p:nvPr/>
        </p:nvSpPr>
        <p:spPr>
          <a:xfrm>
            <a:off x="8095734" y="3381472"/>
            <a:ext cx="1557161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0B8480"/>
                </a:solidFill>
                <a:latin typeface="微软雅黑"/>
                <a:ea typeface="微软雅黑"/>
              </a:rPr>
              <a:t>定律或公式 → 现象</a:t>
            </a:r>
          </a:p>
        </p:txBody>
      </p:sp>
      <p:sp>
        <p:nvSpPr>
          <p:cNvPr id="79" name="文字 30"/>
          <p:cNvSpPr txBox="1"/>
          <p:nvPr/>
        </p:nvSpPr>
        <p:spPr>
          <a:xfrm>
            <a:off x="8095734" y="3713727"/>
            <a:ext cx="211409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例：法拉第定律 → 电磁感应</a:t>
            </a:r>
          </a:p>
        </p:txBody>
      </p:sp>
      <p:sp>
        <p:nvSpPr>
          <p:cNvPr id="80" name="卡片 31"/>
          <p:cNvSpPr/>
          <p:nvPr/>
        </p:nvSpPr>
        <p:spPr>
          <a:xfrm>
            <a:off x="683334" y="427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1" name="标签 32"/>
          <p:cNvSpPr/>
          <p:nvPr/>
        </p:nvSpPr>
        <p:spPr>
          <a:xfrm>
            <a:off x="845334" y="438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2F7F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C8B61"/>
                </a:solidFill>
                <a:latin typeface="微软雅黑"/>
                <a:ea typeface="微软雅黑"/>
              </a:rPr>
              <a:t>有向</a:t>
            </a:r>
          </a:p>
        </p:txBody>
      </p:sp>
      <p:sp>
        <p:nvSpPr>
          <p:cNvPr id="82" name="文字 33"/>
          <p:cNvSpPr txBox="1"/>
          <p:nvPr/>
        </p:nvSpPr>
        <p:spPr>
          <a:xfrm>
            <a:off x="1385334" y="4374450"/>
            <a:ext cx="793843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应用于</a:t>
            </a:r>
          </a:p>
        </p:txBody>
      </p:sp>
      <p:sp>
        <p:nvSpPr>
          <p:cNvPr id="83" name="文字 34"/>
          <p:cNvSpPr txBox="1"/>
          <p:nvPr/>
        </p:nvSpPr>
        <p:spPr>
          <a:xfrm>
            <a:off x="845334" y="4731472"/>
            <a:ext cx="1023728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0D9467"/>
                </a:solidFill>
                <a:latin typeface="微软雅黑"/>
                <a:ea typeface="微软雅黑"/>
              </a:rPr>
              <a:t>知识 → 应用</a:t>
            </a:r>
          </a:p>
        </p:txBody>
      </p:sp>
      <p:sp>
        <p:nvSpPr>
          <p:cNvPr id="84" name="文字 35"/>
          <p:cNvSpPr txBox="1"/>
          <p:nvPr/>
        </p:nvSpPr>
        <p:spPr>
          <a:xfrm>
            <a:off x="845334" y="5063727"/>
            <a:ext cx="2114091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例：波动方程 → 均匀平面波</a:t>
            </a:r>
          </a:p>
        </p:txBody>
      </p:sp>
      <p:sp>
        <p:nvSpPr>
          <p:cNvPr id="85" name="卡片 36"/>
          <p:cNvSpPr/>
          <p:nvPr/>
        </p:nvSpPr>
        <p:spPr>
          <a:xfrm>
            <a:off x="4308534" y="427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6" name="标签 37"/>
          <p:cNvSpPr/>
          <p:nvPr/>
        </p:nvSpPr>
        <p:spPr>
          <a:xfrm>
            <a:off x="4470534" y="438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无向</a:t>
            </a:r>
          </a:p>
        </p:txBody>
      </p:sp>
      <p:sp>
        <p:nvSpPr>
          <p:cNvPr id="87" name="文字 38"/>
          <p:cNvSpPr txBox="1"/>
          <p:nvPr/>
        </p:nvSpPr>
        <p:spPr>
          <a:xfrm>
            <a:off x="5010534" y="4374450"/>
            <a:ext cx="793843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等价于</a:t>
            </a:r>
          </a:p>
        </p:txBody>
      </p:sp>
      <p:sp>
        <p:nvSpPr>
          <p:cNvPr id="88" name="文字 39"/>
          <p:cNvSpPr txBox="1"/>
          <p:nvPr/>
        </p:nvSpPr>
        <p:spPr>
          <a:xfrm>
            <a:off x="4470534" y="4731472"/>
            <a:ext cx="641434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505D6F"/>
                </a:solidFill>
                <a:latin typeface="微软雅黑"/>
                <a:ea typeface="微软雅黑"/>
              </a:rPr>
              <a:t>无方向</a:t>
            </a:r>
          </a:p>
        </p:txBody>
      </p:sp>
      <p:sp>
        <p:nvSpPr>
          <p:cNvPr id="89" name="文字 40"/>
          <p:cNvSpPr txBox="1"/>
          <p:nvPr/>
        </p:nvSpPr>
        <p:spPr>
          <a:xfrm>
            <a:off x="4470534" y="5063727"/>
            <a:ext cx="2774533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例：法拉第定律积分形式 — 微分形式</a:t>
            </a:r>
          </a:p>
        </p:txBody>
      </p:sp>
      <p:sp>
        <p:nvSpPr>
          <p:cNvPr id="90" name="卡片 41"/>
          <p:cNvSpPr/>
          <p:nvPr/>
        </p:nvSpPr>
        <p:spPr>
          <a:xfrm>
            <a:off x="7933734" y="4271049"/>
            <a:ext cx="3456000" cy="1206000"/>
          </a:xfrm>
          <a:prstGeom prst="roundRect">
            <a:avLst>
              <a:gd name="adj" fmla="val 7373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1" name="标签 42"/>
          <p:cNvSpPr/>
          <p:nvPr/>
        </p:nvSpPr>
        <p:spPr>
          <a:xfrm>
            <a:off x="8095734" y="4388897"/>
            <a:ext cx="497520" cy="268304"/>
          </a:xfrm>
          <a:prstGeom prst="roundRect">
            <a:avLst>
              <a:gd name="adj" fmla="val 18918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无向</a:t>
            </a:r>
          </a:p>
        </p:txBody>
      </p:sp>
      <p:sp>
        <p:nvSpPr>
          <p:cNvPr id="92" name="文字 43"/>
          <p:cNvSpPr txBox="1"/>
          <p:nvPr/>
        </p:nvSpPr>
        <p:spPr>
          <a:xfrm>
            <a:off x="8635734" y="4374450"/>
            <a:ext cx="565229" cy="2971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相关</a:t>
            </a:r>
          </a:p>
        </p:txBody>
      </p:sp>
      <p:sp>
        <p:nvSpPr>
          <p:cNvPr id="93" name="文字 44"/>
          <p:cNvSpPr txBox="1"/>
          <p:nvPr/>
        </p:nvSpPr>
        <p:spPr>
          <a:xfrm>
            <a:off x="8095734" y="4731472"/>
            <a:ext cx="1352678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1" lang="zh-CN" altLang="en-US">
                <a:solidFill>
                  <a:srgbClr val="505D6F"/>
                </a:solidFill>
                <a:latin typeface="微软雅黑"/>
                <a:ea typeface="微软雅黑"/>
              </a:rPr>
              <a:t>无方向（兜底）</a:t>
            </a:r>
          </a:p>
        </p:txBody>
      </p:sp>
      <p:sp>
        <p:nvSpPr>
          <p:cNvPr id="94" name="文字 45"/>
          <p:cNvSpPr txBox="1"/>
          <p:nvPr/>
        </p:nvSpPr>
        <p:spPr>
          <a:xfrm>
            <a:off x="8095734" y="5063727"/>
            <a:ext cx="2444312" cy="21464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例：电流连续性方程 — 位移电流</a:t>
            </a:r>
          </a:p>
        </p:txBody>
      </p:sp>
      <p:sp>
        <p:nvSpPr>
          <p:cNvPr id="95" name="底色 46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文字 47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每条关系</a:t>
            </a:r>
          </a:p>
        </p:txBody>
      </p:sp>
      <p:cxnSp>
        <p:nvCxnSpPr>
          <p:cNvPr id="97" name="连线 48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98" name="文字 49"/>
          <p:cNvSpPr txBox="1"/>
          <p:nvPr/>
        </p:nvSpPr>
        <p:spPr>
          <a:xfrm>
            <a:off x="2051334" y="6072472"/>
            <a:ext cx="5877973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起点 + 终点 + 关系类型 + 一句说明（必填）；有向关系的方向由类型决定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跨章节的知识联系示例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知识关系设计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4176000"/>
          </a:xfrm>
          <a:prstGeom prst="roundRect">
            <a:avLst>
              <a:gd name="adj" fmla="val 2129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cxnSp>
        <p:nvCxnSpPr>
          <p:cNvPr id="51" name="连线 2"/>
          <p:cNvCxnSpPr/>
          <p:nvPr/>
        </p:nvCxnSpPr>
        <p:spPr>
          <a:xfrm>
            <a:off x="2519334" y="2309049"/>
            <a:ext cx="1440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2" name="连线说明 3"/>
          <p:cNvSpPr txBox="1"/>
          <p:nvPr/>
        </p:nvSpPr>
        <p:spPr>
          <a:xfrm>
            <a:off x="3041924" y="22061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cxnSp>
        <p:nvCxnSpPr>
          <p:cNvPr id="53" name="连线 4"/>
          <p:cNvCxnSpPr/>
          <p:nvPr/>
        </p:nvCxnSpPr>
        <p:spPr>
          <a:xfrm>
            <a:off x="5183334" y="2309049"/>
            <a:ext cx="1321661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4" name="连线说明 5"/>
          <p:cNvSpPr txBox="1"/>
          <p:nvPr/>
        </p:nvSpPr>
        <p:spPr>
          <a:xfrm>
            <a:off x="5646755" y="22061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cxnSp>
        <p:nvCxnSpPr>
          <p:cNvPr id="55" name="连线 6"/>
          <p:cNvCxnSpPr/>
          <p:nvPr/>
        </p:nvCxnSpPr>
        <p:spPr>
          <a:xfrm>
            <a:off x="7965673" y="2309049"/>
            <a:ext cx="1321661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6" name="连线说明 7"/>
          <p:cNvSpPr txBox="1"/>
          <p:nvPr/>
        </p:nvSpPr>
        <p:spPr>
          <a:xfrm>
            <a:off x="8352889" y="22061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推导出</a:t>
            </a:r>
          </a:p>
        </p:txBody>
      </p:sp>
      <p:cxnSp>
        <p:nvCxnSpPr>
          <p:cNvPr id="57" name="连线 8"/>
          <p:cNvCxnSpPr/>
          <p:nvPr/>
        </p:nvCxnSpPr>
        <p:spPr>
          <a:xfrm>
            <a:off x="4571334" y="2570049"/>
            <a:ext cx="0" cy="680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58" name="连线说明 9"/>
          <p:cNvSpPr txBox="1"/>
          <p:nvPr/>
        </p:nvSpPr>
        <p:spPr>
          <a:xfrm>
            <a:off x="4297720" y="28073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cxnSp>
        <p:nvCxnSpPr>
          <p:cNvPr id="59" name="连线 10"/>
          <p:cNvCxnSpPr/>
          <p:nvPr/>
        </p:nvCxnSpPr>
        <p:spPr>
          <a:xfrm>
            <a:off x="7235334" y="2570049"/>
            <a:ext cx="0" cy="680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0" name="连线说明 11"/>
          <p:cNvSpPr txBox="1"/>
          <p:nvPr/>
        </p:nvSpPr>
        <p:spPr>
          <a:xfrm>
            <a:off x="6961720" y="28073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表达为</a:t>
            </a:r>
          </a:p>
        </p:txBody>
      </p:sp>
      <p:cxnSp>
        <p:nvCxnSpPr>
          <p:cNvPr id="61" name="连线 12"/>
          <p:cNvCxnSpPr/>
          <p:nvPr/>
        </p:nvCxnSpPr>
        <p:spPr>
          <a:xfrm>
            <a:off x="9899334" y="2570049"/>
            <a:ext cx="0" cy="680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2" name="连线说明 13"/>
          <p:cNvSpPr txBox="1"/>
          <p:nvPr/>
        </p:nvSpPr>
        <p:spPr>
          <a:xfrm>
            <a:off x="9625720" y="28073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应用于</a:t>
            </a:r>
          </a:p>
        </p:txBody>
      </p:sp>
      <p:cxnSp>
        <p:nvCxnSpPr>
          <p:cNvPr id="63" name="连线 14"/>
          <p:cNvCxnSpPr/>
          <p:nvPr/>
        </p:nvCxnSpPr>
        <p:spPr>
          <a:xfrm>
            <a:off x="7533829" y="3664449"/>
            <a:ext cx="1059010" cy="734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4" name="连线说明 15"/>
          <p:cNvSpPr txBox="1"/>
          <p:nvPr/>
        </p:nvSpPr>
        <p:spPr>
          <a:xfrm>
            <a:off x="7865924" y="39287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描述</a:t>
            </a:r>
          </a:p>
        </p:txBody>
      </p:sp>
      <p:cxnSp>
        <p:nvCxnSpPr>
          <p:cNvPr id="65" name="连线 16"/>
          <p:cNvCxnSpPr/>
          <p:nvPr/>
        </p:nvCxnSpPr>
        <p:spPr>
          <a:xfrm>
            <a:off x="1907334" y="2570049"/>
            <a:ext cx="0" cy="68040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66" name="连线说明 17"/>
          <p:cNvSpPr txBox="1"/>
          <p:nvPr/>
        </p:nvSpPr>
        <p:spPr>
          <a:xfrm>
            <a:off x="1709924" y="28073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</a:t>
            </a:r>
          </a:p>
        </p:txBody>
      </p:sp>
      <p:cxnSp>
        <p:nvCxnSpPr>
          <p:cNvPr id="67" name="连线 18"/>
          <p:cNvCxnSpPr/>
          <p:nvPr/>
        </p:nvCxnSpPr>
        <p:spPr>
          <a:xfrm flipV="1">
            <a:off x="5936851" y="3664449"/>
            <a:ext cx="1012966" cy="734400"/>
          </a:xfrm>
          <a:prstGeom prst="line">
            <a:avLst/>
          </a:prstGeom>
          <a:ln w="13970">
            <a:solidFill>
              <a:srgbClr val="64748B"/>
            </a:solidFill>
            <a:prstDash val="dash"/>
          </a:ln>
        </p:spPr>
      </p:cxnSp>
      <p:sp>
        <p:nvSpPr>
          <p:cNvPr id="68" name="连线说明 19"/>
          <p:cNvSpPr txBox="1"/>
          <p:nvPr/>
        </p:nvSpPr>
        <p:spPr>
          <a:xfrm>
            <a:off x="6169720" y="39287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等价于</a:t>
            </a:r>
          </a:p>
        </p:txBody>
      </p:sp>
      <p:cxnSp>
        <p:nvCxnSpPr>
          <p:cNvPr id="69" name="连线 20"/>
          <p:cNvCxnSpPr/>
          <p:nvPr/>
        </p:nvCxnSpPr>
        <p:spPr>
          <a:xfrm>
            <a:off x="1907334" y="3664449"/>
            <a:ext cx="0" cy="734400"/>
          </a:xfrm>
          <a:prstGeom prst="line">
            <a:avLst/>
          </a:prstGeom>
          <a:ln w="13970">
            <a:solidFill>
              <a:srgbClr val="64748B"/>
            </a:solidFill>
            <a:prstDash val="dash"/>
          </a:ln>
        </p:spPr>
      </p:cxnSp>
      <p:sp>
        <p:nvSpPr>
          <p:cNvPr id="70" name="连线说明 21"/>
          <p:cNvSpPr txBox="1"/>
          <p:nvPr/>
        </p:nvSpPr>
        <p:spPr>
          <a:xfrm>
            <a:off x="1709924" y="39287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相关</a:t>
            </a:r>
          </a:p>
        </p:txBody>
      </p:sp>
      <p:sp>
        <p:nvSpPr>
          <p:cNvPr id="71" name="知识点 22"/>
          <p:cNvSpPr/>
          <p:nvPr/>
        </p:nvSpPr>
        <p:spPr>
          <a:xfrm>
            <a:off x="1295334" y="2048049"/>
            <a:ext cx="1224000" cy="522000"/>
          </a:xfrm>
          <a:prstGeom prst="roundRect">
            <a:avLst>
              <a:gd name="adj" fmla="val 12137"/>
            </a:avLst>
          </a:prstGeom>
          <a:solidFill>
            <a:srgbClr val="E9F1FD"/>
          </a:solidFill>
          <a:ln w="12700">
            <a:solidFill>
              <a:srgbClr val="1F6F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散度</a:t>
            </a:r>
          </a:p>
          <a:p>
            <a:pPr algn="ctr"/>
            <a:r>
              <a:rPr sz="115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矢量分析</a:t>
            </a:r>
          </a:p>
        </p:txBody>
      </p:sp>
      <p:sp>
        <p:nvSpPr>
          <p:cNvPr id="72" name="知识点 23"/>
          <p:cNvSpPr/>
          <p:nvPr/>
        </p:nvSpPr>
        <p:spPr>
          <a:xfrm>
            <a:off x="3959334" y="2048049"/>
            <a:ext cx="1224000" cy="522000"/>
          </a:xfrm>
          <a:prstGeom prst="roundRect">
            <a:avLst>
              <a:gd name="adj" fmla="val 12137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</a:t>
            </a:r>
          </a:p>
          <a:p>
            <a:pPr algn="ctr"/>
            <a:r>
              <a:rPr sz="115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静电场</a:t>
            </a:r>
          </a:p>
        </p:txBody>
      </p:sp>
      <p:sp>
        <p:nvSpPr>
          <p:cNvPr id="73" name="知识点 24"/>
          <p:cNvSpPr/>
          <p:nvPr/>
        </p:nvSpPr>
        <p:spPr>
          <a:xfrm>
            <a:off x="6504995" y="2048049"/>
            <a:ext cx="1460678" cy="522000"/>
          </a:xfrm>
          <a:prstGeom prst="roundRect">
            <a:avLst>
              <a:gd name="adj" fmla="val 12137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麦克斯韦方程组</a:t>
            </a:r>
          </a:p>
          <a:p>
            <a:pPr algn="ctr"/>
            <a:r>
              <a:rPr sz="115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时变电磁场</a:t>
            </a:r>
          </a:p>
        </p:txBody>
      </p:sp>
      <p:sp>
        <p:nvSpPr>
          <p:cNvPr id="74" name="知识点 25"/>
          <p:cNvSpPr/>
          <p:nvPr/>
        </p:nvSpPr>
        <p:spPr>
          <a:xfrm>
            <a:off x="9287334" y="2048049"/>
            <a:ext cx="1224000" cy="522000"/>
          </a:xfrm>
          <a:prstGeom prst="roundRect">
            <a:avLst>
              <a:gd name="adj" fmla="val 12137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波动方程</a:t>
            </a:r>
          </a:p>
          <a:p>
            <a:pPr algn="ctr"/>
            <a:r>
              <a:rPr sz="115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电磁波</a:t>
            </a:r>
          </a:p>
        </p:txBody>
      </p:sp>
      <p:sp>
        <p:nvSpPr>
          <p:cNvPr id="75" name="知识点 26"/>
          <p:cNvSpPr/>
          <p:nvPr/>
        </p:nvSpPr>
        <p:spPr>
          <a:xfrm>
            <a:off x="3752089" y="3250449"/>
            <a:ext cx="1638490" cy="414000"/>
          </a:xfrm>
          <a:prstGeom prst="roundRect">
            <a:avLst>
              <a:gd name="adj" fmla="val 15304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高斯定律积分形式</a:t>
            </a:r>
          </a:p>
        </p:txBody>
      </p:sp>
      <p:sp>
        <p:nvSpPr>
          <p:cNvPr id="76" name="知识点 27"/>
          <p:cNvSpPr/>
          <p:nvPr/>
        </p:nvSpPr>
        <p:spPr>
          <a:xfrm>
            <a:off x="6327184" y="3250449"/>
            <a:ext cx="1816301" cy="414000"/>
          </a:xfrm>
          <a:prstGeom prst="roundRect">
            <a:avLst>
              <a:gd name="adj" fmla="val 15304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法拉第定律微分形式</a:t>
            </a:r>
          </a:p>
        </p:txBody>
      </p:sp>
      <p:sp>
        <p:nvSpPr>
          <p:cNvPr id="77" name="知识点 28"/>
          <p:cNvSpPr/>
          <p:nvPr/>
        </p:nvSpPr>
        <p:spPr>
          <a:xfrm>
            <a:off x="9287334" y="32504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7F8F2"/>
          </a:solidFill>
          <a:ln w="12700">
            <a:solidFill>
              <a:srgbClr val="10B981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均匀平面波</a:t>
            </a:r>
          </a:p>
        </p:txBody>
      </p:sp>
      <p:sp>
        <p:nvSpPr>
          <p:cNvPr id="78" name="知识点 29"/>
          <p:cNvSpPr/>
          <p:nvPr/>
        </p:nvSpPr>
        <p:spPr>
          <a:xfrm>
            <a:off x="4743184" y="4398849"/>
            <a:ext cx="1816301" cy="414000"/>
          </a:xfrm>
          <a:prstGeom prst="roundRect">
            <a:avLst>
              <a:gd name="adj" fmla="val 15304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法拉第定律积分形式</a:t>
            </a:r>
          </a:p>
        </p:txBody>
      </p:sp>
      <p:sp>
        <p:nvSpPr>
          <p:cNvPr id="79" name="知识点 30"/>
          <p:cNvSpPr/>
          <p:nvPr/>
        </p:nvSpPr>
        <p:spPr>
          <a:xfrm>
            <a:off x="8279334" y="43988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9F1FD"/>
          </a:solidFill>
          <a:ln w="12700">
            <a:solidFill>
              <a:srgbClr val="1F6F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电磁感应</a:t>
            </a:r>
          </a:p>
        </p:txBody>
      </p:sp>
      <p:sp>
        <p:nvSpPr>
          <p:cNvPr id="80" name="知识点 31"/>
          <p:cNvSpPr/>
          <p:nvPr/>
        </p:nvSpPr>
        <p:spPr>
          <a:xfrm>
            <a:off x="1176995" y="3250449"/>
            <a:ext cx="1460678" cy="414000"/>
          </a:xfrm>
          <a:prstGeom prst="roundRect">
            <a:avLst>
              <a:gd name="adj" fmla="val 15304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电流连续性方程</a:t>
            </a:r>
          </a:p>
        </p:txBody>
      </p:sp>
      <p:sp>
        <p:nvSpPr>
          <p:cNvPr id="81" name="知识点 32"/>
          <p:cNvSpPr/>
          <p:nvPr/>
        </p:nvSpPr>
        <p:spPr>
          <a:xfrm>
            <a:off x="1295334" y="4398849"/>
            <a:ext cx="1224000" cy="414000"/>
          </a:xfrm>
          <a:prstGeom prst="roundRect">
            <a:avLst>
              <a:gd name="adj" fmla="val 15304"/>
            </a:avLst>
          </a:prstGeom>
          <a:solidFill>
            <a:srgbClr val="E9F1FD"/>
          </a:solidFill>
          <a:ln w="12700">
            <a:solidFill>
              <a:srgbClr val="1F6F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位移电流</a:t>
            </a:r>
          </a:p>
        </p:txBody>
      </p:sp>
      <p:sp>
        <p:nvSpPr>
          <p:cNvPr id="82" name="图例 33"/>
          <p:cNvSpPr/>
          <p:nvPr/>
        </p:nvSpPr>
        <p:spPr>
          <a:xfrm>
            <a:off x="2321334" y="529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9F1FD"/>
          </a:solidFill>
          <a:ln w="12700">
            <a:solidFill>
              <a:srgbClr val="1F6F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文字 34"/>
          <p:cNvSpPr txBox="1"/>
          <p:nvPr/>
        </p:nvSpPr>
        <p:spPr>
          <a:xfrm>
            <a:off x="2627334" y="5265855"/>
            <a:ext cx="42552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概念</a:t>
            </a:r>
          </a:p>
        </p:txBody>
      </p:sp>
      <p:sp>
        <p:nvSpPr>
          <p:cNvPr id="84" name="图例 35"/>
          <p:cNvSpPr/>
          <p:nvPr/>
        </p:nvSpPr>
        <p:spPr>
          <a:xfrm>
            <a:off x="3257334" y="529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7F6F6"/>
          </a:solidFill>
          <a:ln w="12700">
            <a:solidFill>
              <a:srgbClr val="0EA5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文字 36"/>
          <p:cNvSpPr txBox="1"/>
          <p:nvPr/>
        </p:nvSpPr>
        <p:spPr>
          <a:xfrm>
            <a:off x="3563334" y="5265855"/>
            <a:ext cx="58428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物理量</a:t>
            </a:r>
          </a:p>
        </p:txBody>
      </p:sp>
      <p:sp>
        <p:nvSpPr>
          <p:cNvPr id="86" name="图例 37"/>
          <p:cNvSpPr/>
          <p:nvPr/>
        </p:nvSpPr>
        <p:spPr>
          <a:xfrm>
            <a:off x="4193334" y="529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F2EBFD"/>
          </a:solidFill>
          <a:ln w="12700">
            <a:solidFill>
              <a:srgbClr val="7C3A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文字 38"/>
          <p:cNvSpPr txBox="1"/>
          <p:nvPr/>
        </p:nvSpPr>
        <p:spPr>
          <a:xfrm>
            <a:off x="4499334" y="5265855"/>
            <a:ext cx="42552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定律</a:t>
            </a:r>
          </a:p>
        </p:txBody>
      </p:sp>
      <p:sp>
        <p:nvSpPr>
          <p:cNvPr id="88" name="图例 39"/>
          <p:cNvSpPr/>
          <p:nvPr/>
        </p:nvSpPr>
        <p:spPr>
          <a:xfrm>
            <a:off x="5129334" y="529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FEF5E7"/>
          </a:solidFill>
          <a:ln w="12700">
            <a:solidFill>
              <a:srgbClr val="F59E0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文字 40"/>
          <p:cNvSpPr txBox="1"/>
          <p:nvPr/>
        </p:nvSpPr>
        <p:spPr>
          <a:xfrm>
            <a:off x="5435334" y="5265855"/>
            <a:ext cx="42552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公式</a:t>
            </a:r>
          </a:p>
        </p:txBody>
      </p:sp>
      <p:sp>
        <p:nvSpPr>
          <p:cNvPr id="90" name="图例 41"/>
          <p:cNvSpPr/>
          <p:nvPr/>
        </p:nvSpPr>
        <p:spPr>
          <a:xfrm>
            <a:off x="6065334" y="5293449"/>
            <a:ext cx="252000" cy="151200"/>
          </a:xfrm>
          <a:prstGeom prst="roundRect">
            <a:avLst>
              <a:gd name="adj" fmla="val 16666"/>
            </a:avLst>
          </a:prstGeom>
          <a:solidFill>
            <a:srgbClr val="E7F8F2"/>
          </a:solidFill>
          <a:ln w="12700">
            <a:solidFill>
              <a:srgbClr val="10B98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文字 42"/>
          <p:cNvSpPr txBox="1"/>
          <p:nvPr/>
        </p:nvSpPr>
        <p:spPr>
          <a:xfrm>
            <a:off x="6371334" y="5265855"/>
            <a:ext cx="74304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工程应用</a:t>
            </a:r>
          </a:p>
        </p:txBody>
      </p:sp>
      <p:cxnSp>
        <p:nvCxnSpPr>
          <p:cNvPr id="92" name="连线 43"/>
          <p:cNvCxnSpPr/>
          <p:nvPr/>
        </p:nvCxnSpPr>
        <p:spPr>
          <a:xfrm>
            <a:off x="7271334" y="5369049"/>
            <a:ext cx="432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sp>
        <p:nvSpPr>
          <p:cNvPr id="93" name="文字 44"/>
          <p:cNvSpPr txBox="1"/>
          <p:nvPr/>
        </p:nvSpPr>
        <p:spPr>
          <a:xfrm>
            <a:off x="7757334" y="5265855"/>
            <a:ext cx="58428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有方向</a:t>
            </a:r>
          </a:p>
        </p:txBody>
      </p:sp>
      <p:cxnSp>
        <p:nvCxnSpPr>
          <p:cNvPr id="94" name="连线 45"/>
          <p:cNvCxnSpPr/>
          <p:nvPr/>
        </p:nvCxnSpPr>
        <p:spPr>
          <a:xfrm>
            <a:off x="8567334" y="5369049"/>
            <a:ext cx="432000" cy="0"/>
          </a:xfrm>
          <a:prstGeom prst="line">
            <a:avLst/>
          </a:prstGeom>
          <a:ln w="13970">
            <a:solidFill>
              <a:srgbClr val="64748B"/>
            </a:solidFill>
            <a:prstDash val="dash"/>
          </a:ln>
        </p:spPr>
      </p:cxnSp>
      <p:sp>
        <p:nvSpPr>
          <p:cNvPr id="95" name="文字 46"/>
          <p:cNvSpPr txBox="1"/>
          <p:nvPr/>
        </p:nvSpPr>
        <p:spPr>
          <a:xfrm>
            <a:off x="9053334" y="5265855"/>
            <a:ext cx="584280" cy="2063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25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无方向</a:t>
            </a:r>
          </a:p>
        </p:txBody>
      </p:sp>
      <p:sp>
        <p:nvSpPr>
          <p:cNvPr id="96" name="底色 47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文字 48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数据示例</a:t>
            </a:r>
          </a:p>
        </p:txBody>
      </p:sp>
      <p:cxnSp>
        <p:nvCxnSpPr>
          <p:cNvPr id="98" name="连线 49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99" name="文字 50"/>
          <p:cNvSpPr txBox="1"/>
          <p:nvPr/>
        </p:nvSpPr>
        <p:spPr>
          <a:xfrm>
            <a:off x="2051334" y="6072472"/>
            <a:ext cx="6687014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节点下方为所属章节，节点与关系均取自当前整理的数据，展示四个章节之间的联系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整理关系时的约定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知识关系设计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1188000"/>
          </a:xfrm>
          <a:prstGeom prst="roundRect">
            <a:avLst>
              <a:gd name="adj" fmla="val 748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序号 2"/>
          <p:cNvSpPr/>
          <p:nvPr/>
        </p:nvSpPr>
        <p:spPr>
          <a:xfrm>
            <a:off x="872334" y="1958049"/>
            <a:ext cx="414000" cy="414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7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1475334" y="2016450"/>
            <a:ext cx="2592000" cy="2971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前置与推导分开记录</a:t>
            </a:r>
          </a:p>
        </p:txBody>
      </p:sp>
      <p:cxnSp>
        <p:nvCxnSpPr>
          <p:cNvPr id="53" name="连线 4"/>
          <p:cNvCxnSpPr/>
          <p:nvPr/>
        </p:nvCxnSpPr>
        <p:spPr>
          <a:xfrm flipV="1">
            <a:off x="4175334" y="1787049"/>
            <a:ext cx="0" cy="756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54" name="文字 5"/>
          <p:cNvSpPr txBox="1"/>
          <p:nvPr/>
        </p:nvSpPr>
        <p:spPr>
          <a:xfrm>
            <a:off x="4355334" y="1697049"/>
            <a:ext cx="6912000" cy="93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「A 推导出 B」也意味着「A 是 B 的前置」，但系统不自动补，需要时两条都写</a:t>
            </a:r>
          </a:p>
          <a:p>
            <a:pPr algn="l">
              <a:spcBef>
                <a:spcPts val="800"/>
              </a:spcBef>
            </a:pPr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学生问「学波动方程之前要会什么」，应得到明确答案，而不是让程序去猜</a:t>
            </a:r>
          </a:p>
        </p:txBody>
      </p:sp>
      <p:sp>
        <p:nvSpPr>
          <p:cNvPr id="55" name="卡片 6"/>
          <p:cNvSpPr/>
          <p:nvPr/>
        </p:nvSpPr>
        <p:spPr>
          <a:xfrm>
            <a:off x="683334" y="2921049"/>
            <a:ext cx="10728000" cy="1188000"/>
          </a:xfrm>
          <a:prstGeom prst="roundRect">
            <a:avLst>
              <a:gd name="adj" fmla="val 748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6" name="序号 7"/>
          <p:cNvSpPr/>
          <p:nvPr/>
        </p:nvSpPr>
        <p:spPr>
          <a:xfrm>
            <a:off x="872334" y="3308049"/>
            <a:ext cx="414000" cy="41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7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7" name="文字 8"/>
          <p:cNvSpPr txBox="1"/>
          <p:nvPr/>
        </p:nvSpPr>
        <p:spPr>
          <a:xfrm>
            <a:off x="1475334" y="3366450"/>
            <a:ext cx="2592000" cy="2971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无方向的关系要少用</a:t>
            </a:r>
          </a:p>
        </p:txBody>
      </p:sp>
      <p:cxnSp>
        <p:nvCxnSpPr>
          <p:cNvPr id="58" name="连线 9"/>
          <p:cNvCxnSpPr/>
          <p:nvPr/>
        </p:nvCxnSpPr>
        <p:spPr>
          <a:xfrm flipV="1">
            <a:off x="4175334" y="3137049"/>
            <a:ext cx="0" cy="756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59" name="文字 10"/>
          <p:cNvSpPr txBox="1"/>
          <p:nvPr/>
        </p:nvSpPr>
        <p:spPr>
          <a:xfrm>
            <a:off x="4355334" y="3047049"/>
            <a:ext cx="6912000" cy="93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「等价于」只用于物理上完全等价的情况，如同一定律的积分形式与微分形式</a:t>
            </a:r>
          </a:p>
          <a:p>
            <a:pPr algn="l">
              <a:spcBef>
                <a:spcPts val="800"/>
              </a:spcBef>
            </a:pPr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「相关」只在排除前置、推导、使用、应用之后才用，避免含义模糊的连线</a:t>
            </a:r>
          </a:p>
        </p:txBody>
      </p:sp>
      <p:sp>
        <p:nvSpPr>
          <p:cNvPr id="60" name="卡片 11"/>
          <p:cNvSpPr/>
          <p:nvPr/>
        </p:nvSpPr>
        <p:spPr>
          <a:xfrm>
            <a:off x="683334" y="4271049"/>
            <a:ext cx="10728000" cy="1188000"/>
          </a:xfrm>
          <a:prstGeom prst="roundRect">
            <a:avLst>
              <a:gd name="adj" fmla="val 748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1" name="序号 12"/>
          <p:cNvSpPr/>
          <p:nvPr/>
        </p:nvSpPr>
        <p:spPr>
          <a:xfrm>
            <a:off x="872334" y="4658049"/>
            <a:ext cx="414000" cy="414000"/>
          </a:xfrm>
          <a:prstGeom prst="ellipse">
            <a:avLst/>
          </a:prstGeom>
          <a:solidFill>
            <a:srgbClr val="0EA5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7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2" name="文字 13"/>
          <p:cNvSpPr txBox="1"/>
          <p:nvPr/>
        </p:nvSpPr>
        <p:spPr>
          <a:xfrm>
            <a:off x="1475334" y="4716450"/>
            <a:ext cx="2592000" cy="29719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8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同一事实不重复记录</a:t>
            </a:r>
          </a:p>
        </p:txBody>
      </p:sp>
      <p:cxnSp>
        <p:nvCxnSpPr>
          <p:cNvPr id="63" name="连线 14"/>
          <p:cNvCxnSpPr/>
          <p:nvPr/>
        </p:nvCxnSpPr>
        <p:spPr>
          <a:xfrm flipV="1">
            <a:off x="4175334" y="4487049"/>
            <a:ext cx="0" cy="756000"/>
          </a:xfrm>
          <a:prstGeom prst="line">
            <a:avLst/>
          </a:prstGeom>
          <a:ln w="12700">
            <a:solidFill>
              <a:srgbClr val="D7E0EC"/>
            </a:solidFill>
          </a:ln>
        </p:spPr>
      </p:cxnSp>
      <p:sp>
        <p:nvSpPr>
          <p:cNvPr id="64" name="文字 15"/>
          <p:cNvSpPr txBox="1"/>
          <p:nvPr/>
        </p:nvSpPr>
        <p:spPr>
          <a:xfrm>
            <a:off x="4355334" y="4397049"/>
            <a:ext cx="6912000" cy="936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知识点属于哪一章，由所属章节说明；公式里有哪些物理量，由变量关联说明</a:t>
            </a:r>
          </a:p>
          <a:p>
            <a:pPr algn="l">
              <a:spcBef>
                <a:spcPts val="800"/>
              </a:spcBef>
            </a:pPr>
            <a:r>
              <a:rPr sz="1300" b="0" lang="zh-CN" altLang="en-US">
                <a:solidFill>
                  <a:srgbClr val="64748B"/>
                </a:solidFill>
                <a:latin typeface="微软雅黑"/>
                <a:ea typeface="微软雅黑"/>
              </a:rPr>
              <a:t>同一件事只记一处，才不会前后矛盾</a:t>
            </a:r>
          </a:p>
        </p:txBody>
      </p:sp>
      <p:sp>
        <p:nvSpPr>
          <p:cNvPr id="65" name="底色 16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文字 17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设计调整</a:t>
            </a:r>
          </a:p>
        </p:txBody>
      </p:sp>
      <p:cxnSp>
        <p:nvCxnSpPr>
          <p:cNvPr id="67" name="连线 18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68" name="文字 19"/>
          <p:cNvSpPr txBox="1"/>
          <p:nvPr/>
        </p:nvSpPr>
        <p:spPr>
          <a:xfrm>
            <a:off x="2051334" y="6072472"/>
            <a:ext cx="6687014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去掉了最初的「包含」关系：它的用法都能由所属章节、「表达为」和「相关」覆盖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五、数据校验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检查流程与规则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数据校验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1800000"/>
          </a:xfrm>
          <a:prstGeom prst="roundRect">
            <a:avLst>
              <a:gd name="adj" fmla="val 4940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步骤 2"/>
          <p:cNvSpPr/>
          <p:nvPr/>
        </p:nvSpPr>
        <p:spPr>
          <a:xfrm>
            <a:off x="1115334" y="2102049"/>
            <a:ext cx="1584000" cy="522000"/>
          </a:xfrm>
          <a:prstGeom prst="roundRect">
            <a:avLst>
              <a:gd name="adj" fmla="val 14482"/>
            </a:avLst>
          </a:prstGeom>
          <a:solidFill>
            <a:srgbClr val="EBF2FD"/>
          </a:solidFill>
          <a:ln w="13970">
            <a:solidFill>
              <a:srgbClr val="1F6FE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8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人工整理</a:t>
            </a:r>
          </a:p>
          <a:p>
            <a:pPr algn="ctr">
              <a:lnSpc>
                <a:spcPts val="18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课程知识</a:t>
            </a:r>
          </a:p>
        </p:txBody>
      </p:sp>
      <p:sp>
        <p:nvSpPr>
          <p:cNvPr id="52" name="步骤 3"/>
          <p:cNvSpPr/>
          <p:nvPr/>
        </p:nvSpPr>
        <p:spPr>
          <a:xfrm>
            <a:off x="3275334" y="2102049"/>
            <a:ext cx="1584000" cy="522000"/>
          </a:xfrm>
          <a:prstGeom prst="roundRect">
            <a:avLst>
              <a:gd name="adj" fmla="val 14482"/>
            </a:avLst>
          </a:prstGeom>
          <a:solidFill>
            <a:srgbClr val="F3EDFD"/>
          </a:solidFill>
          <a:ln w="13970">
            <a:solidFill>
              <a:srgbClr val="7C3AED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8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系统启动</a:t>
            </a:r>
          </a:p>
          <a:p>
            <a:pPr algn="ctr">
              <a:lnSpc>
                <a:spcPts val="18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读取知识库</a:t>
            </a:r>
          </a:p>
        </p:txBody>
      </p:sp>
      <p:sp>
        <p:nvSpPr>
          <p:cNvPr id="53" name="判断 4"/>
          <p:cNvSpPr/>
          <p:nvPr/>
        </p:nvSpPr>
        <p:spPr>
          <a:xfrm>
            <a:off x="5399334" y="1967049"/>
            <a:ext cx="1512000" cy="792000"/>
          </a:xfrm>
          <a:prstGeom prst="diamond">
            <a:avLst/>
          </a:prstGeom>
          <a:solidFill>
            <a:srgbClr val="FEF6E9"/>
          </a:solidFill>
          <a:ln w="13970">
            <a:solidFill>
              <a:srgbClr val="F59E0B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20 条检查</a:t>
            </a:r>
          </a:p>
        </p:txBody>
      </p:sp>
      <p:sp>
        <p:nvSpPr>
          <p:cNvPr id="54" name="步骤 5"/>
          <p:cNvSpPr/>
          <p:nvPr/>
        </p:nvSpPr>
        <p:spPr>
          <a:xfrm>
            <a:off x="8135334" y="1760049"/>
            <a:ext cx="1944000" cy="522000"/>
          </a:xfrm>
          <a:prstGeom prst="roundRect">
            <a:avLst>
              <a:gd name="adj" fmla="val 14482"/>
            </a:avLst>
          </a:prstGeom>
          <a:solidFill>
            <a:srgbClr val="E9F7F6"/>
          </a:solidFill>
          <a:ln w="13970">
            <a:solidFill>
              <a:srgbClr val="0EA5A0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8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正常提供查询和问答</a:t>
            </a:r>
          </a:p>
        </p:txBody>
      </p:sp>
      <p:sp>
        <p:nvSpPr>
          <p:cNvPr id="55" name="步骤 6"/>
          <p:cNvSpPr/>
          <p:nvPr/>
        </p:nvSpPr>
        <p:spPr>
          <a:xfrm>
            <a:off x="8135334" y="2480049"/>
            <a:ext cx="1944000" cy="522000"/>
          </a:xfrm>
          <a:prstGeom prst="roundRect">
            <a:avLst>
              <a:gd name="adj" fmla="val 14482"/>
            </a:avLst>
          </a:prstGeom>
          <a:solidFill>
            <a:srgbClr val="FEEEEE"/>
          </a:solidFill>
          <a:ln w="13970">
            <a:solidFill>
              <a:srgbClr val="EF4444"/>
            </a:solidFill>
          </a:ln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8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报错并指出具体位置</a:t>
            </a:r>
          </a:p>
        </p:txBody>
      </p:sp>
      <p:cxnSp>
        <p:nvCxnSpPr>
          <p:cNvPr id="56" name="连线 7"/>
          <p:cNvCxnSpPr/>
          <p:nvPr/>
        </p:nvCxnSpPr>
        <p:spPr>
          <a:xfrm>
            <a:off x="2699334" y="2363049"/>
            <a:ext cx="576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cxnSp>
        <p:nvCxnSpPr>
          <p:cNvPr id="57" name="连线 8"/>
          <p:cNvCxnSpPr/>
          <p:nvPr/>
        </p:nvCxnSpPr>
        <p:spPr>
          <a:xfrm>
            <a:off x="4859334" y="2363049"/>
            <a:ext cx="540000" cy="0"/>
          </a:xfrm>
          <a:prstGeom prst="line">
            <a:avLst/>
          </a:prstGeom>
          <a:ln w="13970">
            <a:solidFill>
              <a:srgbClr val="64748B"/>
            </a:solidFill>
            <a:tailEnd type="stealth" w="lg" len="lg"/>
          </a:ln>
        </p:spPr>
      </p:cxnSp>
      <p:cxnSp>
        <p:nvCxnSpPr>
          <p:cNvPr id="58" name="连线 9"/>
          <p:cNvCxnSpPr/>
          <p:nvPr/>
        </p:nvCxnSpPr>
        <p:spPr>
          <a:xfrm>
            <a:off x="6911334" y="2363049"/>
            <a:ext cx="396000" cy="0"/>
          </a:xfrm>
          <a:prstGeom prst="line">
            <a:avLst/>
          </a:prstGeom>
          <a:ln w="13970">
            <a:solidFill>
              <a:srgbClr val="64748B"/>
            </a:solidFill>
          </a:ln>
        </p:spPr>
      </p:cxnSp>
      <p:sp>
        <p:nvSpPr>
          <p:cNvPr id="4" name="折线 10"/>
          <p:cNvSpPr/>
          <p:nvPr/>
        </p:nvSpPr>
        <p:spPr>
          <a:xfrm>
            <a:off x="7307334" y="2021049"/>
            <a:ext cx="828000" cy="342000"/>
          </a:xfrm>
          <a:custGeom>
            <a:avLst/>
            <a:gdLst/>
            <a:ahLst/>
            <a:cxnLst/>
            <a:rect l="l" t="t" r="r" b="b"/>
            <a:pathLst>
              <a:path w="828000" h="342000">
                <a:moveTo>
                  <a:pt x="0" y="342000"/>
                </a:moveTo>
                <a:lnTo>
                  <a:pt x="0" y="0"/>
                </a:lnTo>
                <a:lnTo>
                  <a:pt x="828000" y="0"/>
                </a:lnTo>
              </a:path>
            </a:pathLst>
          </a:custGeom>
          <a:noFill/>
          <a:ln w="13970">
            <a:solidFill>
              <a:srgbClr val="0EA5A0"/>
            </a:solidFill>
            <a:tailEnd type="stealth" w="lg" len="lg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折线 11"/>
          <p:cNvSpPr/>
          <p:nvPr/>
        </p:nvSpPr>
        <p:spPr>
          <a:xfrm>
            <a:off x="7307334" y="2363049"/>
            <a:ext cx="828000" cy="378000"/>
          </a:xfrm>
          <a:custGeom>
            <a:avLst/>
            <a:gdLst/>
            <a:ahLst/>
            <a:cxnLst/>
            <a:rect l="l" t="t" r="r" b="b"/>
            <a:pathLst>
              <a:path w="828000" h="378000">
                <a:moveTo>
                  <a:pt x="0" y="0"/>
                </a:moveTo>
                <a:lnTo>
                  <a:pt x="0" y="378000"/>
                </a:lnTo>
                <a:lnTo>
                  <a:pt x="828000" y="378000"/>
                </a:lnTo>
              </a:path>
            </a:pathLst>
          </a:custGeom>
          <a:noFill/>
          <a:ln w="13970">
            <a:solidFill>
              <a:srgbClr val="EF4444"/>
            </a:solidFill>
            <a:tailEnd type="stealth" w="lg" len="lg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连线说明 12"/>
          <p:cNvSpPr txBox="1"/>
          <p:nvPr/>
        </p:nvSpPr>
        <p:spPr>
          <a:xfrm>
            <a:off x="7523924" y="1781373"/>
            <a:ext cx="39481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通过</a:t>
            </a:r>
          </a:p>
        </p:txBody>
      </p:sp>
      <p:sp>
        <p:nvSpPr>
          <p:cNvPr id="60" name="连线说明 13"/>
          <p:cNvSpPr txBox="1"/>
          <p:nvPr/>
        </p:nvSpPr>
        <p:spPr>
          <a:xfrm>
            <a:off x="7447720" y="2501373"/>
            <a:ext cx="547229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不通过</a:t>
            </a:r>
          </a:p>
        </p:txBody>
      </p:sp>
      <p:sp>
        <p:nvSpPr>
          <p:cNvPr id="7" name="折线 14"/>
          <p:cNvSpPr/>
          <p:nvPr/>
        </p:nvSpPr>
        <p:spPr>
          <a:xfrm>
            <a:off x="1907334" y="2624049"/>
            <a:ext cx="7200000" cy="556200"/>
          </a:xfrm>
          <a:custGeom>
            <a:avLst/>
            <a:gdLst/>
            <a:ahLst/>
            <a:cxnLst/>
            <a:rect l="l" t="t" r="r" b="b"/>
            <a:pathLst>
              <a:path w="7200000" h="556200">
                <a:moveTo>
                  <a:pt x="7200000" y="378000"/>
                </a:moveTo>
                <a:lnTo>
                  <a:pt x="7200000" y="556200"/>
                </a:lnTo>
                <a:lnTo>
                  <a:pt x="0" y="556200"/>
                </a:lnTo>
                <a:lnTo>
                  <a:pt x="0" y="0"/>
                </a:lnTo>
              </a:path>
            </a:pathLst>
          </a:custGeom>
          <a:noFill/>
          <a:ln w="13970">
            <a:solidFill>
              <a:srgbClr val="EF4444"/>
            </a:solidFill>
            <a:prstDash val="dash"/>
            <a:tailEnd type="stealth" w="lg" len="lg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连线说明 15"/>
          <p:cNvSpPr txBox="1"/>
          <p:nvPr/>
        </p:nvSpPr>
        <p:spPr>
          <a:xfrm>
            <a:off x="4928900" y="3077373"/>
            <a:ext cx="1156867" cy="205753"/>
          </a:xfrm>
          <a:prstGeom prst="rect">
            <a:avLst/>
          </a:prstGeom>
          <a:solidFill>
            <a:srgbClr val="FFFFFF"/>
          </a:solidFill>
        </p:spPr>
        <p:txBody>
          <a:bodyPr wrap="none" anchor="ctr" lIns="0" rIns="0" tIns="0" bIns="0">
            <a:noAutofit/>
          </a:bodyPr>
          <a:lstStyle/>
          <a:p>
            <a:pPr algn="ctr"/>
            <a:r>
              <a:rPr sz="1200" b="0" lang="zh-CN" altLang="en-US">
                <a:solidFill>
                  <a:srgbClr val="1E293B"/>
                </a:solidFill>
                <a:latin typeface="微软雅黑"/>
                <a:ea typeface="微软雅黑"/>
              </a:rPr>
              <a:t>修改后重新启动</a:t>
            </a:r>
          </a:p>
        </p:txBody>
      </p:sp>
      <p:sp>
        <p:nvSpPr>
          <p:cNvPr id="62" name="卡片 16"/>
          <p:cNvSpPr/>
          <p:nvPr/>
        </p:nvSpPr>
        <p:spPr>
          <a:xfrm>
            <a:off x="683334" y="3695049"/>
            <a:ext cx="2556000" cy="1620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3" name="序号 17"/>
          <p:cNvSpPr/>
          <p:nvPr/>
        </p:nvSpPr>
        <p:spPr>
          <a:xfrm>
            <a:off x="818334" y="3830049"/>
            <a:ext cx="342000" cy="342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4" name="文字 18"/>
          <p:cNvSpPr txBox="1"/>
          <p:nvPr/>
        </p:nvSpPr>
        <p:spPr>
          <a:xfrm>
            <a:off x="1259334" y="3860705"/>
            <a:ext cx="1403482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编号是否唯一</a:t>
            </a:r>
          </a:p>
        </p:txBody>
      </p:sp>
      <p:sp>
        <p:nvSpPr>
          <p:cNvPr id="65" name="文字 19"/>
          <p:cNvSpPr txBox="1"/>
          <p:nvPr/>
        </p:nvSpPr>
        <p:spPr>
          <a:xfrm>
            <a:off x="845334" y="4307049"/>
            <a:ext cx="2232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章节、知识点编号不重复；同一对知识点之间不重复建同一种关系</a:t>
            </a:r>
          </a:p>
        </p:txBody>
      </p:sp>
      <p:sp>
        <p:nvSpPr>
          <p:cNvPr id="66" name="卡片 20"/>
          <p:cNvSpPr/>
          <p:nvPr/>
        </p:nvSpPr>
        <p:spPr>
          <a:xfrm>
            <a:off x="3401334" y="3695049"/>
            <a:ext cx="2556000" cy="1620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7" name="序号 21"/>
          <p:cNvSpPr/>
          <p:nvPr/>
        </p:nvSpPr>
        <p:spPr>
          <a:xfrm>
            <a:off x="3536334" y="3830049"/>
            <a:ext cx="342000" cy="342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68" name="文字 22"/>
          <p:cNvSpPr txBox="1"/>
          <p:nvPr/>
        </p:nvSpPr>
        <p:spPr>
          <a:xfrm>
            <a:off x="3977334" y="3860705"/>
            <a:ext cx="1403482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引用是否存在</a:t>
            </a:r>
          </a:p>
        </p:txBody>
      </p:sp>
      <p:sp>
        <p:nvSpPr>
          <p:cNvPr id="69" name="文字 23"/>
          <p:cNvSpPr txBox="1"/>
          <p:nvPr/>
        </p:nvSpPr>
        <p:spPr>
          <a:xfrm>
            <a:off x="3563334" y="4307049"/>
            <a:ext cx="2232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所属章节、关系两端的知识点必须存在；变量只能关联物理量</a:t>
            </a:r>
          </a:p>
        </p:txBody>
      </p:sp>
      <p:sp>
        <p:nvSpPr>
          <p:cNvPr id="70" name="卡片 24"/>
          <p:cNvSpPr/>
          <p:nvPr/>
        </p:nvSpPr>
        <p:spPr>
          <a:xfrm>
            <a:off x="6119334" y="3695049"/>
            <a:ext cx="2556000" cy="1620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1" name="序号 25"/>
          <p:cNvSpPr/>
          <p:nvPr/>
        </p:nvSpPr>
        <p:spPr>
          <a:xfrm>
            <a:off x="6254334" y="3830049"/>
            <a:ext cx="342000" cy="342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72" name="文字 26"/>
          <p:cNvSpPr txBox="1"/>
          <p:nvPr/>
        </p:nvSpPr>
        <p:spPr>
          <a:xfrm>
            <a:off x="6695334" y="3860705"/>
            <a:ext cx="1403482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内容是否匹配</a:t>
            </a:r>
          </a:p>
        </p:txBody>
      </p:sp>
      <p:sp>
        <p:nvSpPr>
          <p:cNvPr id="73" name="文字 27"/>
          <p:cNvSpPr txBox="1"/>
          <p:nvPr/>
        </p:nvSpPr>
        <p:spPr>
          <a:xfrm>
            <a:off x="6281334" y="4307049"/>
            <a:ext cx="2232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专有内容与知识点类型对应；公式的数学表达式不能为空</a:t>
            </a:r>
          </a:p>
        </p:txBody>
      </p:sp>
      <p:sp>
        <p:nvSpPr>
          <p:cNvPr id="74" name="卡片 28"/>
          <p:cNvSpPr/>
          <p:nvPr/>
        </p:nvSpPr>
        <p:spPr>
          <a:xfrm>
            <a:off x="8837334" y="3695049"/>
            <a:ext cx="2556000" cy="162000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5" name="序号 29"/>
          <p:cNvSpPr/>
          <p:nvPr/>
        </p:nvSpPr>
        <p:spPr>
          <a:xfrm>
            <a:off x="8972334" y="3830049"/>
            <a:ext cx="342000" cy="342000"/>
          </a:xfrm>
          <a:prstGeom prst="ellipse">
            <a:avLst/>
          </a:prstGeom>
          <a:solidFill>
            <a:srgbClr val="0EA5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76" name="文字 30"/>
          <p:cNvSpPr txBox="1"/>
          <p:nvPr/>
        </p:nvSpPr>
        <p:spPr>
          <a:xfrm>
            <a:off x="9413334" y="3860705"/>
            <a:ext cx="1403482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取值是否一致</a:t>
            </a:r>
          </a:p>
        </p:txBody>
      </p:sp>
      <p:sp>
        <p:nvSpPr>
          <p:cNvPr id="77" name="文字 31"/>
          <p:cNvSpPr txBox="1"/>
          <p:nvPr/>
        </p:nvSpPr>
        <p:spPr>
          <a:xfrm>
            <a:off x="8999334" y="4307049"/>
            <a:ext cx="2232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19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变量的名称、单位与物理量一致；关系不能指向自己</a:t>
            </a:r>
          </a:p>
        </p:txBody>
      </p:sp>
      <p:sp>
        <p:nvSpPr>
          <p:cNvPr id="78" name="底色 32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文字 33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人工审核</a:t>
            </a:r>
          </a:p>
        </p:txBody>
      </p:sp>
      <p:cxnSp>
        <p:nvCxnSpPr>
          <p:cNvPr id="80" name="连线 34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81" name="文字 35"/>
          <p:cNvSpPr txBox="1"/>
          <p:nvPr/>
        </p:nvSpPr>
        <p:spPr>
          <a:xfrm>
            <a:off x="2051334" y="6072472"/>
            <a:ext cx="7398259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检查只保证格式和引用正确；内容是否符合教材、关系方向是否写反，仍需对照教材逐条确认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六、后续计划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下一阶段工作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后续计划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卡片 1"/>
          <p:cNvSpPr/>
          <p:nvPr/>
        </p:nvSpPr>
        <p:spPr>
          <a:xfrm>
            <a:off x="683334" y="1571049"/>
            <a:ext cx="10728000" cy="864000"/>
          </a:xfrm>
          <a:prstGeom prst="roundRect">
            <a:avLst>
              <a:gd name="adj" fmla="val 10291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1" name="序号 2"/>
          <p:cNvSpPr/>
          <p:nvPr/>
        </p:nvSpPr>
        <p:spPr>
          <a:xfrm>
            <a:off x="1025334" y="1715049"/>
            <a:ext cx="324000" cy="324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2" name="文字 3"/>
          <p:cNvSpPr txBox="1"/>
          <p:nvPr/>
        </p:nvSpPr>
        <p:spPr>
          <a:xfrm>
            <a:off x="1421334" y="1753216"/>
            <a:ext cx="1060560" cy="2476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5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需求与调研</a:t>
            </a:r>
          </a:p>
        </p:txBody>
      </p:sp>
      <p:sp>
        <p:nvSpPr>
          <p:cNvPr id="53" name="标签 4"/>
          <p:cNvSpPr/>
          <p:nvPr/>
        </p:nvSpPr>
        <p:spPr>
          <a:xfrm>
            <a:off x="1571771" y="2094899"/>
            <a:ext cx="599126" cy="248301"/>
          </a:xfrm>
          <a:prstGeom prst="roundRect">
            <a:avLst>
              <a:gd name="adj" fmla="val 20442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10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54" name="序号 5"/>
          <p:cNvSpPr/>
          <p:nvPr/>
        </p:nvSpPr>
        <p:spPr>
          <a:xfrm>
            <a:off x="3185334" y="1715049"/>
            <a:ext cx="324000" cy="324000"/>
          </a:xfrm>
          <a:prstGeom prst="ellipse">
            <a:avLst/>
          </a:prstGeom>
          <a:solidFill>
            <a:srgbClr val="0EA5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5" name="文字 6"/>
          <p:cNvSpPr txBox="1"/>
          <p:nvPr/>
        </p:nvSpPr>
        <p:spPr>
          <a:xfrm>
            <a:off x="3581334" y="1753216"/>
            <a:ext cx="1251072" cy="2476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5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系统架构设计</a:t>
            </a:r>
          </a:p>
        </p:txBody>
      </p:sp>
      <p:sp>
        <p:nvSpPr>
          <p:cNvPr id="56" name="标签 7"/>
          <p:cNvSpPr/>
          <p:nvPr/>
        </p:nvSpPr>
        <p:spPr>
          <a:xfrm>
            <a:off x="3731771" y="2094899"/>
            <a:ext cx="599126" cy="248301"/>
          </a:xfrm>
          <a:prstGeom prst="roundRect">
            <a:avLst>
              <a:gd name="adj" fmla="val 20442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10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57" name="序号 8"/>
          <p:cNvSpPr/>
          <p:nvPr/>
        </p:nvSpPr>
        <p:spPr>
          <a:xfrm>
            <a:off x="5345334" y="1715049"/>
            <a:ext cx="324000" cy="324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8" name="文字 9"/>
          <p:cNvSpPr txBox="1"/>
          <p:nvPr/>
        </p:nvSpPr>
        <p:spPr>
          <a:xfrm>
            <a:off x="5741334" y="1753216"/>
            <a:ext cx="1441584" cy="2476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5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对象与数据结构</a:t>
            </a:r>
          </a:p>
        </p:txBody>
      </p:sp>
      <p:sp>
        <p:nvSpPr>
          <p:cNvPr id="59" name="标签 10"/>
          <p:cNvSpPr/>
          <p:nvPr/>
        </p:nvSpPr>
        <p:spPr>
          <a:xfrm>
            <a:off x="5891771" y="2094899"/>
            <a:ext cx="599126" cy="248301"/>
          </a:xfrm>
          <a:prstGeom prst="roundRect">
            <a:avLst>
              <a:gd name="adj" fmla="val 20442"/>
            </a:avLst>
          </a:prstGeom>
          <a:solidFill>
            <a:srgbClr val="ECEEF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100" b="1" lang="zh-CN" altLang="en-US">
                <a:solidFill>
                  <a:srgbClr val="4B5768"/>
                </a:solidFill>
                <a:latin typeface="微软雅黑"/>
                <a:ea typeface="微软雅黑"/>
              </a:rPr>
              <a:t>已完成</a:t>
            </a:r>
          </a:p>
        </p:txBody>
      </p:sp>
      <p:sp>
        <p:nvSpPr>
          <p:cNvPr id="60" name="序号 11"/>
          <p:cNvSpPr/>
          <p:nvPr/>
        </p:nvSpPr>
        <p:spPr>
          <a:xfrm>
            <a:off x="7505334" y="1715049"/>
            <a:ext cx="324000" cy="324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1" name="文字 12"/>
          <p:cNvSpPr txBox="1"/>
          <p:nvPr/>
        </p:nvSpPr>
        <p:spPr>
          <a:xfrm>
            <a:off x="7901334" y="1753216"/>
            <a:ext cx="1441584" cy="2476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5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样例与原型实现</a:t>
            </a:r>
          </a:p>
        </p:txBody>
      </p:sp>
      <p:sp>
        <p:nvSpPr>
          <p:cNvPr id="62" name="标签 13"/>
          <p:cNvSpPr/>
          <p:nvPr/>
        </p:nvSpPr>
        <p:spPr>
          <a:xfrm>
            <a:off x="7981916" y="2094899"/>
            <a:ext cx="738835" cy="248301"/>
          </a:xfrm>
          <a:prstGeom prst="roundRect">
            <a:avLst>
              <a:gd name="adj" fmla="val 20442"/>
            </a:avLst>
          </a:prstGeom>
          <a:solidFill>
            <a:srgbClr val="FEF3E2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100" b="1" lang="zh-CN" altLang="en-US">
                <a:solidFill>
                  <a:srgbClr val="B87608"/>
                </a:solidFill>
                <a:latin typeface="微软雅黑"/>
                <a:ea typeface="微软雅黑"/>
              </a:rPr>
              <a:t>下一阶段</a:t>
            </a:r>
          </a:p>
        </p:txBody>
      </p:sp>
      <p:sp>
        <p:nvSpPr>
          <p:cNvPr id="63" name="序号 14"/>
          <p:cNvSpPr/>
          <p:nvPr/>
        </p:nvSpPr>
        <p:spPr>
          <a:xfrm>
            <a:off x="9665334" y="1715049"/>
            <a:ext cx="324000" cy="3240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64" name="文字 15"/>
          <p:cNvSpPr txBox="1"/>
          <p:nvPr/>
        </p:nvSpPr>
        <p:spPr>
          <a:xfrm>
            <a:off x="10061334" y="1753216"/>
            <a:ext cx="1060560" cy="2476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5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测试与评价</a:t>
            </a:r>
          </a:p>
        </p:txBody>
      </p:sp>
      <p:sp>
        <p:nvSpPr>
          <p:cNvPr id="65" name="卡片 16"/>
          <p:cNvSpPr/>
          <p:nvPr/>
        </p:nvSpPr>
        <p:spPr>
          <a:xfrm>
            <a:off x="683334" y="2543049"/>
            <a:ext cx="10728000" cy="396000"/>
          </a:xfrm>
          <a:prstGeom prst="roundRect">
            <a:avLst>
              <a:gd name="adj" fmla="val 22454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6" name="序号 17"/>
          <p:cNvSpPr/>
          <p:nvPr/>
        </p:nvSpPr>
        <p:spPr>
          <a:xfrm>
            <a:off x="818334" y="2570049"/>
            <a:ext cx="342000" cy="342000"/>
          </a:xfrm>
          <a:prstGeom prst="ellipse">
            <a:avLst/>
          </a:prstGeom>
          <a:solidFill>
            <a:srgbClr val="0259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67" name="文字 18"/>
          <p:cNvSpPr txBox="1"/>
          <p:nvPr/>
        </p:nvSpPr>
        <p:spPr>
          <a:xfrm>
            <a:off x="1241334" y="2608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确定技术选型</a:t>
            </a:r>
          </a:p>
        </p:txBody>
      </p:sp>
      <p:sp>
        <p:nvSpPr>
          <p:cNvPr id="68" name="文字 19"/>
          <p:cNvSpPr txBox="1"/>
          <p:nvPr/>
        </p:nvSpPr>
        <p:spPr>
          <a:xfrm>
            <a:off x="2699334" y="2625472"/>
            <a:ext cx="6331392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实现前先确定后端、数据存储、检索、大模型和前端各用什么技术，并说明理由</a:t>
            </a:r>
          </a:p>
        </p:txBody>
      </p:sp>
      <p:sp>
        <p:nvSpPr>
          <p:cNvPr id="69" name="标签 20"/>
          <p:cNvSpPr/>
          <p:nvPr/>
        </p:nvSpPr>
        <p:spPr>
          <a:xfrm>
            <a:off x="9976014" y="2606897"/>
            <a:ext cx="1291320" cy="268304"/>
          </a:xfrm>
          <a:prstGeom prst="roundRect">
            <a:avLst>
              <a:gd name="adj" fmla="val 18918"/>
            </a:avLst>
          </a:prstGeom>
          <a:solidFill>
            <a:srgbClr val="E1EBF4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250" b="1" lang="zh-CN" altLang="en-US">
                <a:solidFill>
                  <a:srgbClr val="024378"/>
                </a:solidFill>
                <a:latin typeface="微软雅黑"/>
                <a:ea typeface="微软雅黑"/>
              </a:rPr>
              <a:t>产出：选型说明</a:t>
            </a:r>
          </a:p>
        </p:txBody>
      </p:sp>
      <p:sp>
        <p:nvSpPr>
          <p:cNvPr id="70" name="卡片 21"/>
          <p:cNvSpPr/>
          <p:nvPr/>
        </p:nvSpPr>
        <p:spPr>
          <a:xfrm>
            <a:off x="683334" y="3029049"/>
            <a:ext cx="2044800" cy="2718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1" name="序号 22"/>
          <p:cNvSpPr/>
          <p:nvPr/>
        </p:nvSpPr>
        <p:spPr>
          <a:xfrm>
            <a:off x="818334" y="3164049"/>
            <a:ext cx="342000" cy="342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72" name="文字 23"/>
          <p:cNvSpPr txBox="1"/>
          <p:nvPr/>
        </p:nvSpPr>
        <p:spPr>
          <a:xfrm>
            <a:off x="1241334" y="3202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整理样例数据</a:t>
            </a:r>
          </a:p>
        </p:txBody>
      </p:sp>
      <p:sp>
        <p:nvSpPr>
          <p:cNvPr id="73" name="文字 24"/>
          <p:cNvSpPr txBox="1"/>
          <p:nvPr/>
        </p:nvSpPr>
        <p:spPr>
          <a:xfrm>
            <a:off x="845334" y="3659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选一个包含概念、定律、公式和应用的代表章节，按本次结构整理并检验</a:t>
            </a:r>
          </a:p>
        </p:txBody>
      </p:sp>
      <p:sp>
        <p:nvSpPr>
          <p:cNvPr id="74" name="底色 25"/>
          <p:cNvSpPr/>
          <p:nvPr/>
        </p:nvSpPr>
        <p:spPr>
          <a:xfrm>
            <a:off x="7913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FEF5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文字 26"/>
          <p:cNvSpPr txBox="1"/>
          <p:nvPr/>
        </p:nvSpPr>
        <p:spPr>
          <a:xfrm>
            <a:off x="8993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C47E09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样例章节数据</a:t>
            </a:r>
          </a:p>
        </p:txBody>
      </p:sp>
      <p:sp>
        <p:nvSpPr>
          <p:cNvPr id="76" name="卡片 27"/>
          <p:cNvSpPr/>
          <p:nvPr/>
        </p:nvSpPr>
        <p:spPr>
          <a:xfrm>
            <a:off x="2854134" y="3029049"/>
            <a:ext cx="2044800" cy="2718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7" name="序号 28"/>
          <p:cNvSpPr/>
          <p:nvPr/>
        </p:nvSpPr>
        <p:spPr>
          <a:xfrm>
            <a:off x="2989134" y="3164049"/>
            <a:ext cx="342000" cy="342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78" name="文字 29"/>
          <p:cNvSpPr txBox="1"/>
          <p:nvPr/>
        </p:nvSpPr>
        <p:spPr>
          <a:xfrm>
            <a:off x="3412134" y="3202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实现查询接口</a:t>
            </a:r>
          </a:p>
        </p:txBody>
      </p:sp>
      <p:sp>
        <p:nvSpPr>
          <p:cNvPr id="79" name="文字 30"/>
          <p:cNvSpPr txBox="1"/>
          <p:nvPr/>
        </p:nvSpPr>
        <p:spPr>
          <a:xfrm>
            <a:off x="3016134" y="3659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在样例数据上实现搜索、知识详情、相邻知识和学习路径查询</a:t>
            </a:r>
          </a:p>
        </p:txBody>
      </p:sp>
      <p:sp>
        <p:nvSpPr>
          <p:cNvPr id="80" name="底色 31"/>
          <p:cNvSpPr/>
          <p:nvPr/>
        </p:nvSpPr>
        <p:spPr>
          <a:xfrm>
            <a:off x="29621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E9F1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文字 32"/>
          <p:cNvSpPr txBox="1"/>
          <p:nvPr/>
        </p:nvSpPr>
        <p:spPr>
          <a:xfrm>
            <a:off x="30701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1959BC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查询接口</a:t>
            </a:r>
          </a:p>
        </p:txBody>
      </p:sp>
      <p:sp>
        <p:nvSpPr>
          <p:cNvPr id="82" name="卡片 33"/>
          <p:cNvSpPr/>
          <p:nvPr/>
        </p:nvSpPr>
        <p:spPr>
          <a:xfrm>
            <a:off x="5024934" y="3029049"/>
            <a:ext cx="2044800" cy="2718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3" name="序号 34"/>
          <p:cNvSpPr/>
          <p:nvPr/>
        </p:nvSpPr>
        <p:spPr>
          <a:xfrm>
            <a:off x="5159934" y="3164049"/>
            <a:ext cx="342000" cy="342000"/>
          </a:xfrm>
          <a:prstGeom prst="ellipse">
            <a:avLst/>
          </a:prstGeom>
          <a:solidFill>
            <a:srgbClr val="0EA5A0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84" name="文字 35"/>
          <p:cNvSpPr txBox="1"/>
          <p:nvPr/>
        </p:nvSpPr>
        <p:spPr>
          <a:xfrm>
            <a:off x="5582934" y="3202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实现知识检索</a:t>
            </a:r>
          </a:p>
        </p:txBody>
      </p:sp>
      <p:sp>
        <p:nvSpPr>
          <p:cNvPr id="85" name="文字 36"/>
          <p:cNvSpPr txBox="1"/>
          <p:nvPr/>
        </p:nvSpPr>
        <p:spPr>
          <a:xfrm>
            <a:off x="5186934" y="3659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根据学生的问题找出相关的知识点和关系，作为回答的依据</a:t>
            </a:r>
          </a:p>
        </p:txBody>
      </p:sp>
      <p:sp>
        <p:nvSpPr>
          <p:cNvPr id="86" name="底色 37"/>
          <p:cNvSpPr/>
          <p:nvPr/>
        </p:nvSpPr>
        <p:spPr>
          <a:xfrm>
            <a:off x="51329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E7F6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文字 38"/>
          <p:cNvSpPr txBox="1"/>
          <p:nvPr/>
        </p:nvSpPr>
        <p:spPr>
          <a:xfrm>
            <a:off x="52409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0B8480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检索模块</a:t>
            </a:r>
          </a:p>
        </p:txBody>
      </p:sp>
      <p:sp>
        <p:nvSpPr>
          <p:cNvPr id="88" name="卡片 39"/>
          <p:cNvSpPr/>
          <p:nvPr/>
        </p:nvSpPr>
        <p:spPr>
          <a:xfrm>
            <a:off x="7195734" y="3029049"/>
            <a:ext cx="2044800" cy="2718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9" name="序号 40"/>
          <p:cNvSpPr/>
          <p:nvPr/>
        </p:nvSpPr>
        <p:spPr>
          <a:xfrm>
            <a:off x="7330734" y="3164049"/>
            <a:ext cx="342000" cy="342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90" name="文字 41"/>
          <p:cNvSpPr txBox="1"/>
          <p:nvPr/>
        </p:nvSpPr>
        <p:spPr>
          <a:xfrm>
            <a:off x="7753734" y="3202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接入课程问答</a:t>
            </a:r>
          </a:p>
        </p:txBody>
      </p:sp>
      <p:sp>
        <p:nvSpPr>
          <p:cNvPr id="91" name="文字 42"/>
          <p:cNvSpPr txBox="1"/>
          <p:nvPr/>
        </p:nvSpPr>
        <p:spPr>
          <a:xfrm>
            <a:off x="7357734" y="3659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把检索结果交给大模型组织回答，并返回引用的知识点</a:t>
            </a:r>
          </a:p>
        </p:txBody>
      </p:sp>
      <p:sp>
        <p:nvSpPr>
          <p:cNvPr id="92" name="底色 43"/>
          <p:cNvSpPr/>
          <p:nvPr/>
        </p:nvSpPr>
        <p:spPr>
          <a:xfrm>
            <a:off x="73037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F2EB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文字 44"/>
          <p:cNvSpPr txBox="1"/>
          <p:nvPr/>
        </p:nvSpPr>
        <p:spPr>
          <a:xfrm>
            <a:off x="74117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632EBE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问答接口</a:t>
            </a:r>
          </a:p>
        </p:txBody>
      </p:sp>
      <p:sp>
        <p:nvSpPr>
          <p:cNvPr id="94" name="卡片 45"/>
          <p:cNvSpPr/>
          <p:nvPr/>
        </p:nvSpPr>
        <p:spPr>
          <a:xfrm>
            <a:off x="9366534" y="3029049"/>
            <a:ext cx="2044800" cy="27180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0160">
            <a:solidFill>
              <a:srgbClr val="D7E0EC"/>
            </a:solidFill>
          </a:ln>
          <a:effectLst>
            <a:outerShdw blurRad="50800" dist="19050" dir="5400000" algn="t" rotWithShape="0">
              <a:srgbClr val="000000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5" name="序号 46"/>
          <p:cNvSpPr/>
          <p:nvPr/>
        </p:nvSpPr>
        <p:spPr>
          <a:xfrm>
            <a:off x="9501534" y="3164049"/>
            <a:ext cx="342000" cy="342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rtlCol="0" anchor="ctr" wrap="none" lIns="0" rIns="0" tIns="0" bIns="0">
            <a:noAutofit/>
          </a:bodyPr>
          <a:lstStyle/>
          <a:p>
            <a:pPr algn="ctr"/>
            <a:r>
              <a:rPr sz="1500" b="1" lang="zh-CN" altLang="en-US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96" name="文字 47"/>
          <p:cNvSpPr txBox="1"/>
          <p:nvPr/>
        </p:nvSpPr>
        <p:spPr>
          <a:xfrm>
            <a:off x="9924534" y="3202961"/>
            <a:ext cx="1327277" cy="2641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60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开发前端页面</a:t>
            </a:r>
          </a:p>
        </p:txBody>
      </p:sp>
      <p:sp>
        <p:nvSpPr>
          <p:cNvPr id="97" name="文字 48"/>
          <p:cNvSpPr txBox="1"/>
          <p:nvPr/>
        </p:nvSpPr>
        <p:spPr>
          <a:xfrm>
            <a:off x="9528534" y="3659049"/>
            <a:ext cx="1756800" cy="14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知识搜索与详情、局部图谱展示、课程问答对话</a:t>
            </a:r>
          </a:p>
        </p:txBody>
      </p:sp>
      <p:sp>
        <p:nvSpPr>
          <p:cNvPr id="98" name="底色 49"/>
          <p:cNvSpPr/>
          <p:nvPr/>
        </p:nvSpPr>
        <p:spPr>
          <a:xfrm>
            <a:off x="9474534" y="5009049"/>
            <a:ext cx="1828800" cy="630000"/>
          </a:xfrm>
          <a:prstGeom prst="roundRect">
            <a:avLst>
              <a:gd name="adj" fmla="val 14114"/>
            </a:avLst>
          </a:prstGeom>
          <a:solidFill>
            <a:srgbClr val="E7F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文字 50"/>
          <p:cNvSpPr txBox="1"/>
          <p:nvPr/>
        </p:nvSpPr>
        <p:spPr>
          <a:xfrm>
            <a:off x="9582534" y="5081049"/>
            <a:ext cx="1648800" cy="50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250" b="1" lang="zh-CN" altLang="en-US">
                <a:solidFill>
                  <a:srgbClr val="0D9467"/>
                </a:solidFill>
                <a:latin typeface="微软雅黑"/>
                <a:ea typeface="微软雅黑"/>
              </a:rPr>
              <a:t>产出</a:t>
            </a:r>
          </a:p>
          <a:p>
            <a:pPr algn="l">
              <a:spcBef>
                <a:spcPts val="200"/>
              </a:spcBef>
            </a:pPr>
            <a:r>
              <a:rPr sz="1250" b="1" lang="zh-CN" altLang="en-US">
                <a:solidFill>
                  <a:srgbClr val="1E293B"/>
                </a:solidFill>
                <a:latin typeface="微软雅黑"/>
                <a:ea typeface="微软雅黑"/>
              </a:rPr>
              <a:t>前端页面</a:t>
            </a:r>
          </a:p>
        </p:txBody>
      </p:sp>
      <p:sp>
        <p:nvSpPr>
          <p:cNvPr id="100" name="底色 51"/>
          <p:cNvSpPr/>
          <p:nvPr/>
        </p:nvSpPr>
        <p:spPr>
          <a:xfrm>
            <a:off x="611334" y="5963049"/>
            <a:ext cx="10872000" cy="450000"/>
          </a:xfrm>
          <a:prstGeom prst="roundRect">
            <a:avLst>
              <a:gd name="adj" fmla="val 19760"/>
            </a:avLst>
          </a:prstGeom>
          <a:solidFill>
            <a:srgbClr val="EDF3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文字 52"/>
          <p:cNvSpPr txBox="1"/>
          <p:nvPr/>
        </p:nvSpPr>
        <p:spPr>
          <a:xfrm>
            <a:off x="791334" y="6047705"/>
            <a:ext cx="971654" cy="2806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700" b="1" lang="zh-CN" altLang="en-US">
                <a:solidFill>
                  <a:srgbClr val="0259A0"/>
                </a:solidFill>
                <a:latin typeface="微软雅黑"/>
                <a:ea typeface="微软雅黑"/>
              </a:rPr>
              <a:t>存储方式</a:t>
            </a:r>
          </a:p>
        </p:txBody>
      </p:sp>
      <p:cxnSp>
        <p:nvCxnSpPr>
          <p:cNvPr id="102" name="连线 53"/>
          <p:cNvCxnSpPr/>
          <p:nvPr/>
        </p:nvCxnSpPr>
        <p:spPr>
          <a:xfrm flipV="1">
            <a:off x="1907334" y="6062049"/>
            <a:ext cx="0" cy="252000"/>
          </a:xfrm>
          <a:prstGeom prst="line">
            <a:avLst/>
          </a:prstGeom>
          <a:ln w="12700">
            <a:solidFill>
              <a:srgbClr val="9ABDD9"/>
            </a:solidFill>
          </a:ln>
        </p:spPr>
      </p:cxnSp>
      <p:sp>
        <p:nvSpPr>
          <p:cNvPr id="103" name="文字 54"/>
          <p:cNvSpPr txBox="1"/>
          <p:nvPr/>
        </p:nvSpPr>
        <p:spPr>
          <a:xfrm>
            <a:off x="2051334" y="6072472"/>
            <a:ext cx="7042637" cy="2311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l"/>
            <a:r>
              <a:rPr sz="1400" b="0" lang="zh-CN" altLang="en-US">
                <a:solidFill>
                  <a:srgbClr val="334155"/>
                </a:solidFill>
                <a:latin typeface="微软雅黑"/>
                <a:ea typeface="微软雅黑"/>
              </a:rPr>
              <a:t>现阶段用一个结构化文件保存，便于人工检查和版本管理；数据变大后再迁移到图数据库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9.999842519685,&quot;left&quot;:0,&quot;top&quot;:1,&quot;width&quot;:917.051259842519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9.999842519685,&quot;left&quot;:0,&quot;top&quot;:1,&quot;width&quot;:917.051259842519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9.999842519685,&quot;left&quot;:0,&quot;top&quot;:1,&quot;width&quot;:917.0512598425197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9.999842519685,&quot;left&quot;:0,&quot;top&quot;:1,&quot;width&quot;:917.0512598425197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9.999842519685,&quot;left&quot;:0,&quot;top&quot;:1,&quot;width&quot;:917.0512598425197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39.999842519685,&quot;left&quot;:0,&quot;top&quot;:1,&quot;width&quot;:917.0512598425197}"/>
</p:tagLst>
</file>

<file path=ppt/theme/theme1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4593"/>
      </a:accent1>
      <a:accent2>
        <a:srgbClr val="00459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16569B7BEAFD4E8196537F8893A0A8" ma:contentTypeVersion="15" ma:contentTypeDescription="Create a new document." ma:contentTypeScope="" ma:versionID="2791f40b03eab4f7fcc004a27762eebd">
  <xsd:schema xmlns:xsd="http://www.w3.org/2001/XMLSchema" xmlns:xs="http://www.w3.org/2001/XMLSchema" xmlns:p="http://schemas.microsoft.com/office/2006/metadata/properties" xmlns:ns3="cdd358b4-4f07-40a4-9f73-3ac0d69b7109" targetNamespace="http://schemas.microsoft.com/office/2006/metadata/properties" ma:root="true" ma:fieldsID="15c10a9dcc04e627a424c024f12db733" ns3:_="">
    <xsd:import namespace="cdd358b4-4f07-40a4-9f73-3ac0d69b710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d358b4-4f07-40a4-9f73-3ac0d69b7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dd358b4-4f07-40a4-9f73-3ac0d69b7109" xsi:nil="true"/>
  </documentManagement>
</p:properties>
</file>

<file path=customXml/itemProps1.xml><?xml version="1.0" encoding="utf-8"?>
<ds:datastoreItem xmlns:ds="http://schemas.openxmlformats.org/officeDocument/2006/customXml" ds:itemID="{3140A2EE-BAF8-43CD-A9F4-2176353083E5}">
  <ds:schemaRefs/>
</ds:datastoreItem>
</file>

<file path=customXml/itemProps2.xml><?xml version="1.0" encoding="utf-8"?>
<ds:datastoreItem xmlns:ds="http://schemas.openxmlformats.org/officeDocument/2006/customXml" ds:itemID="{F9E4E6E6-7256-46CE-9D42-B49E8391017A}">
  <ds:schemaRefs/>
</ds:datastoreItem>
</file>

<file path=customXml/itemProps3.xml><?xml version="1.0" encoding="utf-8"?>
<ds:datastoreItem xmlns:ds="http://schemas.openxmlformats.org/officeDocument/2006/customXml" ds:itemID="{84AA52E5-0B20-4590-878C-11CEE614486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323</Words>
  <Application>Microsoft Office PowerPoint</Application>
  <PresentationFormat>宽屏</PresentationFormat>
  <Paragraphs>63</Paragraphs>
  <Slides>15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等线</vt:lpstr>
      <vt:lpstr>等线 Light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国炜 杨</cp:lastModifiedBy>
  <cp:revision>563</cp:revision>
  <dcterms:created xsi:type="dcterms:W3CDTF">2022-12-07T07:00:00Z</dcterms:created>
  <dcterms:modified xsi:type="dcterms:W3CDTF">2026-09-22T13:08:26Z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0x0101003E16569B7BEAFD4E8196537F8893A0A8</vt:lpwstr>
  </property>
  <property fmtid="{D5CDD505-2E9C-101B-9397-08002B2CF9AE}" pid="3" name="ICV">
    <vt:lpwstr>755731B8074C46A3BFC2A3E6AA39965D_13</vt:lpwstr>
  </property>
  <property fmtid="{D5CDD505-2E9C-101B-9397-08002B2CF9AE}" pid="4" name="KSOProductBuildVer">
    <vt:lpwstr>2052-12.1.0.23542</vt:lpwstr>
  </property>
</Properties>
</file>