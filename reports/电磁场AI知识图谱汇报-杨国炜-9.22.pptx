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sldIdLst>
    <p:sldId id="283" r:id="rId5"/>
    <p:sldId id="512" r:id="rId6"/>
    <p:sldId id="506" r:id="rId7"/>
    <p:sldId id="547" r:id="rId8"/>
    <p:sldId id="527" r:id="rId9"/>
    <p:sldId id="528" r:id="rId10"/>
    <p:sldId id="542" r:id="rId11"/>
    <p:sldId id="543" r:id="rId12"/>
    <p:sldId id="545" r:id="rId13"/>
    <p:sldId id="544" r:id="rId14"/>
    <p:sldId id="531" r:id="rId15"/>
    <p:sldId id="551" r:id="rId16"/>
    <p:sldId id="552" r:id="rId17"/>
    <p:sldId id="553" r:id="rId18"/>
    <p:sldId id="55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曾婷 王" initials="曾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7D1"/>
    <a:srgbClr val="004593"/>
    <a:srgbClr val="0065B0"/>
    <a:srgbClr val="0066B1"/>
    <a:srgbClr val="FA4D00"/>
    <a:srgbClr val="E0CDBE"/>
    <a:srgbClr val="FCF4D0"/>
    <a:srgbClr val="FAEDB8"/>
    <a:srgbClr val="DBC5B3"/>
    <a:srgbClr val="DCC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1" autoAdjust="0"/>
    <p:restoredTop sz="93724" autoAdjust="0"/>
  </p:normalViewPr>
  <p:slideViewPr>
    <p:cSldViewPr snapToGrid="0">
      <p:cViewPr varScale="1">
        <p:scale>
          <a:sx n="149" d="100"/>
          <a:sy n="149" d="100"/>
        </p:scale>
        <p:origin x="354" y="31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16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7B4F6-38B3-4F9C-B5DD-388BFB0B23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B1546-4BCA-4F29-B0D6-5545C6E37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448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Liao, Y., Phan, T., &amp; Yu, Q. (2025). Materials, 18(15), 3482.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B1546-4BCA-4F29-B0D6-5545C6E375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802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B8E31-3B59-4646-A59C-A82C2976AFE3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2D13F-7B97-CA43-8838-349D52A5DC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18083" y="616727"/>
            <a:ext cx="2471217" cy="59669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 t="20698" b="20698"/>
          <a:stretch>
            <a:fillRect/>
          </a:stretch>
        </p:blipFill>
        <p:spPr bwMode="auto">
          <a:xfrm>
            <a:off x="4856126" y="1718187"/>
            <a:ext cx="7335874" cy="286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718187"/>
            <a:ext cx="8882743" cy="286155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83000">
                <a:schemeClr val="accent1">
                  <a:alpha val="60050"/>
                </a:schemeClr>
              </a:gs>
              <a:gs pos="0">
                <a:schemeClr val="accent2"/>
              </a:gs>
              <a:gs pos="63000">
                <a:srgbClr val="0361A6"/>
              </a:gs>
              <a:gs pos="44226">
                <a:srgbClr val="0259A0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13690" y="2623820"/>
            <a:ext cx="1179576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电磁场与波</a:t>
            </a:r>
            <a:r>
              <a:rPr lang="en-US" altLang="zh-CN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知识图谱调研汇报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645025" y="5084445"/>
            <a:ext cx="3208020" cy="402112"/>
            <a:chOff x="4077" y="8205"/>
            <a:chExt cx="5052" cy="633"/>
          </a:xfrm>
        </p:grpSpPr>
        <p:cxnSp>
          <p:nvCxnSpPr>
            <p:cNvPr id="7" name="直线连接符 10"/>
            <p:cNvCxnSpPr/>
            <p:nvPr/>
          </p:nvCxnSpPr>
          <p:spPr>
            <a:xfrm>
              <a:off x="4230" y="8838"/>
              <a:ext cx="476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077" y="8205"/>
              <a:ext cx="22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379" y="8205"/>
              <a:ext cx="27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杨国炜</a:t>
              </a:r>
            </a:p>
          </p:txBody>
        </p:sp>
      </p:grpSp>
      <p:sp>
        <p:nvSpPr>
          <p:cNvPr id="29" name="AutoShape 4"/>
          <p:cNvSpPr>
            <a:spLocks noChangeAspect="1" noChangeArrowheads="1"/>
          </p:cNvSpPr>
          <p:nvPr/>
        </p:nvSpPr>
        <p:spPr bwMode="auto">
          <a:xfrm>
            <a:off x="5943600" y="3054929"/>
            <a:ext cx="154305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9845" y="5701030"/>
            <a:ext cx="2520315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1" lang="zh-CN" altLang="en-US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1" lang="en-US" altLang="zh-CN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kumimoji="1" lang="zh-CN" altLang="en-US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12700"/>
            <a:ext cx="11646551" cy="6857998"/>
            <a:chOff x="0" y="0"/>
            <a:chExt cx="11646551" cy="6857998"/>
          </a:xfrm>
        </p:grpSpPr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3133193" y="2652342"/>
              <a:ext cx="6308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二、相关研究与案例分析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3133195" y="1668525"/>
              <a:ext cx="65854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一、研究背景与调研问题</a:t>
              </a:r>
            </a:p>
          </p:txBody>
        </p:sp>
        <p:cxnSp>
          <p:nvCxnSpPr>
            <p:cNvPr id="10" name="直线连接符 9"/>
            <p:cNvCxnSpPr/>
            <p:nvPr/>
          </p:nvCxnSpPr>
          <p:spPr>
            <a:xfrm>
              <a:off x="1539972" y="1348352"/>
              <a:ext cx="10106579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9603207" y="592406"/>
              <a:ext cx="1800617" cy="434773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0" y="0"/>
              <a:ext cx="730468" cy="68579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39972" y="578911"/>
              <a:ext cx="19276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44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6"/>
              </p:custDataLst>
            </p:nvPr>
          </p:nvSpPr>
          <p:spPr>
            <a:xfrm>
              <a:off x="3949793" y="2333420"/>
              <a:ext cx="630808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spc="3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kumimoji="1" lang="en-GB" altLang="zh-CN" b="1" spc="3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3152028" y="3507184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三、初步系统架构设计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1FA63F-1239-03E3-9CA3-29A71857A9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133193" y="4344580"/>
            <a:ext cx="63080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四、后续计划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研究背景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与调研问题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选题背景与问题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研究背景与调研问题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62480A3-9267-B4F6-66BC-987DCC9B68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8559" r="612"/>
          <a:stretch/>
        </p:blipFill>
        <p:spPr>
          <a:xfrm>
            <a:off x="467334" y="1391049"/>
            <a:ext cx="11162939" cy="51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54825" y="126982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4681" y="75699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本次调研关注的问题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AutoShape 2" descr="已生成图像 1">
            <a:extLst>
              <a:ext uri="{FF2B5EF4-FFF2-40B4-BE49-F238E27FC236}">
                <a16:creationId xmlns:a16="http://schemas.microsoft.com/office/drawing/2014/main" id="{A5AA5725-6EF1-CBB5-9268-810972200B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2302" y="645302"/>
            <a:ext cx="2936098" cy="293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A95AA29-C488-E533-2176-C064198E8E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765"/>
          <a:stretch/>
        </p:blipFill>
        <p:spPr>
          <a:xfrm>
            <a:off x="618360" y="1468550"/>
            <a:ext cx="11260080" cy="5148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002B7D4-775A-8F9C-D0D8-6211A38A044C}"/>
              </a:ext>
            </a:extLst>
          </p:cNvPr>
          <p:cNvSpPr txBox="1"/>
          <p:nvPr/>
        </p:nvSpPr>
        <p:spPr>
          <a:xfrm>
            <a:off x="8748716" y="90049"/>
            <a:ext cx="3443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研究背景与调研问题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989455" y="2583180"/>
            <a:ext cx="9103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kumimoji="1"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相关研究与案例分析</a:t>
            </a:r>
            <a:endParaRPr kumimoji="1"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en-US" altLang="zh-CN" sz="24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EduKG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教育知识图谱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741272" y="98097"/>
            <a:ext cx="3878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相关研究与案例分析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BAD649-563A-6E9D-C423-02C100CCB6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601" b="2685"/>
          <a:stretch/>
        </p:blipFill>
        <p:spPr>
          <a:xfrm>
            <a:off x="446147" y="1342764"/>
            <a:ext cx="11332722" cy="51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其他案例与研究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4A0EF1-EDE6-A8EE-0CC2-46F8C4FBB775}"/>
              </a:ext>
            </a:extLst>
          </p:cNvPr>
          <p:cNvSpPr txBox="1"/>
          <p:nvPr/>
        </p:nvSpPr>
        <p:spPr>
          <a:xfrm>
            <a:off x="9167566" y="98097"/>
            <a:ext cx="302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相关研究与案例分析</a:t>
            </a:r>
            <a:endParaRPr lang="zh-CN" altLang="en-US" dirty="0"/>
          </a:p>
        </p:txBody>
      </p:sp>
      <p:pic>
        <p:nvPicPr>
          <p:cNvPr id="1026" name="Picture 2" descr="图片预览">
            <a:extLst>
              <a:ext uri="{FF2B5EF4-FFF2-40B4-BE49-F238E27FC236}">
                <a16:creationId xmlns:a16="http://schemas.microsoft.com/office/drawing/2014/main" id="{1728A395-F334-6D7E-10A4-D5DBBA678F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31"/>
          <a:stretch/>
        </p:blipFill>
        <p:spPr bwMode="auto">
          <a:xfrm>
            <a:off x="665724" y="1383428"/>
            <a:ext cx="10893567" cy="51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RAG(</a:t>
            </a: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检索增强生成</a:t>
            </a:r>
            <a:r>
              <a:rPr kumimoji="1"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BF74F2-CF83-1B74-3874-909D34F9088D}"/>
              </a:ext>
            </a:extLst>
          </p:cNvPr>
          <p:cNvSpPr txBox="1"/>
          <p:nvPr/>
        </p:nvSpPr>
        <p:spPr>
          <a:xfrm>
            <a:off x="9167566" y="98097"/>
            <a:ext cx="302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相关研究与案例分析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AC7B486-EA34-1A78-3366-333389FE7D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162"/>
          <a:stretch/>
        </p:blipFill>
        <p:spPr>
          <a:xfrm>
            <a:off x="770998" y="1383428"/>
            <a:ext cx="10683019" cy="51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调研结论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A045EA-CB0B-F556-A998-74242C2018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287"/>
          <a:stretch/>
        </p:blipFill>
        <p:spPr>
          <a:xfrm>
            <a:off x="566583" y="1383428"/>
            <a:ext cx="11058834" cy="514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901D59F-4C78-9DC8-5A53-F8CFA5E0C295}"/>
              </a:ext>
            </a:extLst>
          </p:cNvPr>
          <p:cNvSpPr txBox="1"/>
          <p:nvPr/>
        </p:nvSpPr>
        <p:spPr>
          <a:xfrm>
            <a:off x="9167566" y="98097"/>
            <a:ext cx="302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相关研究与案例分析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kumimoji="1"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系统架构设计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四层架构与工作流</a:t>
            </a:r>
          </a:p>
        </p:txBody>
      </p:sp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A3624F-48B3-377B-711E-6DDC44D815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42"/>
          <a:stretch/>
        </p:blipFill>
        <p:spPr>
          <a:xfrm>
            <a:off x="571191" y="1477108"/>
            <a:ext cx="11049512" cy="509049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A36C591-CF15-E744-51E6-5B7044400AE8}"/>
              </a:ext>
            </a:extLst>
          </p:cNvPr>
          <p:cNvSpPr txBox="1"/>
          <p:nvPr/>
        </p:nvSpPr>
        <p:spPr>
          <a:xfrm>
            <a:off x="9570413" y="98097"/>
            <a:ext cx="302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系统架构设计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课程知识对象的初步识别</a:t>
            </a:r>
          </a:p>
        </p:txBody>
      </p:sp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A36C591-CF15-E744-51E6-5B7044400AE8}"/>
              </a:ext>
            </a:extLst>
          </p:cNvPr>
          <p:cNvSpPr txBox="1"/>
          <p:nvPr/>
        </p:nvSpPr>
        <p:spPr>
          <a:xfrm>
            <a:off x="9602386" y="107829"/>
            <a:ext cx="302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系统架构设计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1A6B14-D137-4253-A9D4-3486B6F7CF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588"/>
          <a:stretch/>
        </p:blipFill>
        <p:spPr>
          <a:xfrm>
            <a:off x="494662" y="1333032"/>
            <a:ext cx="11235691" cy="51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61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1587829" y="2385773"/>
            <a:ext cx="0" cy="2087198"/>
          </a:xfrm>
          <a:prstGeom prst="line">
            <a:avLst/>
          </a:prstGeom>
          <a:ln w="28575">
            <a:solidFill>
              <a:schemeClr val="accent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989455" y="2583180"/>
            <a:ext cx="91039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kumimoji="1"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后续计划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46551" y="640282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" y="-504223"/>
            <a:ext cx="2472973" cy="139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71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71191" y="739212"/>
            <a:ext cx="104085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后续计划</a:t>
            </a:r>
          </a:p>
        </p:txBody>
      </p:sp>
      <p:sp>
        <p:nvSpPr>
          <p:cNvPr id="2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675126" y="6385046"/>
            <a:ext cx="615471" cy="365125"/>
          </a:xfrm>
        </p:spPr>
        <p:txBody>
          <a:bodyPr/>
          <a:lstStyle/>
          <a:p>
            <a:pPr algn="ctr"/>
            <a:fld id="{088D6D6D-68E4-4840-9278-1F52F3857609}" type="slidenum">
              <a:rPr kumimoji="1" lang="zh-CN" altLang="en-US" sz="16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kumimoji="1" lang="zh-CN" altLang="en-US" sz="1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线连接符 29"/>
          <p:cNvCxnSpPr/>
          <p:nvPr/>
        </p:nvCxnSpPr>
        <p:spPr>
          <a:xfrm>
            <a:off x="571335" y="1252044"/>
            <a:ext cx="1108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-7619"/>
            <a:ext cx="12192000" cy="6730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6" y="-522003"/>
            <a:ext cx="2472973" cy="139104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A36C591-CF15-E744-51E6-5B7044400AE8}"/>
              </a:ext>
            </a:extLst>
          </p:cNvPr>
          <p:cNvSpPr txBox="1"/>
          <p:nvPr/>
        </p:nvSpPr>
        <p:spPr>
          <a:xfrm>
            <a:off x="9602386" y="107829"/>
            <a:ext cx="3024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后续计划</a:t>
            </a:r>
            <a:endParaRPr lang="zh-CN" altLang="en-US" dirty="0"/>
          </a:p>
        </p:txBody>
      </p:sp>
      <p:pic>
        <p:nvPicPr>
          <p:cNvPr id="7" name="图片 6" descr="日程表&#10;&#10;描述已自动生成">
            <a:extLst>
              <a:ext uri="{FF2B5EF4-FFF2-40B4-BE49-F238E27FC236}">
                <a16:creationId xmlns:a16="http://schemas.microsoft.com/office/drawing/2014/main" id="{6858C76E-C0C7-F6C4-573B-4B15F9CCE3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581"/>
          <a:stretch/>
        </p:blipFill>
        <p:spPr>
          <a:xfrm>
            <a:off x="425376" y="1455608"/>
            <a:ext cx="11374263" cy="51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803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99842519685,&quot;left&quot;:0,&quot;top&quot;:1,&quot;width&quot;:917.0512598425197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593"/>
      </a:accent1>
      <a:accent2>
        <a:srgbClr val="0045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16569B7BEAFD4E8196537F8893A0A8" ma:contentTypeVersion="15" ma:contentTypeDescription="Create a new document." ma:contentTypeScope="" ma:versionID="2791f40b03eab4f7fcc004a27762eebd">
  <xsd:schema xmlns:xsd="http://www.w3.org/2001/XMLSchema" xmlns:xs="http://www.w3.org/2001/XMLSchema" xmlns:p="http://schemas.microsoft.com/office/2006/metadata/properties" xmlns:ns3="cdd358b4-4f07-40a4-9f73-3ac0d69b7109" targetNamespace="http://schemas.microsoft.com/office/2006/metadata/properties" ma:root="true" ma:fieldsID="15c10a9dcc04e627a424c024f12db733" ns3:_="">
    <xsd:import namespace="cdd358b4-4f07-40a4-9f73-3ac0d69b71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d358b4-4f07-40a4-9f73-3ac0d69b7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d358b4-4f07-40a4-9f73-3ac0d69b7109" xsi:nil="true"/>
  </documentManagement>
</p:properties>
</file>

<file path=customXml/itemProps1.xml><?xml version="1.0" encoding="utf-8"?>
<ds:datastoreItem xmlns:ds="http://schemas.openxmlformats.org/officeDocument/2006/customXml" ds:itemID="{3140A2EE-BAF8-43CD-A9F4-2176353083E5}">
  <ds:schemaRefs/>
</ds:datastoreItem>
</file>

<file path=customXml/itemProps2.xml><?xml version="1.0" encoding="utf-8"?>
<ds:datastoreItem xmlns:ds="http://schemas.openxmlformats.org/officeDocument/2006/customXml" ds:itemID="{F9E4E6E6-7256-46CE-9D42-B49E8391017A}">
  <ds:schemaRefs/>
</ds:datastoreItem>
</file>

<file path=customXml/itemProps3.xml><?xml version="1.0" encoding="utf-8"?>
<ds:datastoreItem xmlns:ds="http://schemas.openxmlformats.org/officeDocument/2006/customXml" ds:itemID="{84AA52E5-0B20-4590-878C-11CEE614486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323</Words>
  <Application>Microsoft Office PowerPoint</Application>
  <PresentationFormat>宽屏</PresentationFormat>
  <Paragraphs>63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国炜 杨</cp:lastModifiedBy>
  <cp:revision>563</cp:revision>
  <dcterms:created xsi:type="dcterms:W3CDTF">2022-12-07T07:00:00Z</dcterms:created>
  <dcterms:modified xsi:type="dcterms:W3CDTF">2026-09-22T13:08:26Z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0x0101003E16569B7BEAFD4E8196537F8893A0A8</vt:lpwstr>
  </property>
  <property fmtid="{D5CDD505-2E9C-101B-9397-08002B2CF9AE}" pid="3" name="ICV">
    <vt:lpwstr>755731B8074C46A3BFC2A3E6AA39965D_13</vt:lpwstr>
  </property>
  <property fmtid="{D5CDD505-2E9C-101B-9397-08002B2CF9AE}" pid="4" name="KSOProductBuildVer">
    <vt:lpwstr>2052-12.1.0.23542</vt:lpwstr>
  </property>
</Properties>
</file>